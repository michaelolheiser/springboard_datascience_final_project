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sldIdLst>
    <p:sldId id="256" r:id="rId5"/>
    <p:sldId id="258" r:id="rId6"/>
    <p:sldId id="259" r:id="rId7"/>
    <p:sldId id="279" r:id="rId8"/>
    <p:sldId id="262" r:id="rId9"/>
    <p:sldId id="261" r:id="rId10"/>
    <p:sldId id="263" r:id="rId11"/>
    <p:sldId id="264" r:id="rId12"/>
    <p:sldId id="265" r:id="rId13"/>
    <p:sldId id="266" r:id="rId14"/>
    <p:sldId id="267" r:id="rId15"/>
    <p:sldId id="278" r:id="rId16"/>
    <p:sldId id="268" r:id="rId17"/>
    <p:sldId id="269" r:id="rId18"/>
    <p:sldId id="271" r:id="rId19"/>
    <p:sldId id="272" r:id="rId20"/>
    <p:sldId id="273" r:id="rId21"/>
    <p:sldId id="274" r:id="rId22"/>
    <p:sldId id="275" r:id="rId23"/>
    <p:sldId id="276" r:id="rId24"/>
    <p:sldId id="277" r:id="rId25"/>
    <p:sldId id="257"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61" autoAdjust="0"/>
    <p:restoredTop sz="92857" autoAdjust="0"/>
  </p:normalViewPr>
  <p:slideViewPr>
    <p:cSldViewPr snapToGrid="0" snapToObjects="1">
      <p:cViewPr varScale="1">
        <p:scale>
          <a:sx n="84" d="100"/>
          <a:sy n="84" d="100"/>
        </p:scale>
        <p:origin x="99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0F4E72-32EF-498F-9785-6E9A44F97CA0}" type="doc">
      <dgm:prSet loTypeId="urn:microsoft.com/office/officeart/2005/8/layout/process5" loCatId="process" qsTypeId="urn:microsoft.com/office/officeart/2005/8/quickstyle/simple1" qsCatId="simple" csTypeId="urn:microsoft.com/office/officeart/2005/8/colors/accent2_2" csCatId="accent2" phldr="1"/>
      <dgm:spPr/>
      <dgm:t>
        <a:bodyPr/>
        <a:lstStyle/>
        <a:p>
          <a:endParaRPr lang="en-US"/>
        </a:p>
      </dgm:t>
    </dgm:pt>
    <dgm:pt modelId="{BC4106AE-A27F-4839-A936-73F6979B0A60}">
      <dgm:prSet phldrT="[Text]"/>
      <dgm:spPr/>
      <dgm:t>
        <a:bodyPr/>
        <a:lstStyle/>
        <a:p>
          <a:r>
            <a:rPr lang="en-US" dirty="0"/>
            <a:t>Gather data</a:t>
          </a:r>
        </a:p>
      </dgm:t>
    </dgm:pt>
    <dgm:pt modelId="{717E4663-349E-4248-9372-783DD27D4FA2}" type="parTrans" cxnId="{59ED3BC4-6EF1-407E-9B75-1FB11CDA29DD}">
      <dgm:prSet/>
      <dgm:spPr/>
      <dgm:t>
        <a:bodyPr/>
        <a:lstStyle/>
        <a:p>
          <a:endParaRPr lang="en-US"/>
        </a:p>
      </dgm:t>
    </dgm:pt>
    <dgm:pt modelId="{DAE3556F-B7D5-43B1-8F79-859408EBF32B}" type="sibTrans" cxnId="{59ED3BC4-6EF1-407E-9B75-1FB11CDA29DD}">
      <dgm:prSet/>
      <dgm:spPr/>
      <dgm:t>
        <a:bodyPr/>
        <a:lstStyle/>
        <a:p>
          <a:endParaRPr lang="en-US"/>
        </a:p>
      </dgm:t>
    </dgm:pt>
    <dgm:pt modelId="{285DD934-B37F-48AE-BDC2-77F14797CEA3}">
      <dgm:prSet phldrT="[Text]"/>
      <dgm:spPr/>
      <dgm:t>
        <a:bodyPr/>
        <a:lstStyle/>
        <a:p>
          <a:r>
            <a:rPr lang="en-US" dirty="0"/>
            <a:t>Clean data</a:t>
          </a:r>
        </a:p>
      </dgm:t>
    </dgm:pt>
    <dgm:pt modelId="{C3E862A4-04A6-41B1-ADE1-373496189B42}" type="parTrans" cxnId="{37217904-5DAF-47B9-B30C-777A50ED2E27}">
      <dgm:prSet/>
      <dgm:spPr/>
      <dgm:t>
        <a:bodyPr/>
        <a:lstStyle/>
        <a:p>
          <a:endParaRPr lang="en-US"/>
        </a:p>
      </dgm:t>
    </dgm:pt>
    <dgm:pt modelId="{CD859C91-9B23-4FD9-AF56-36F443E158D2}" type="sibTrans" cxnId="{37217904-5DAF-47B9-B30C-777A50ED2E27}">
      <dgm:prSet/>
      <dgm:spPr/>
      <dgm:t>
        <a:bodyPr/>
        <a:lstStyle/>
        <a:p>
          <a:endParaRPr lang="en-US"/>
        </a:p>
      </dgm:t>
    </dgm:pt>
    <dgm:pt modelId="{6452A33E-CF53-4276-9B36-A626B3618B29}">
      <dgm:prSet phldrT="[Text]"/>
      <dgm:spPr/>
      <dgm:t>
        <a:bodyPr/>
        <a:lstStyle/>
        <a:p>
          <a:r>
            <a:rPr lang="en-US" dirty="0"/>
            <a:t>Analyze data</a:t>
          </a:r>
        </a:p>
      </dgm:t>
    </dgm:pt>
    <dgm:pt modelId="{10B2627A-0D79-4FEE-9FBE-BDE08EB8DF6E}" type="parTrans" cxnId="{B8099D07-90B8-4226-9440-A7F5B05F71C7}">
      <dgm:prSet/>
      <dgm:spPr/>
      <dgm:t>
        <a:bodyPr/>
        <a:lstStyle/>
        <a:p>
          <a:endParaRPr lang="en-US"/>
        </a:p>
      </dgm:t>
    </dgm:pt>
    <dgm:pt modelId="{C3803720-9386-4A11-B0B1-956910096191}" type="sibTrans" cxnId="{B8099D07-90B8-4226-9440-A7F5B05F71C7}">
      <dgm:prSet/>
      <dgm:spPr/>
      <dgm:t>
        <a:bodyPr/>
        <a:lstStyle/>
        <a:p>
          <a:endParaRPr lang="en-US"/>
        </a:p>
      </dgm:t>
    </dgm:pt>
    <dgm:pt modelId="{0B3A56EB-A69D-4B68-B901-791D6850FCC9}">
      <dgm:prSet phldrT="[Text]"/>
      <dgm:spPr/>
      <dgm:t>
        <a:bodyPr/>
        <a:lstStyle/>
        <a:p>
          <a:r>
            <a:rPr lang="en-US" dirty="0"/>
            <a:t>Train model</a:t>
          </a:r>
        </a:p>
      </dgm:t>
    </dgm:pt>
    <dgm:pt modelId="{A8E70C76-1F56-450E-A601-1EB5E108222D}" type="parTrans" cxnId="{4DAD023A-9FB3-4B2A-90FA-CDB716C099B5}">
      <dgm:prSet/>
      <dgm:spPr/>
      <dgm:t>
        <a:bodyPr/>
        <a:lstStyle/>
        <a:p>
          <a:endParaRPr lang="en-US"/>
        </a:p>
      </dgm:t>
    </dgm:pt>
    <dgm:pt modelId="{4D80DBD8-9835-4C5A-8981-E5B246CC8E8F}" type="sibTrans" cxnId="{4DAD023A-9FB3-4B2A-90FA-CDB716C099B5}">
      <dgm:prSet/>
      <dgm:spPr/>
      <dgm:t>
        <a:bodyPr/>
        <a:lstStyle/>
        <a:p>
          <a:endParaRPr lang="en-US"/>
        </a:p>
      </dgm:t>
    </dgm:pt>
    <dgm:pt modelId="{63A1F49D-D511-4A9D-8AD2-2B338E991800}">
      <dgm:prSet phldrT="[Text]"/>
      <dgm:spPr/>
      <dgm:t>
        <a:bodyPr/>
        <a:lstStyle/>
        <a:p>
          <a:r>
            <a:rPr lang="en-US" dirty="0"/>
            <a:t>Test model</a:t>
          </a:r>
        </a:p>
      </dgm:t>
    </dgm:pt>
    <dgm:pt modelId="{434ED711-972D-4386-813A-064B84D15611}" type="parTrans" cxnId="{295484EE-851C-4220-8434-BD752AF18CF3}">
      <dgm:prSet/>
      <dgm:spPr/>
      <dgm:t>
        <a:bodyPr/>
        <a:lstStyle/>
        <a:p>
          <a:endParaRPr lang="en-US"/>
        </a:p>
      </dgm:t>
    </dgm:pt>
    <dgm:pt modelId="{D7DFCB10-DC36-464C-B076-1C6FF001952E}" type="sibTrans" cxnId="{295484EE-851C-4220-8434-BD752AF18CF3}">
      <dgm:prSet/>
      <dgm:spPr/>
      <dgm:t>
        <a:bodyPr/>
        <a:lstStyle/>
        <a:p>
          <a:endParaRPr lang="en-US"/>
        </a:p>
      </dgm:t>
    </dgm:pt>
    <dgm:pt modelId="{FD481F0A-0CEB-459C-ACA6-E49FC799DAFD}">
      <dgm:prSet/>
      <dgm:spPr/>
      <dgm:t>
        <a:bodyPr/>
        <a:lstStyle/>
        <a:p>
          <a:r>
            <a:rPr lang="en-US" dirty="0"/>
            <a:t>Deploy model</a:t>
          </a:r>
        </a:p>
      </dgm:t>
    </dgm:pt>
    <dgm:pt modelId="{1D66B6FA-B4F4-41B4-8915-2D47F84E155B}" type="parTrans" cxnId="{F53167C0-4F73-42D0-AE7B-D65AA8DCDEB8}">
      <dgm:prSet/>
      <dgm:spPr/>
      <dgm:t>
        <a:bodyPr/>
        <a:lstStyle/>
        <a:p>
          <a:endParaRPr lang="en-US"/>
        </a:p>
      </dgm:t>
    </dgm:pt>
    <dgm:pt modelId="{A1AA81CF-6A2A-4A82-8DA0-4ADDAA9BAB9D}" type="sibTrans" cxnId="{F53167C0-4F73-42D0-AE7B-D65AA8DCDEB8}">
      <dgm:prSet/>
      <dgm:spPr/>
      <dgm:t>
        <a:bodyPr/>
        <a:lstStyle/>
        <a:p>
          <a:endParaRPr lang="en-US"/>
        </a:p>
      </dgm:t>
    </dgm:pt>
    <dgm:pt modelId="{F548A813-17A4-468D-88B0-F9269C817AEA}">
      <dgm:prSet/>
      <dgm:spPr/>
      <dgm:t>
        <a:bodyPr/>
        <a:lstStyle/>
        <a:p>
          <a:r>
            <a:rPr lang="en-US" dirty="0"/>
            <a:t>Stop Fraud</a:t>
          </a:r>
        </a:p>
      </dgm:t>
    </dgm:pt>
    <dgm:pt modelId="{FE2AF1FA-0E4D-4AFF-B066-CF6FB6CD0F00}" type="parTrans" cxnId="{16F47FAD-228E-4D15-A046-84F8EBC23524}">
      <dgm:prSet/>
      <dgm:spPr/>
      <dgm:t>
        <a:bodyPr/>
        <a:lstStyle/>
        <a:p>
          <a:endParaRPr lang="en-US"/>
        </a:p>
      </dgm:t>
    </dgm:pt>
    <dgm:pt modelId="{87C18D0B-3298-46D2-9069-8604E1EDB6C3}" type="sibTrans" cxnId="{16F47FAD-228E-4D15-A046-84F8EBC23524}">
      <dgm:prSet/>
      <dgm:spPr/>
      <dgm:t>
        <a:bodyPr/>
        <a:lstStyle/>
        <a:p>
          <a:endParaRPr lang="en-US"/>
        </a:p>
      </dgm:t>
    </dgm:pt>
    <dgm:pt modelId="{E49170AA-C08C-4196-B63C-424A3982C900}">
      <dgm:prSet/>
      <dgm:spPr/>
      <dgm:t>
        <a:bodyPr/>
        <a:lstStyle/>
        <a:p>
          <a:r>
            <a:rPr lang="en-US" dirty="0"/>
            <a:t>Save Money!</a:t>
          </a:r>
        </a:p>
      </dgm:t>
    </dgm:pt>
    <dgm:pt modelId="{C2F18902-ADEA-42AA-991B-1CD838B554FB}" type="parTrans" cxnId="{3B305209-567C-4263-9A8F-D27DA0F261C1}">
      <dgm:prSet/>
      <dgm:spPr/>
      <dgm:t>
        <a:bodyPr/>
        <a:lstStyle/>
        <a:p>
          <a:endParaRPr lang="en-US"/>
        </a:p>
      </dgm:t>
    </dgm:pt>
    <dgm:pt modelId="{145D3733-1C05-4732-BBF8-0FECCB97E65D}" type="sibTrans" cxnId="{3B305209-567C-4263-9A8F-D27DA0F261C1}">
      <dgm:prSet/>
      <dgm:spPr/>
      <dgm:t>
        <a:bodyPr/>
        <a:lstStyle/>
        <a:p>
          <a:endParaRPr lang="en-US"/>
        </a:p>
      </dgm:t>
    </dgm:pt>
    <dgm:pt modelId="{7DA5C1E6-B361-4CD5-A7A0-8CC02F704DBD}" type="pres">
      <dgm:prSet presAssocID="{5B0F4E72-32EF-498F-9785-6E9A44F97CA0}" presName="diagram" presStyleCnt="0">
        <dgm:presLayoutVars>
          <dgm:dir/>
          <dgm:resizeHandles val="exact"/>
        </dgm:presLayoutVars>
      </dgm:prSet>
      <dgm:spPr/>
    </dgm:pt>
    <dgm:pt modelId="{E35A1505-502A-4134-B564-80E4EF4ADCE0}" type="pres">
      <dgm:prSet presAssocID="{BC4106AE-A27F-4839-A936-73F6979B0A60}" presName="node" presStyleLbl="node1" presStyleIdx="0" presStyleCnt="8" custLinFactNeighborX="-5048" custLinFactNeighborY="-53">
        <dgm:presLayoutVars>
          <dgm:bulletEnabled val="1"/>
        </dgm:presLayoutVars>
      </dgm:prSet>
      <dgm:spPr/>
    </dgm:pt>
    <dgm:pt modelId="{692654D8-D70D-4D1F-BDB2-DADCD247F711}" type="pres">
      <dgm:prSet presAssocID="{DAE3556F-B7D5-43B1-8F79-859408EBF32B}" presName="sibTrans" presStyleLbl="sibTrans2D1" presStyleIdx="0" presStyleCnt="7"/>
      <dgm:spPr/>
    </dgm:pt>
    <dgm:pt modelId="{DE52ADB1-22F5-48C2-81BD-0572E28F9314}" type="pres">
      <dgm:prSet presAssocID="{DAE3556F-B7D5-43B1-8F79-859408EBF32B}" presName="connectorText" presStyleLbl="sibTrans2D1" presStyleIdx="0" presStyleCnt="7"/>
      <dgm:spPr/>
    </dgm:pt>
    <dgm:pt modelId="{EE6AEAC4-68A9-4E7C-80A5-EA7CF7D764E5}" type="pres">
      <dgm:prSet presAssocID="{285DD934-B37F-48AE-BDC2-77F14797CEA3}" presName="node" presStyleLbl="node1" presStyleIdx="1" presStyleCnt="8" custLinFactNeighborX="-5048" custLinFactNeighborY="-53">
        <dgm:presLayoutVars>
          <dgm:bulletEnabled val="1"/>
        </dgm:presLayoutVars>
      </dgm:prSet>
      <dgm:spPr/>
    </dgm:pt>
    <dgm:pt modelId="{AF877905-8BE7-474D-954C-059E0A482999}" type="pres">
      <dgm:prSet presAssocID="{CD859C91-9B23-4FD9-AF56-36F443E158D2}" presName="sibTrans" presStyleLbl="sibTrans2D1" presStyleIdx="1" presStyleCnt="7"/>
      <dgm:spPr/>
    </dgm:pt>
    <dgm:pt modelId="{CE7CA2E4-751E-4D6A-8998-0FAA9D441BC1}" type="pres">
      <dgm:prSet presAssocID="{CD859C91-9B23-4FD9-AF56-36F443E158D2}" presName="connectorText" presStyleLbl="sibTrans2D1" presStyleIdx="1" presStyleCnt="7"/>
      <dgm:spPr/>
    </dgm:pt>
    <dgm:pt modelId="{29845D07-6A7F-47B9-9E44-7085D7C2BD27}" type="pres">
      <dgm:prSet presAssocID="{6452A33E-CF53-4276-9B36-A626B3618B29}" presName="node" presStyleLbl="node1" presStyleIdx="2" presStyleCnt="8" custLinFactNeighborX="-5048" custLinFactNeighborY="-53">
        <dgm:presLayoutVars>
          <dgm:bulletEnabled val="1"/>
        </dgm:presLayoutVars>
      </dgm:prSet>
      <dgm:spPr/>
    </dgm:pt>
    <dgm:pt modelId="{5CAE26AD-EE8C-4BB8-A036-79A09DDB8506}" type="pres">
      <dgm:prSet presAssocID="{C3803720-9386-4A11-B0B1-956910096191}" presName="sibTrans" presStyleLbl="sibTrans2D1" presStyleIdx="2" presStyleCnt="7"/>
      <dgm:spPr/>
    </dgm:pt>
    <dgm:pt modelId="{A5F881EE-D210-478A-9053-552797CD804A}" type="pres">
      <dgm:prSet presAssocID="{C3803720-9386-4A11-B0B1-956910096191}" presName="connectorText" presStyleLbl="sibTrans2D1" presStyleIdx="2" presStyleCnt="7"/>
      <dgm:spPr/>
    </dgm:pt>
    <dgm:pt modelId="{86F8EA60-0ED1-4459-BF56-5A0CB6782611}" type="pres">
      <dgm:prSet presAssocID="{0B3A56EB-A69D-4B68-B901-791D6850FCC9}" presName="node" presStyleLbl="node1" presStyleIdx="3" presStyleCnt="8" custLinFactNeighborX="-5048" custLinFactNeighborY="-53">
        <dgm:presLayoutVars>
          <dgm:bulletEnabled val="1"/>
        </dgm:presLayoutVars>
      </dgm:prSet>
      <dgm:spPr/>
    </dgm:pt>
    <dgm:pt modelId="{868A40BD-5F81-4708-9E8A-83F81645BE2A}" type="pres">
      <dgm:prSet presAssocID="{4D80DBD8-9835-4C5A-8981-E5B246CC8E8F}" presName="sibTrans" presStyleLbl="sibTrans2D1" presStyleIdx="3" presStyleCnt="7"/>
      <dgm:spPr/>
    </dgm:pt>
    <dgm:pt modelId="{6A7AC2FF-D226-41D9-8334-93F2E9158458}" type="pres">
      <dgm:prSet presAssocID="{4D80DBD8-9835-4C5A-8981-E5B246CC8E8F}" presName="connectorText" presStyleLbl="sibTrans2D1" presStyleIdx="3" presStyleCnt="7"/>
      <dgm:spPr/>
    </dgm:pt>
    <dgm:pt modelId="{0DE28E53-E8DA-4ABD-A08E-4618B74DCB84}" type="pres">
      <dgm:prSet presAssocID="{63A1F49D-D511-4A9D-8AD2-2B338E991800}" presName="node" presStyleLbl="node1" presStyleIdx="4" presStyleCnt="8" custLinFactNeighborX="-5048" custLinFactNeighborY="-53">
        <dgm:presLayoutVars>
          <dgm:bulletEnabled val="1"/>
        </dgm:presLayoutVars>
      </dgm:prSet>
      <dgm:spPr/>
    </dgm:pt>
    <dgm:pt modelId="{23C22AF8-85F5-4D90-B91B-70F9ED48B16F}" type="pres">
      <dgm:prSet presAssocID="{D7DFCB10-DC36-464C-B076-1C6FF001952E}" presName="sibTrans" presStyleLbl="sibTrans2D1" presStyleIdx="4" presStyleCnt="7"/>
      <dgm:spPr/>
    </dgm:pt>
    <dgm:pt modelId="{9A0B4FA8-2A69-4AAA-99F9-4C0A5143C710}" type="pres">
      <dgm:prSet presAssocID="{D7DFCB10-DC36-464C-B076-1C6FF001952E}" presName="connectorText" presStyleLbl="sibTrans2D1" presStyleIdx="4" presStyleCnt="7"/>
      <dgm:spPr/>
    </dgm:pt>
    <dgm:pt modelId="{DAC875D7-EDD0-4D55-8F59-716DDA3DCD31}" type="pres">
      <dgm:prSet presAssocID="{FD481F0A-0CEB-459C-ACA6-E49FC799DAFD}" presName="node" presStyleLbl="node1" presStyleIdx="5" presStyleCnt="8">
        <dgm:presLayoutVars>
          <dgm:bulletEnabled val="1"/>
        </dgm:presLayoutVars>
      </dgm:prSet>
      <dgm:spPr/>
    </dgm:pt>
    <dgm:pt modelId="{2C895661-4D5A-436C-965E-E73E3F997AD1}" type="pres">
      <dgm:prSet presAssocID="{A1AA81CF-6A2A-4A82-8DA0-4ADDAA9BAB9D}" presName="sibTrans" presStyleLbl="sibTrans2D1" presStyleIdx="5" presStyleCnt="7"/>
      <dgm:spPr/>
    </dgm:pt>
    <dgm:pt modelId="{E03E997D-DC6B-4F8E-BC25-41BE725DED30}" type="pres">
      <dgm:prSet presAssocID="{A1AA81CF-6A2A-4A82-8DA0-4ADDAA9BAB9D}" presName="connectorText" presStyleLbl="sibTrans2D1" presStyleIdx="5" presStyleCnt="7"/>
      <dgm:spPr/>
    </dgm:pt>
    <dgm:pt modelId="{30254C48-5012-4ACD-B53E-03A8F70CC3D9}" type="pres">
      <dgm:prSet presAssocID="{F548A813-17A4-468D-88B0-F9269C817AEA}" presName="node" presStyleLbl="node1" presStyleIdx="6" presStyleCnt="8">
        <dgm:presLayoutVars>
          <dgm:bulletEnabled val="1"/>
        </dgm:presLayoutVars>
      </dgm:prSet>
      <dgm:spPr/>
    </dgm:pt>
    <dgm:pt modelId="{8DCB4B06-DBC1-4E27-9757-ECEE0ECE08F0}" type="pres">
      <dgm:prSet presAssocID="{87C18D0B-3298-46D2-9069-8604E1EDB6C3}" presName="sibTrans" presStyleLbl="sibTrans2D1" presStyleIdx="6" presStyleCnt="7"/>
      <dgm:spPr/>
    </dgm:pt>
    <dgm:pt modelId="{9051E09A-B308-4260-8E7D-768CECBC48BC}" type="pres">
      <dgm:prSet presAssocID="{87C18D0B-3298-46D2-9069-8604E1EDB6C3}" presName="connectorText" presStyleLbl="sibTrans2D1" presStyleIdx="6" presStyleCnt="7"/>
      <dgm:spPr/>
    </dgm:pt>
    <dgm:pt modelId="{9B761AF3-4C77-45B1-8FE1-285BA85F7602}" type="pres">
      <dgm:prSet presAssocID="{E49170AA-C08C-4196-B63C-424A3982C900}" presName="node" presStyleLbl="node1" presStyleIdx="7" presStyleCnt="8">
        <dgm:presLayoutVars>
          <dgm:bulletEnabled val="1"/>
        </dgm:presLayoutVars>
      </dgm:prSet>
      <dgm:spPr/>
    </dgm:pt>
  </dgm:ptLst>
  <dgm:cxnLst>
    <dgm:cxn modelId="{37217904-5DAF-47B9-B30C-777A50ED2E27}" srcId="{5B0F4E72-32EF-498F-9785-6E9A44F97CA0}" destId="{285DD934-B37F-48AE-BDC2-77F14797CEA3}" srcOrd="1" destOrd="0" parTransId="{C3E862A4-04A6-41B1-ADE1-373496189B42}" sibTransId="{CD859C91-9B23-4FD9-AF56-36F443E158D2}"/>
    <dgm:cxn modelId="{76C0DA06-89A2-4CDD-9FB6-6289FF508E12}" type="presOf" srcId="{A1AA81CF-6A2A-4A82-8DA0-4ADDAA9BAB9D}" destId="{E03E997D-DC6B-4F8E-BC25-41BE725DED30}" srcOrd="1" destOrd="0" presId="urn:microsoft.com/office/officeart/2005/8/layout/process5"/>
    <dgm:cxn modelId="{B8099D07-90B8-4226-9440-A7F5B05F71C7}" srcId="{5B0F4E72-32EF-498F-9785-6E9A44F97CA0}" destId="{6452A33E-CF53-4276-9B36-A626B3618B29}" srcOrd="2" destOrd="0" parTransId="{10B2627A-0D79-4FEE-9FBE-BDE08EB8DF6E}" sibTransId="{C3803720-9386-4A11-B0B1-956910096191}"/>
    <dgm:cxn modelId="{678DFA08-4766-42EB-86A3-70ECA2A96CE2}" type="presOf" srcId="{DAE3556F-B7D5-43B1-8F79-859408EBF32B}" destId="{DE52ADB1-22F5-48C2-81BD-0572E28F9314}" srcOrd="1" destOrd="0" presId="urn:microsoft.com/office/officeart/2005/8/layout/process5"/>
    <dgm:cxn modelId="{3B305209-567C-4263-9A8F-D27DA0F261C1}" srcId="{5B0F4E72-32EF-498F-9785-6E9A44F97CA0}" destId="{E49170AA-C08C-4196-B63C-424A3982C900}" srcOrd="7" destOrd="0" parTransId="{C2F18902-ADEA-42AA-991B-1CD838B554FB}" sibTransId="{145D3733-1C05-4732-BBF8-0FECCB97E65D}"/>
    <dgm:cxn modelId="{562C9A0B-3E5E-40D5-94AC-D70D1D17E344}" type="presOf" srcId="{63A1F49D-D511-4A9D-8AD2-2B338E991800}" destId="{0DE28E53-E8DA-4ABD-A08E-4618B74DCB84}" srcOrd="0" destOrd="0" presId="urn:microsoft.com/office/officeart/2005/8/layout/process5"/>
    <dgm:cxn modelId="{026C9318-61A1-44B8-A1B3-CEF91A2D5FB3}" type="presOf" srcId="{6452A33E-CF53-4276-9B36-A626B3618B29}" destId="{29845D07-6A7F-47B9-9E44-7085D7C2BD27}" srcOrd="0" destOrd="0" presId="urn:microsoft.com/office/officeart/2005/8/layout/process5"/>
    <dgm:cxn modelId="{11F13922-AD6C-4C4C-AC76-168BB84DCE43}" type="presOf" srcId="{C3803720-9386-4A11-B0B1-956910096191}" destId="{A5F881EE-D210-478A-9053-552797CD804A}" srcOrd="1" destOrd="0" presId="urn:microsoft.com/office/officeart/2005/8/layout/process5"/>
    <dgm:cxn modelId="{7B13DC32-29C9-483E-9529-0526F82B4618}" type="presOf" srcId="{D7DFCB10-DC36-464C-B076-1C6FF001952E}" destId="{23C22AF8-85F5-4D90-B91B-70F9ED48B16F}" srcOrd="0" destOrd="0" presId="urn:microsoft.com/office/officeart/2005/8/layout/process5"/>
    <dgm:cxn modelId="{4DAD023A-9FB3-4B2A-90FA-CDB716C099B5}" srcId="{5B0F4E72-32EF-498F-9785-6E9A44F97CA0}" destId="{0B3A56EB-A69D-4B68-B901-791D6850FCC9}" srcOrd="3" destOrd="0" parTransId="{A8E70C76-1F56-450E-A601-1EB5E108222D}" sibTransId="{4D80DBD8-9835-4C5A-8981-E5B246CC8E8F}"/>
    <dgm:cxn modelId="{90A7E83A-86EF-423C-B725-95E7C8AB7155}" type="presOf" srcId="{4D80DBD8-9835-4C5A-8981-E5B246CC8E8F}" destId="{868A40BD-5F81-4708-9E8A-83F81645BE2A}" srcOrd="0" destOrd="0" presId="urn:microsoft.com/office/officeart/2005/8/layout/process5"/>
    <dgm:cxn modelId="{1349EE60-3AC6-4245-9D3A-48DCD4FD8589}" type="presOf" srcId="{F548A813-17A4-468D-88B0-F9269C817AEA}" destId="{30254C48-5012-4ACD-B53E-03A8F70CC3D9}" srcOrd="0" destOrd="0" presId="urn:microsoft.com/office/officeart/2005/8/layout/process5"/>
    <dgm:cxn modelId="{B24D8643-0D55-4D4A-8963-12FEE5AC7266}" type="presOf" srcId="{CD859C91-9B23-4FD9-AF56-36F443E158D2}" destId="{AF877905-8BE7-474D-954C-059E0A482999}" srcOrd="0" destOrd="0" presId="urn:microsoft.com/office/officeart/2005/8/layout/process5"/>
    <dgm:cxn modelId="{3982346A-76DF-4896-96CD-B3E6BD1F2858}" type="presOf" srcId="{FD481F0A-0CEB-459C-ACA6-E49FC799DAFD}" destId="{DAC875D7-EDD0-4D55-8F59-716DDA3DCD31}" srcOrd="0" destOrd="0" presId="urn:microsoft.com/office/officeart/2005/8/layout/process5"/>
    <dgm:cxn modelId="{F0BCD055-3730-452F-B0BE-0C6F7F152AD3}" type="presOf" srcId="{C3803720-9386-4A11-B0B1-956910096191}" destId="{5CAE26AD-EE8C-4BB8-A036-79A09DDB8506}" srcOrd="0" destOrd="0" presId="urn:microsoft.com/office/officeart/2005/8/layout/process5"/>
    <dgm:cxn modelId="{FA07A556-9D60-4E56-8BEB-73A5980E297F}" type="presOf" srcId="{285DD934-B37F-48AE-BDC2-77F14797CEA3}" destId="{EE6AEAC4-68A9-4E7C-80A5-EA7CF7D764E5}" srcOrd="0" destOrd="0" presId="urn:microsoft.com/office/officeart/2005/8/layout/process5"/>
    <dgm:cxn modelId="{7C5FF577-86C1-47BC-9A0F-93D9D979FA28}" type="presOf" srcId="{CD859C91-9B23-4FD9-AF56-36F443E158D2}" destId="{CE7CA2E4-751E-4D6A-8998-0FAA9D441BC1}" srcOrd="1" destOrd="0" presId="urn:microsoft.com/office/officeart/2005/8/layout/process5"/>
    <dgm:cxn modelId="{5218C983-A5BB-41D4-831F-EC3A1A791AF2}" type="presOf" srcId="{5B0F4E72-32EF-498F-9785-6E9A44F97CA0}" destId="{7DA5C1E6-B361-4CD5-A7A0-8CC02F704DBD}" srcOrd="0" destOrd="0" presId="urn:microsoft.com/office/officeart/2005/8/layout/process5"/>
    <dgm:cxn modelId="{F8A72A8B-378E-4FC5-BB5F-1F5308714A59}" type="presOf" srcId="{D7DFCB10-DC36-464C-B076-1C6FF001952E}" destId="{9A0B4FA8-2A69-4AAA-99F9-4C0A5143C710}" srcOrd="1" destOrd="0" presId="urn:microsoft.com/office/officeart/2005/8/layout/process5"/>
    <dgm:cxn modelId="{46371191-F495-4926-8B82-A63C07378258}" type="presOf" srcId="{0B3A56EB-A69D-4B68-B901-791D6850FCC9}" destId="{86F8EA60-0ED1-4459-BF56-5A0CB6782611}" srcOrd="0" destOrd="0" presId="urn:microsoft.com/office/officeart/2005/8/layout/process5"/>
    <dgm:cxn modelId="{4F847795-276E-4C44-869C-1A42A6FB9B4F}" type="presOf" srcId="{DAE3556F-B7D5-43B1-8F79-859408EBF32B}" destId="{692654D8-D70D-4D1F-BDB2-DADCD247F711}" srcOrd="0" destOrd="0" presId="urn:microsoft.com/office/officeart/2005/8/layout/process5"/>
    <dgm:cxn modelId="{D9E158AC-2780-4F22-BEBF-938E890DCF48}" type="presOf" srcId="{87C18D0B-3298-46D2-9069-8604E1EDB6C3}" destId="{9051E09A-B308-4260-8E7D-768CECBC48BC}" srcOrd="1" destOrd="0" presId="urn:microsoft.com/office/officeart/2005/8/layout/process5"/>
    <dgm:cxn modelId="{16F47FAD-228E-4D15-A046-84F8EBC23524}" srcId="{5B0F4E72-32EF-498F-9785-6E9A44F97CA0}" destId="{F548A813-17A4-468D-88B0-F9269C817AEA}" srcOrd="6" destOrd="0" parTransId="{FE2AF1FA-0E4D-4AFF-B066-CF6FB6CD0F00}" sibTransId="{87C18D0B-3298-46D2-9069-8604E1EDB6C3}"/>
    <dgm:cxn modelId="{F53167C0-4F73-42D0-AE7B-D65AA8DCDEB8}" srcId="{5B0F4E72-32EF-498F-9785-6E9A44F97CA0}" destId="{FD481F0A-0CEB-459C-ACA6-E49FC799DAFD}" srcOrd="5" destOrd="0" parTransId="{1D66B6FA-B4F4-41B4-8915-2D47F84E155B}" sibTransId="{A1AA81CF-6A2A-4A82-8DA0-4ADDAA9BAB9D}"/>
    <dgm:cxn modelId="{22D501C3-6DAD-448A-9F2B-002069A7E6BC}" type="presOf" srcId="{A1AA81CF-6A2A-4A82-8DA0-4ADDAA9BAB9D}" destId="{2C895661-4D5A-436C-965E-E73E3F997AD1}" srcOrd="0" destOrd="0" presId="urn:microsoft.com/office/officeart/2005/8/layout/process5"/>
    <dgm:cxn modelId="{59ED3BC4-6EF1-407E-9B75-1FB11CDA29DD}" srcId="{5B0F4E72-32EF-498F-9785-6E9A44F97CA0}" destId="{BC4106AE-A27F-4839-A936-73F6979B0A60}" srcOrd="0" destOrd="0" parTransId="{717E4663-349E-4248-9372-783DD27D4FA2}" sibTransId="{DAE3556F-B7D5-43B1-8F79-859408EBF32B}"/>
    <dgm:cxn modelId="{DA67D9C8-AC03-4F34-AE12-1C0E4AAA49B5}" type="presOf" srcId="{4D80DBD8-9835-4C5A-8981-E5B246CC8E8F}" destId="{6A7AC2FF-D226-41D9-8334-93F2E9158458}" srcOrd="1" destOrd="0" presId="urn:microsoft.com/office/officeart/2005/8/layout/process5"/>
    <dgm:cxn modelId="{A460E8D5-648D-4295-A2DA-F6AA512B11EC}" type="presOf" srcId="{87C18D0B-3298-46D2-9069-8604E1EDB6C3}" destId="{8DCB4B06-DBC1-4E27-9757-ECEE0ECE08F0}" srcOrd="0" destOrd="0" presId="urn:microsoft.com/office/officeart/2005/8/layout/process5"/>
    <dgm:cxn modelId="{BB5C25E6-4A63-48FC-A2AB-464A5DABF93E}" type="presOf" srcId="{BC4106AE-A27F-4839-A936-73F6979B0A60}" destId="{E35A1505-502A-4134-B564-80E4EF4ADCE0}" srcOrd="0" destOrd="0" presId="urn:microsoft.com/office/officeart/2005/8/layout/process5"/>
    <dgm:cxn modelId="{295484EE-851C-4220-8434-BD752AF18CF3}" srcId="{5B0F4E72-32EF-498F-9785-6E9A44F97CA0}" destId="{63A1F49D-D511-4A9D-8AD2-2B338E991800}" srcOrd="4" destOrd="0" parTransId="{434ED711-972D-4386-813A-064B84D15611}" sibTransId="{D7DFCB10-DC36-464C-B076-1C6FF001952E}"/>
    <dgm:cxn modelId="{A3B3F6F3-BBB5-49B3-8985-11D26ED97F0E}" type="presOf" srcId="{E49170AA-C08C-4196-B63C-424A3982C900}" destId="{9B761AF3-4C77-45B1-8FE1-285BA85F7602}" srcOrd="0" destOrd="0" presId="urn:microsoft.com/office/officeart/2005/8/layout/process5"/>
    <dgm:cxn modelId="{2125E7A0-BD32-49F1-8E9A-3A8DCFC10D7E}" type="presParOf" srcId="{7DA5C1E6-B361-4CD5-A7A0-8CC02F704DBD}" destId="{E35A1505-502A-4134-B564-80E4EF4ADCE0}" srcOrd="0" destOrd="0" presId="urn:microsoft.com/office/officeart/2005/8/layout/process5"/>
    <dgm:cxn modelId="{552F527D-F9C2-485F-898A-30C42315A40E}" type="presParOf" srcId="{7DA5C1E6-B361-4CD5-A7A0-8CC02F704DBD}" destId="{692654D8-D70D-4D1F-BDB2-DADCD247F711}" srcOrd="1" destOrd="0" presId="urn:microsoft.com/office/officeart/2005/8/layout/process5"/>
    <dgm:cxn modelId="{C0780238-B79A-4219-B0B6-DC2E55C4E0D4}" type="presParOf" srcId="{692654D8-D70D-4D1F-BDB2-DADCD247F711}" destId="{DE52ADB1-22F5-48C2-81BD-0572E28F9314}" srcOrd="0" destOrd="0" presId="urn:microsoft.com/office/officeart/2005/8/layout/process5"/>
    <dgm:cxn modelId="{F1701925-09F3-47E9-82C1-E4DDD3263D22}" type="presParOf" srcId="{7DA5C1E6-B361-4CD5-A7A0-8CC02F704DBD}" destId="{EE6AEAC4-68A9-4E7C-80A5-EA7CF7D764E5}" srcOrd="2" destOrd="0" presId="urn:microsoft.com/office/officeart/2005/8/layout/process5"/>
    <dgm:cxn modelId="{DCBAAE77-A0F1-4057-8193-A787D6BFDF90}" type="presParOf" srcId="{7DA5C1E6-B361-4CD5-A7A0-8CC02F704DBD}" destId="{AF877905-8BE7-474D-954C-059E0A482999}" srcOrd="3" destOrd="0" presId="urn:microsoft.com/office/officeart/2005/8/layout/process5"/>
    <dgm:cxn modelId="{CFD12738-C887-4956-B020-72F8D663DDC0}" type="presParOf" srcId="{AF877905-8BE7-474D-954C-059E0A482999}" destId="{CE7CA2E4-751E-4D6A-8998-0FAA9D441BC1}" srcOrd="0" destOrd="0" presId="urn:microsoft.com/office/officeart/2005/8/layout/process5"/>
    <dgm:cxn modelId="{35ACFDB5-C91A-46BD-BE0F-62E93A0C690D}" type="presParOf" srcId="{7DA5C1E6-B361-4CD5-A7A0-8CC02F704DBD}" destId="{29845D07-6A7F-47B9-9E44-7085D7C2BD27}" srcOrd="4" destOrd="0" presId="urn:microsoft.com/office/officeart/2005/8/layout/process5"/>
    <dgm:cxn modelId="{83DFD9BE-B625-4E64-B908-C651B52C5D26}" type="presParOf" srcId="{7DA5C1E6-B361-4CD5-A7A0-8CC02F704DBD}" destId="{5CAE26AD-EE8C-4BB8-A036-79A09DDB8506}" srcOrd="5" destOrd="0" presId="urn:microsoft.com/office/officeart/2005/8/layout/process5"/>
    <dgm:cxn modelId="{EF8C6DCA-9D59-4FBC-A0FB-68F33059D252}" type="presParOf" srcId="{5CAE26AD-EE8C-4BB8-A036-79A09DDB8506}" destId="{A5F881EE-D210-478A-9053-552797CD804A}" srcOrd="0" destOrd="0" presId="urn:microsoft.com/office/officeart/2005/8/layout/process5"/>
    <dgm:cxn modelId="{1693D62A-0D9A-4D02-A05F-C6966C8ED1F2}" type="presParOf" srcId="{7DA5C1E6-B361-4CD5-A7A0-8CC02F704DBD}" destId="{86F8EA60-0ED1-4459-BF56-5A0CB6782611}" srcOrd="6" destOrd="0" presId="urn:microsoft.com/office/officeart/2005/8/layout/process5"/>
    <dgm:cxn modelId="{FC0001FB-C630-467C-B54E-B04FAF05F5D5}" type="presParOf" srcId="{7DA5C1E6-B361-4CD5-A7A0-8CC02F704DBD}" destId="{868A40BD-5F81-4708-9E8A-83F81645BE2A}" srcOrd="7" destOrd="0" presId="urn:microsoft.com/office/officeart/2005/8/layout/process5"/>
    <dgm:cxn modelId="{F6B42C41-7D23-43CF-8AAB-C0CAE6566D11}" type="presParOf" srcId="{868A40BD-5F81-4708-9E8A-83F81645BE2A}" destId="{6A7AC2FF-D226-41D9-8334-93F2E9158458}" srcOrd="0" destOrd="0" presId="urn:microsoft.com/office/officeart/2005/8/layout/process5"/>
    <dgm:cxn modelId="{4D392419-3B23-4A59-B405-5486F6E54C34}" type="presParOf" srcId="{7DA5C1E6-B361-4CD5-A7A0-8CC02F704DBD}" destId="{0DE28E53-E8DA-4ABD-A08E-4618B74DCB84}" srcOrd="8" destOrd="0" presId="urn:microsoft.com/office/officeart/2005/8/layout/process5"/>
    <dgm:cxn modelId="{809D2FC4-DC59-437A-A718-5EB9349B71B2}" type="presParOf" srcId="{7DA5C1E6-B361-4CD5-A7A0-8CC02F704DBD}" destId="{23C22AF8-85F5-4D90-B91B-70F9ED48B16F}" srcOrd="9" destOrd="0" presId="urn:microsoft.com/office/officeart/2005/8/layout/process5"/>
    <dgm:cxn modelId="{5979FB45-E07C-4B28-8467-F6B9D713825D}" type="presParOf" srcId="{23C22AF8-85F5-4D90-B91B-70F9ED48B16F}" destId="{9A0B4FA8-2A69-4AAA-99F9-4C0A5143C710}" srcOrd="0" destOrd="0" presId="urn:microsoft.com/office/officeart/2005/8/layout/process5"/>
    <dgm:cxn modelId="{F654EFDC-A5E4-4269-B64B-294E1F0A0F78}" type="presParOf" srcId="{7DA5C1E6-B361-4CD5-A7A0-8CC02F704DBD}" destId="{DAC875D7-EDD0-4D55-8F59-716DDA3DCD31}" srcOrd="10" destOrd="0" presId="urn:microsoft.com/office/officeart/2005/8/layout/process5"/>
    <dgm:cxn modelId="{0DB8BC56-F316-4E16-A52E-9B426651E09A}" type="presParOf" srcId="{7DA5C1E6-B361-4CD5-A7A0-8CC02F704DBD}" destId="{2C895661-4D5A-436C-965E-E73E3F997AD1}" srcOrd="11" destOrd="0" presId="urn:microsoft.com/office/officeart/2005/8/layout/process5"/>
    <dgm:cxn modelId="{05E097FA-B77C-44F6-B496-DEB9710CD5AB}" type="presParOf" srcId="{2C895661-4D5A-436C-965E-E73E3F997AD1}" destId="{E03E997D-DC6B-4F8E-BC25-41BE725DED30}" srcOrd="0" destOrd="0" presId="urn:microsoft.com/office/officeart/2005/8/layout/process5"/>
    <dgm:cxn modelId="{77682F10-968B-4F5A-B930-2E1D81DD7DA2}" type="presParOf" srcId="{7DA5C1E6-B361-4CD5-A7A0-8CC02F704DBD}" destId="{30254C48-5012-4ACD-B53E-03A8F70CC3D9}" srcOrd="12" destOrd="0" presId="urn:microsoft.com/office/officeart/2005/8/layout/process5"/>
    <dgm:cxn modelId="{467F4253-D462-4131-8C82-0D4FE517499D}" type="presParOf" srcId="{7DA5C1E6-B361-4CD5-A7A0-8CC02F704DBD}" destId="{8DCB4B06-DBC1-4E27-9757-ECEE0ECE08F0}" srcOrd="13" destOrd="0" presId="urn:microsoft.com/office/officeart/2005/8/layout/process5"/>
    <dgm:cxn modelId="{276A3D48-7FCD-422C-8EBF-960685F40A8C}" type="presParOf" srcId="{8DCB4B06-DBC1-4E27-9757-ECEE0ECE08F0}" destId="{9051E09A-B308-4260-8E7D-768CECBC48BC}" srcOrd="0" destOrd="0" presId="urn:microsoft.com/office/officeart/2005/8/layout/process5"/>
    <dgm:cxn modelId="{931DF1B1-31D6-431E-A0DF-51B0A4A9D1FD}" type="presParOf" srcId="{7DA5C1E6-B361-4CD5-A7A0-8CC02F704DBD}" destId="{9B761AF3-4C77-45B1-8FE1-285BA85F7602}" srcOrd="1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AAB5C62-0CA7-4B0B-9552-38C121BB9C79}" type="doc">
      <dgm:prSet loTypeId="urn:microsoft.com/office/officeart/2005/8/layout/process3" loCatId="process" qsTypeId="urn:microsoft.com/office/officeart/2005/8/quickstyle/simple1" qsCatId="simple" csTypeId="urn:microsoft.com/office/officeart/2005/8/colors/accent2_2" csCatId="accent2" phldr="1"/>
      <dgm:spPr/>
      <dgm:t>
        <a:bodyPr/>
        <a:lstStyle/>
        <a:p>
          <a:endParaRPr lang="en-US"/>
        </a:p>
      </dgm:t>
    </dgm:pt>
    <dgm:pt modelId="{20E77CF5-EB7E-4E92-A879-6459F7DE2CEC}">
      <dgm:prSet phldrT="[Text]" custT="1"/>
      <dgm:spPr/>
      <dgm:t>
        <a:bodyPr/>
        <a:lstStyle/>
        <a:p>
          <a:r>
            <a:rPr lang="en-US" sz="1400" dirty="0"/>
            <a:t>Import Data</a:t>
          </a:r>
        </a:p>
      </dgm:t>
    </dgm:pt>
    <dgm:pt modelId="{8FB11662-4FC4-420A-8F81-63DEDE4579B5}" type="parTrans" cxnId="{E75344E0-5E88-4995-9B40-A2FBDA6564EB}">
      <dgm:prSet/>
      <dgm:spPr/>
      <dgm:t>
        <a:bodyPr/>
        <a:lstStyle/>
        <a:p>
          <a:endParaRPr lang="en-US"/>
        </a:p>
      </dgm:t>
    </dgm:pt>
    <dgm:pt modelId="{409B16DA-8A80-4F1E-8348-BC70399802E9}" type="sibTrans" cxnId="{E75344E0-5E88-4995-9B40-A2FBDA6564EB}">
      <dgm:prSet/>
      <dgm:spPr/>
      <dgm:t>
        <a:bodyPr/>
        <a:lstStyle/>
        <a:p>
          <a:endParaRPr lang="en-US"/>
        </a:p>
      </dgm:t>
    </dgm:pt>
    <dgm:pt modelId="{E06A4052-1C15-4E18-A2EA-1FA43FAAB5DF}">
      <dgm:prSet phldrT="[Text]"/>
      <dgm:spPr/>
      <dgm:t>
        <a:bodyPr/>
        <a:lstStyle/>
        <a:p>
          <a:r>
            <a:rPr lang="en-US" dirty="0"/>
            <a:t>8135 Agents</a:t>
          </a:r>
        </a:p>
      </dgm:t>
    </dgm:pt>
    <dgm:pt modelId="{7FFE8243-6EF4-4AAE-A9FC-1801336F5C7A}" type="parTrans" cxnId="{5262C6C8-B6C2-4B38-AE01-A1C6A41340D4}">
      <dgm:prSet/>
      <dgm:spPr/>
      <dgm:t>
        <a:bodyPr/>
        <a:lstStyle/>
        <a:p>
          <a:endParaRPr lang="en-US"/>
        </a:p>
      </dgm:t>
    </dgm:pt>
    <dgm:pt modelId="{B5007DC4-1191-46B6-8E52-C963DB9FDB57}" type="sibTrans" cxnId="{5262C6C8-B6C2-4B38-AE01-A1C6A41340D4}">
      <dgm:prSet/>
      <dgm:spPr/>
      <dgm:t>
        <a:bodyPr/>
        <a:lstStyle/>
        <a:p>
          <a:endParaRPr lang="en-US"/>
        </a:p>
      </dgm:t>
    </dgm:pt>
    <dgm:pt modelId="{14FF4074-A6AE-4330-A7A7-B2E7C76DEE9B}">
      <dgm:prSet phldrT="[Text]" custT="1"/>
      <dgm:spPr/>
      <dgm:t>
        <a:bodyPr/>
        <a:lstStyle/>
        <a:p>
          <a:r>
            <a:rPr lang="en-US" sz="1400" dirty="0"/>
            <a:t>Split Data</a:t>
          </a:r>
        </a:p>
      </dgm:t>
    </dgm:pt>
    <dgm:pt modelId="{FDCCF5CE-72C8-44E4-B1D4-F3A7789C7377}" type="parTrans" cxnId="{A9469601-B634-49CC-8895-D06142FA9106}">
      <dgm:prSet/>
      <dgm:spPr/>
      <dgm:t>
        <a:bodyPr/>
        <a:lstStyle/>
        <a:p>
          <a:endParaRPr lang="en-US"/>
        </a:p>
      </dgm:t>
    </dgm:pt>
    <dgm:pt modelId="{727223EE-0475-476D-AC32-995E53559F7B}" type="sibTrans" cxnId="{A9469601-B634-49CC-8895-D06142FA9106}">
      <dgm:prSet/>
      <dgm:spPr/>
      <dgm:t>
        <a:bodyPr/>
        <a:lstStyle/>
        <a:p>
          <a:endParaRPr lang="en-US"/>
        </a:p>
      </dgm:t>
    </dgm:pt>
    <dgm:pt modelId="{96F7C27D-2D52-483E-B0B4-C71BDE572966}">
      <dgm:prSet phldrT="[Text]"/>
      <dgm:spPr/>
      <dgm:t>
        <a:bodyPr/>
        <a:lstStyle/>
        <a:p>
          <a:r>
            <a:rPr lang="en-US" dirty="0"/>
            <a:t>75% to test</a:t>
          </a:r>
        </a:p>
      </dgm:t>
    </dgm:pt>
    <dgm:pt modelId="{719C1D1B-825C-4E31-AEE7-B30214E50E1D}" type="parTrans" cxnId="{F1F404DF-9070-4C62-80CE-9C3D4CD5003B}">
      <dgm:prSet/>
      <dgm:spPr/>
      <dgm:t>
        <a:bodyPr/>
        <a:lstStyle/>
        <a:p>
          <a:endParaRPr lang="en-US"/>
        </a:p>
      </dgm:t>
    </dgm:pt>
    <dgm:pt modelId="{98C90F3D-7927-416B-9A83-A2A5FFEC27A9}" type="sibTrans" cxnId="{F1F404DF-9070-4C62-80CE-9C3D4CD5003B}">
      <dgm:prSet/>
      <dgm:spPr/>
      <dgm:t>
        <a:bodyPr/>
        <a:lstStyle/>
        <a:p>
          <a:endParaRPr lang="en-US"/>
        </a:p>
      </dgm:t>
    </dgm:pt>
    <dgm:pt modelId="{A7603625-0A32-404A-87E1-71F271BAE5EF}">
      <dgm:prSet phldrT="[Text]" custT="1"/>
      <dgm:spPr/>
      <dgm:t>
        <a:bodyPr/>
        <a:lstStyle/>
        <a:p>
          <a:r>
            <a:rPr lang="en-US" sz="1400" dirty="0"/>
            <a:t>Train Model</a:t>
          </a:r>
        </a:p>
      </dgm:t>
    </dgm:pt>
    <dgm:pt modelId="{895CF98A-176F-4AE1-9B16-82611FABB8E4}" type="parTrans" cxnId="{A4571F78-381A-42BF-8F45-3175AD690F4E}">
      <dgm:prSet/>
      <dgm:spPr/>
      <dgm:t>
        <a:bodyPr/>
        <a:lstStyle/>
        <a:p>
          <a:endParaRPr lang="en-US"/>
        </a:p>
      </dgm:t>
    </dgm:pt>
    <dgm:pt modelId="{53870D75-BABA-43F9-A310-40312919021A}" type="sibTrans" cxnId="{A4571F78-381A-42BF-8F45-3175AD690F4E}">
      <dgm:prSet/>
      <dgm:spPr/>
      <dgm:t>
        <a:bodyPr/>
        <a:lstStyle/>
        <a:p>
          <a:endParaRPr lang="en-US"/>
        </a:p>
      </dgm:t>
    </dgm:pt>
    <dgm:pt modelId="{E8FDFCB2-1CD2-4C55-8E87-AC9E627CC9DB}">
      <dgm:prSet phldrT="[Text]"/>
      <dgm:spPr/>
      <dgm:t>
        <a:bodyPr/>
        <a:lstStyle/>
        <a:p>
          <a:r>
            <a:rPr lang="en-US" dirty="0"/>
            <a:t>6091 Agents</a:t>
          </a:r>
        </a:p>
      </dgm:t>
    </dgm:pt>
    <dgm:pt modelId="{BC449387-01C9-4F70-B7C1-3F20D006F6BA}" type="parTrans" cxnId="{7A962BFD-70B8-46DF-A3B0-6474DEC5591A}">
      <dgm:prSet/>
      <dgm:spPr/>
      <dgm:t>
        <a:bodyPr/>
        <a:lstStyle/>
        <a:p>
          <a:endParaRPr lang="en-US"/>
        </a:p>
      </dgm:t>
    </dgm:pt>
    <dgm:pt modelId="{E271D6C8-E8D1-437D-9450-404234F33C57}" type="sibTrans" cxnId="{7A962BFD-70B8-46DF-A3B0-6474DEC5591A}">
      <dgm:prSet/>
      <dgm:spPr/>
      <dgm:t>
        <a:bodyPr/>
        <a:lstStyle/>
        <a:p>
          <a:endParaRPr lang="en-US"/>
        </a:p>
      </dgm:t>
    </dgm:pt>
    <dgm:pt modelId="{00F3DEB9-4A06-4F80-BA08-2A6239FBD2EE}">
      <dgm:prSet custT="1"/>
      <dgm:spPr/>
      <dgm:t>
        <a:bodyPr/>
        <a:lstStyle/>
        <a:p>
          <a:r>
            <a:rPr lang="en-US" sz="1400" dirty="0"/>
            <a:t>Test Model</a:t>
          </a:r>
        </a:p>
      </dgm:t>
    </dgm:pt>
    <dgm:pt modelId="{D9CA14B2-F40F-4401-9D50-3D3083E16560}" type="parTrans" cxnId="{0C1E105C-026A-47EB-9E44-9255F818A234}">
      <dgm:prSet/>
      <dgm:spPr/>
      <dgm:t>
        <a:bodyPr/>
        <a:lstStyle/>
        <a:p>
          <a:endParaRPr lang="en-US"/>
        </a:p>
      </dgm:t>
    </dgm:pt>
    <dgm:pt modelId="{7DF026C2-8781-4290-B2CA-08EB2628220C}" type="sibTrans" cxnId="{0C1E105C-026A-47EB-9E44-9255F818A234}">
      <dgm:prSet/>
      <dgm:spPr/>
      <dgm:t>
        <a:bodyPr/>
        <a:lstStyle/>
        <a:p>
          <a:endParaRPr lang="en-US"/>
        </a:p>
      </dgm:t>
    </dgm:pt>
    <dgm:pt modelId="{49232B0B-C642-451A-868F-7EB7D93E2C3F}">
      <dgm:prSet custT="1"/>
      <dgm:spPr/>
      <dgm:t>
        <a:bodyPr/>
        <a:lstStyle/>
        <a:p>
          <a:r>
            <a:rPr lang="en-US" sz="1400" dirty="0"/>
            <a:t>Result</a:t>
          </a:r>
        </a:p>
      </dgm:t>
    </dgm:pt>
    <dgm:pt modelId="{17974056-6713-443D-AA6D-5B84F167DFF3}" type="parTrans" cxnId="{EC8F9CD0-EC5C-435E-A825-17BCA07E92B6}">
      <dgm:prSet/>
      <dgm:spPr/>
      <dgm:t>
        <a:bodyPr/>
        <a:lstStyle/>
        <a:p>
          <a:endParaRPr lang="en-US"/>
        </a:p>
      </dgm:t>
    </dgm:pt>
    <dgm:pt modelId="{A9B36F2A-54D5-491D-99EA-F281393D2C56}" type="sibTrans" cxnId="{EC8F9CD0-EC5C-435E-A825-17BCA07E92B6}">
      <dgm:prSet/>
      <dgm:spPr/>
      <dgm:t>
        <a:bodyPr/>
        <a:lstStyle/>
        <a:p>
          <a:endParaRPr lang="en-US"/>
        </a:p>
      </dgm:t>
    </dgm:pt>
    <dgm:pt modelId="{5E79A10B-ADE0-4E35-83C4-478AA921C9D7}">
      <dgm:prSet/>
      <dgm:spPr/>
      <dgm:t>
        <a:bodyPr/>
        <a:lstStyle/>
        <a:p>
          <a:r>
            <a:rPr lang="en-US" dirty="0"/>
            <a:t>2044 Agents</a:t>
          </a:r>
        </a:p>
      </dgm:t>
    </dgm:pt>
    <dgm:pt modelId="{44D95A7C-9958-445B-9164-7C53210053F0}" type="parTrans" cxnId="{09FF9074-7D4F-4E5E-BC90-5AD81901BDA2}">
      <dgm:prSet/>
      <dgm:spPr/>
      <dgm:t>
        <a:bodyPr/>
        <a:lstStyle/>
        <a:p>
          <a:endParaRPr lang="en-US"/>
        </a:p>
      </dgm:t>
    </dgm:pt>
    <dgm:pt modelId="{B912988A-2AEA-49E7-A774-7B80FF1131DB}" type="sibTrans" cxnId="{09FF9074-7D4F-4E5E-BC90-5AD81901BDA2}">
      <dgm:prSet/>
      <dgm:spPr/>
      <dgm:t>
        <a:bodyPr/>
        <a:lstStyle/>
        <a:p>
          <a:endParaRPr lang="en-US"/>
        </a:p>
      </dgm:t>
    </dgm:pt>
    <dgm:pt modelId="{21338CFA-7C5B-455B-936F-2AF6B491C73F}">
      <dgm:prSet/>
      <dgm:spPr/>
      <dgm:t>
        <a:bodyPr/>
        <a:lstStyle/>
        <a:p>
          <a:endParaRPr lang="en-US" dirty="0"/>
        </a:p>
      </dgm:t>
    </dgm:pt>
    <dgm:pt modelId="{A8ADDD83-BB82-407C-A675-07870D478489}" type="parTrans" cxnId="{49A8629E-8C86-4ED9-9315-7F41091D0311}">
      <dgm:prSet/>
      <dgm:spPr/>
      <dgm:t>
        <a:bodyPr/>
        <a:lstStyle/>
        <a:p>
          <a:endParaRPr lang="en-US"/>
        </a:p>
      </dgm:t>
    </dgm:pt>
    <dgm:pt modelId="{5BAE7ECD-6575-406C-9C79-6E22C43B58B2}" type="sibTrans" cxnId="{49A8629E-8C86-4ED9-9315-7F41091D0311}">
      <dgm:prSet/>
      <dgm:spPr/>
      <dgm:t>
        <a:bodyPr/>
        <a:lstStyle/>
        <a:p>
          <a:endParaRPr lang="en-US"/>
        </a:p>
      </dgm:t>
    </dgm:pt>
    <dgm:pt modelId="{D870EAE6-C647-4285-89EA-47BF0B1B7D02}">
      <dgm:prSet phldrT="[Text]"/>
      <dgm:spPr/>
      <dgm:t>
        <a:bodyPr/>
        <a:lstStyle/>
        <a:p>
          <a:r>
            <a:rPr lang="en-US" dirty="0"/>
            <a:t>25% to train</a:t>
          </a:r>
        </a:p>
      </dgm:t>
    </dgm:pt>
    <dgm:pt modelId="{F83B4DA1-B14C-4ACB-9DA2-FF98B7130023}" type="parTrans" cxnId="{8A233C47-A3E1-4230-B301-1BDD7270E5AA}">
      <dgm:prSet/>
      <dgm:spPr/>
      <dgm:t>
        <a:bodyPr/>
        <a:lstStyle/>
        <a:p>
          <a:endParaRPr lang="en-US"/>
        </a:p>
      </dgm:t>
    </dgm:pt>
    <dgm:pt modelId="{5B223EC8-3265-4D64-8084-A6951CA2FC3D}" type="sibTrans" cxnId="{8A233C47-A3E1-4230-B301-1BDD7270E5AA}">
      <dgm:prSet/>
      <dgm:spPr/>
      <dgm:t>
        <a:bodyPr/>
        <a:lstStyle/>
        <a:p>
          <a:endParaRPr lang="en-US"/>
        </a:p>
      </dgm:t>
    </dgm:pt>
    <dgm:pt modelId="{9F03EE49-F23D-4218-99F9-E7D7F62AD8A0}">
      <dgm:prSet/>
      <dgm:spPr/>
      <dgm:t>
        <a:bodyPr/>
        <a:lstStyle/>
        <a:p>
          <a:r>
            <a:rPr lang="en-US" dirty="0"/>
            <a:t>2044 Agents with probability of fraud</a:t>
          </a:r>
        </a:p>
      </dgm:t>
    </dgm:pt>
    <dgm:pt modelId="{15B68FAF-167C-4472-AF7E-24D7457B2CA1}" type="parTrans" cxnId="{0D46ACF9-73FB-4EA0-BBE7-09E3C3CAC899}">
      <dgm:prSet/>
      <dgm:spPr/>
      <dgm:t>
        <a:bodyPr/>
        <a:lstStyle/>
        <a:p>
          <a:endParaRPr lang="en-US"/>
        </a:p>
      </dgm:t>
    </dgm:pt>
    <dgm:pt modelId="{82DF0F19-0289-4EAA-A4F3-044F26D4B663}" type="sibTrans" cxnId="{0D46ACF9-73FB-4EA0-BBE7-09E3C3CAC899}">
      <dgm:prSet/>
      <dgm:spPr/>
      <dgm:t>
        <a:bodyPr/>
        <a:lstStyle/>
        <a:p>
          <a:endParaRPr lang="en-US"/>
        </a:p>
      </dgm:t>
    </dgm:pt>
    <dgm:pt modelId="{3494F68A-F155-44C4-83E3-D4B92CF5BF56}">
      <dgm:prSet/>
      <dgm:spPr/>
      <dgm:t>
        <a:bodyPr/>
        <a:lstStyle/>
        <a:p>
          <a:endParaRPr lang="en-US" dirty="0"/>
        </a:p>
      </dgm:t>
    </dgm:pt>
    <dgm:pt modelId="{DE55355E-1F64-4CCB-B2A1-D28DADAE65A7}" type="parTrans" cxnId="{0948BB31-1609-47D6-950B-09CDB0C755F8}">
      <dgm:prSet/>
      <dgm:spPr/>
      <dgm:t>
        <a:bodyPr/>
        <a:lstStyle/>
        <a:p>
          <a:endParaRPr lang="en-US"/>
        </a:p>
      </dgm:t>
    </dgm:pt>
    <dgm:pt modelId="{ED624A95-26BC-431D-854C-D529E1C3B319}" type="sibTrans" cxnId="{0948BB31-1609-47D6-950B-09CDB0C755F8}">
      <dgm:prSet/>
      <dgm:spPr/>
      <dgm:t>
        <a:bodyPr/>
        <a:lstStyle/>
        <a:p>
          <a:endParaRPr lang="en-US"/>
        </a:p>
      </dgm:t>
    </dgm:pt>
    <dgm:pt modelId="{4CD06A2A-0500-4C33-A7F6-A93448BDB6EA}">
      <dgm:prSet/>
      <dgm:spPr/>
      <dgm:t>
        <a:bodyPr/>
        <a:lstStyle/>
        <a:p>
          <a:endParaRPr lang="en-US" dirty="0"/>
        </a:p>
      </dgm:t>
    </dgm:pt>
    <dgm:pt modelId="{BB560FAD-522F-4DBD-8C98-502B2F4416FA}" type="parTrans" cxnId="{E3E51C29-B4D3-4741-A667-3B89814EA196}">
      <dgm:prSet/>
      <dgm:spPr/>
      <dgm:t>
        <a:bodyPr/>
        <a:lstStyle/>
        <a:p>
          <a:endParaRPr lang="en-US"/>
        </a:p>
      </dgm:t>
    </dgm:pt>
    <dgm:pt modelId="{A51693DA-30D0-4724-9D88-7C2C6D2AA860}" type="sibTrans" cxnId="{E3E51C29-B4D3-4741-A667-3B89814EA196}">
      <dgm:prSet/>
      <dgm:spPr/>
      <dgm:t>
        <a:bodyPr/>
        <a:lstStyle/>
        <a:p>
          <a:endParaRPr lang="en-US"/>
        </a:p>
      </dgm:t>
    </dgm:pt>
    <dgm:pt modelId="{5895D1BD-FB3C-4967-9C03-6DB1A63AD2B8}">
      <dgm:prSet phldrT="[Text]"/>
      <dgm:spPr/>
      <dgm:t>
        <a:bodyPr/>
        <a:lstStyle/>
        <a:p>
          <a:r>
            <a:rPr lang="en-US" dirty="0"/>
            <a:t>Supervised </a:t>
          </a:r>
        </a:p>
      </dgm:t>
    </dgm:pt>
    <dgm:pt modelId="{8237F4A8-724B-4BBD-A47A-37E8D1D26EDA}" type="parTrans" cxnId="{105147F9-F03D-4B16-B3A7-1B87554555BD}">
      <dgm:prSet/>
      <dgm:spPr/>
      <dgm:t>
        <a:bodyPr/>
        <a:lstStyle/>
        <a:p>
          <a:endParaRPr lang="en-US"/>
        </a:p>
      </dgm:t>
    </dgm:pt>
    <dgm:pt modelId="{20406757-ACAE-4B51-9F9A-BBC6B2F9BC05}" type="sibTrans" cxnId="{105147F9-F03D-4B16-B3A7-1B87554555BD}">
      <dgm:prSet/>
      <dgm:spPr/>
      <dgm:t>
        <a:bodyPr/>
        <a:lstStyle/>
        <a:p>
          <a:endParaRPr lang="en-US"/>
        </a:p>
      </dgm:t>
    </dgm:pt>
    <dgm:pt modelId="{DEDEEAD6-56F3-46EB-AACB-D423C86C8197}">
      <dgm:prSet phldrT="[Text]"/>
      <dgm:spPr/>
      <dgm:t>
        <a:bodyPr/>
        <a:lstStyle/>
        <a:p>
          <a:r>
            <a:rPr lang="en-US" dirty="0"/>
            <a:t>464 Fraud</a:t>
          </a:r>
        </a:p>
      </dgm:t>
    </dgm:pt>
    <dgm:pt modelId="{DB173F67-EDB0-43FC-98CA-E2DF1403252F}" type="parTrans" cxnId="{E894A70D-5353-4218-BE1D-D1E85E2F71D1}">
      <dgm:prSet/>
      <dgm:spPr/>
      <dgm:t>
        <a:bodyPr/>
        <a:lstStyle/>
        <a:p>
          <a:endParaRPr lang="en-US"/>
        </a:p>
      </dgm:t>
    </dgm:pt>
    <dgm:pt modelId="{78B91F9D-207E-4A19-B3D9-EC740EE4D7A0}" type="sibTrans" cxnId="{E894A70D-5353-4218-BE1D-D1E85E2F71D1}">
      <dgm:prSet/>
      <dgm:spPr/>
      <dgm:t>
        <a:bodyPr/>
        <a:lstStyle/>
        <a:p>
          <a:endParaRPr lang="en-US"/>
        </a:p>
      </dgm:t>
    </dgm:pt>
    <dgm:pt modelId="{D281A26D-8723-4C69-A69D-9C1B199D992C}" type="pres">
      <dgm:prSet presAssocID="{5AAB5C62-0CA7-4B0B-9552-38C121BB9C79}" presName="linearFlow" presStyleCnt="0">
        <dgm:presLayoutVars>
          <dgm:dir/>
          <dgm:animLvl val="lvl"/>
          <dgm:resizeHandles val="exact"/>
        </dgm:presLayoutVars>
      </dgm:prSet>
      <dgm:spPr/>
    </dgm:pt>
    <dgm:pt modelId="{D5830BAE-5DB8-44EA-A3BD-3B3D3A3EEB1F}" type="pres">
      <dgm:prSet presAssocID="{20E77CF5-EB7E-4E92-A879-6459F7DE2CEC}" presName="composite" presStyleCnt="0"/>
      <dgm:spPr/>
    </dgm:pt>
    <dgm:pt modelId="{674B1152-69E5-4793-ABCA-B42A752990CD}" type="pres">
      <dgm:prSet presAssocID="{20E77CF5-EB7E-4E92-A879-6459F7DE2CEC}" presName="parTx" presStyleLbl="node1" presStyleIdx="0" presStyleCnt="5">
        <dgm:presLayoutVars>
          <dgm:chMax val="0"/>
          <dgm:chPref val="0"/>
          <dgm:bulletEnabled val="1"/>
        </dgm:presLayoutVars>
      </dgm:prSet>
      <dgm:spPr/>
    </dgm:pt>
    <dgm:pt modelId="{60554EE2-CAD9-41FF-8EEF-ADD9CD0F820D}" type="pres">
      <dgm:prSet presAssocID="{20E77CF5-EB7E-4E92-A879-6459F7DE2CEC}" presName="parSh" presStyleLbl="node1" presStyleIdx="0" presStyleCnt="5" custScaleX="109408" custScaleY="125717"/>
      <dgm:spPr/>
    </dgm:pt>
    <dgm:pt modelId="{FF0B3A5D-DF60-495E-AE46-426173DE1A3C}" type="pres">
      <dgm:prSet presAssocID="{20E77CF5-EB7E-4E92-A879-6459F7DE2CEC}" presName="desTx" presStyleLbl="fgAcc1" presStyleIdx="0" presStyleCnt="5" custScaleX="121673">
        <dgm:presLayoutVars>
          <dgm:bulletEnabled val="1"/>
        </dgm:presLayoutVars>
      </dgm:prSet>
      <dgm:spPr/>
    </dgm:pt>
    <dgm:pt modelId="{C18C9F50-FD4B-4B26-8490-6A62CD5749A4}" type="pres">
      <dgm:prSet presAssocID="{409B16DA-8A80-4F1E-8348-BC70399802E9}" presName="sibTrans" presStyleLbl="sibTrans2D1" presStyleIdx="0" presStyleCnt="4"/>
      <dgm:spPr/>
    </dgm:pt>
    <dgm:pt modelId="{974CFD73-FE2D-40AD-9305-5D72B36BEA4D}" type="pres">
      <dgm:prSet presAssocID="{409B16DA-8A80-4F1E-8348-BC70399802E9}" presName="connTx" presStyleLbl="sibTrans2D1" presStyleIdx="0" presStyleCnt="4"/>
      <dgm:spPr/>
    </dgm:pt>
    <dgm:pt modelId="{999AFCE3-5F19-4A66-A9FC-3ED6446A75F5}" type="pres">
      <dgm:prSet presAssocID="{14FF4074-A6AE-4330-A7A7-B2E7C76DEE9B}" presName="composite" presStyleCnt="0"/>
      <dgm:spPr/>
    </dgm:pt>
    <dgm:pt modelId="{9AD9CCA2-5AF3-4C4C-96FF-D8C9F841CDD9}" type="pres">
      <dgm:prSet presAssocID="{14FF4074-A6AE-4330-A7A7-B2E7C76DEE9B}" presName="parTx" presStyleLbl="node1" presStyleIdx="0" presStyleCnt="5">
        <dgm:presLayoutVars>
          <dgm:chMax val="0"/>
          <dgm:chPref val="0"/>
          <dgm:bulletEnabled val="1"/>
        </dgm:presLayoutVars>
      </dgm:prSet>
      <dgm:spPr/>
    </dgm:pt>
    <dgm:pt modelId="{653D4469-B91A-4EF3-9735-F9AA7DAE4230}" type="pres">
      <dgm:prSet presAssocID="{14FF4074-A6AE-4330-A7A7-B2E7C76DEE9B}" presName="parSh" presStyleLbl="node1" presStyleIdx="1" presStyleCnt="5" custScaleX="109408" custScaleY="125717"/>
      <dgm:spPr/>
    </dgm:pt>
    <dgm:pt modelId="{BA231BF0-AD57-4204-A867-B7B78D2B241A}" type="pres">
      <dgm:prSet presAssocID="{14FF4074-A6AE-4330-A7A7-B2E7C76DEE9B}" presName="desTx" presStyleLbl="fgAcc1" presStyleIdx="1" presStyleCnt="5" custScaleX="121673">
        <dgm:presLayoutVars>
          <dgm:bulletEnabled val="1"/>
        </dgm:presLayoutVars>
      </dgm:prSet>
      <dgm:spPr/>
    </dgm:pt>
    <dgm:pt modelId="{AA29C9A0-0FBA-4DCE-A1D3-75C119F85803}" type="pres">
      <dgm:prSet presAssocID="{727223EE-0475-476D-AC32-995E53559F7B}" presName="sibTrans" presStyleLbl="sibTrans2D1" presStyleIdx="1" presStyleCnt="4"/>
      <dgm:spPr/>
    </dgm:pt>
    <dgm:pt modelId="{97B0BBC2-A179-47CD-A506-1A1E1370F8AD}" type="pres">
      <dgm:prSet presAssocID="{727223EE-0475-476D-AC32-995E53559F7B}" presName="connTx" presStyleLbl="sibTrans2D1" presStyleIdx="1" presStyleCnt="4"/>
      <dgm:spPr/>
    </dgm:pt>
    <dgm:pt modelId="{5EFB12DA-39CA-447D-9868-C6AD912013AE}" type="pres">
      <dgm:prSet presAssocID="{A7603625-0A32-404A-87E1-71F271BAE5EF}" presName="composite" presStyleCnt="0"/>
      <dgm:spPr/>
    </dgm:pt>
    <dgm:pt modelId="{34475067-EDD5-44C3-ABA9-133013819E93}" type="pres">
      <dgm:prSet presAssocID="{A7603625-0A32-404A-87E1-71F271BAE5EF}" presName="parTx" presStyleLbl="node1" presStyleIdx="1" presStyleCnt="5">
        <dgm:presLayoutVars>
          <dgm:chMax val="0"/>
          <dgm:chPref val="0"/>
          <dgm:bulletEnabled val="1"/>
        </dgm:presLayoutVars>
      </dgm:prSet>
      <dgm:spPr/>
    </dgm:pt>
    <dgm:pt modelId="{B17901B4-2E8A-43E5-9A7D-4142991B3590}" type="pres">
      <dgm:prSet presAssocID="{A7603625-0A32-404A-87E1-71F271BAE5EF}" presName="parSh" presStyleLbl="node1" presStyleIdx="2" presStyleCnt="5" custScaleX="109408" custScaleY="125717"/>
      <dgm:spPr/>
    </dgm:pt>
    <dgm:pt modelId="{4F9D097B-36B8-468C-9C02-2CCC6DFC284F}" type="pres">
      <dgm:prSet presAssocID="{A7603625-0A32-404A-87E1-71F271BAE5EF}" presName="desTx" presStyleLbl="fgAcc1" presStyleIdx="2" presStyleCnt="5" custScaleX="121673">
        <dgm:presLayoutVars>
          <dgm:bulletEnabled val="1"/>
        </dgm:presLayoutVars>
      </dgm:prSet>
      <dgm:spPr/>
    </dgm:pt>
    <dgm:pt modelId="{36CFBEB7-B624-468C-8C67-1D1D5A5D7EF4}" type="pres">
      <dgm:prSet presAssocID="{53870D75-BABA-43F9-A310-40312919021A}" presName="sibTrans" presStyleLbl="sibTrans2D1" presStyleIdx="2" presStyleCnt="4"/>
      <dgm:spPr/>
    </dgm:pt>
    <dgm:pt modelId="{EB69D535-AB45-43B7-AFC0-44DC7C22F3A9}" type="pres">
      <dgm:prSet presAssocID="{53870D75-BABA-43F9-A310-40312919021A}" presName="connTx" presStyleLbl="sibTrans2D1" presStyleIdx="2" presStyleCnt="4"/>
      <dgm:spPr/>
    </dgm:pt>
    <dgm:pt modelId="{EA6EA058-CCAF-4595-B14B-8D664F13548C}" type="pres">
      <dgm:prSet presAssocID="{00F3DEB9-4A06-4F80-BA08-2A6239FBD2EE}" presName="composite" presStyleCnt="0"/>
      <dgm:spPr/>
    </dgm:pt>
    <dgm:pt modelId="{8C959CF1-612F-4671-881F-2B08CEE4CA8B}" type="pres">
      <dgm:prSet presAssocID="{00F3DEB9-4A06-4F80-BA08-2A6239FBD2EE}" presName="parTx" presStyleLbl="node1" presStyleIdx="2" presStyleCnt="5">
        <dgm:presLayoutVars>
          <dgm:chMax val="0"/>
          <dgm:chPref val="0"/>
          <dgm:bulletEnabled val="1"/>
        </dgm:presLayoutVars>
      </dgm:prSet>
      <dgm:spPr/>
    </dgm:pt>
    <dgm:pt modelId="{E34A6F66-950A-422D-A3EB-F2707AC1DDEB}" type="pres">
      <dgm:prSet presAssocID="{00F3DEB9-4A06-4F80-BA08-2A6239FBD2EE}" presName="parSh" presStyleLbl="node1" presStyleIdx="3" presStyleCnt="5" custScaleX="109408" custScaleY="125717"/>
      <dgm:spPr/>
    </dgm:pt>
    <dgm:pt modelId="{E590339A-C059-4B0B-B737-640EFEE6C56E}" type="pres">
      <dgm:prSet presAssocID="{00F3DEB9-4A06-4F80-BA08-2A6239FBD2EE}" presName="desTx" presStyleLbl="fgAcc1" presStyleIdx="3" presStyleCnt="5" custScaleX="121673">
        <dgm:presLayoutVars>
          <dgm:bulletEnabled val="1"/>
        </dgm:presLayoutVars>
      </dgm:prSet>
      <dgm:spPr/>
    </dgm:pt>
    <dgm:pt modelId="{7B129C87-1160-48BC-9CCF-CAFF633581AC}" type="pres">
      <dgm:prSet presAssocID="{7DF026C2-8781-4290-B2CA-08EB2628220C}" presName="sibTrans" presStyleLbl="sibTrans2D1" presStyleIdx="3" presStyleCnt="4"/>
      <dgm:spPr/>
    </dgm:pt>
    <dgm:pt modelId="{687ABE92-5C92-4691-A093-100B1C0A7048}" type="pres">
      <dgm:prSet presAssocID="{7DF026C2-8781-4290-B2CA-08EB2628220C}" presName="connTx" presStyleLbl="sibTrans2D1" presStyleIdx="3" presStyleCnt="4"/>
      <dgm:spPr/>
    </dgm:pt>
    <dgm:pt modelId="{A21BBDD1-113D-43D4-BDC0-119EAA38CA21}" type="pres">
      <dgm:prSet presAssocID="{49232B0B-C642-451A-868F-7EB7D93E2C3F}" presName="composite" presStyleCnt="0"/>
      <dgm:spPr/>
    </dgm:pt>
    <dgm:pt modelId="{1867C0A0-2D4B-49D7-900F-7B5DA97DD1E2}" type="pres">
      <dgm:prSet presAssocID="{49232B0B-C642-451A-868F-7EB7D93E2C3F}" presName="parTx" presStyleLbl="node1" presStyleIdx="3" presStyleCnt="5">
        <dgm:presLayoutVars>
          <dgm:chMax val="0"/>
          <dgm:chPref val="0"/>
          <dgm:bulletEnabled val="1"/>
        </dgm:presLayoutVars>
      </dgm:prSet>
      <dgm:spPr/>
    </dgm:pt>
    <dgm:pt modelId="{2ACA71EC-3820-4830-83B2-26345D09651E}" type="pres">
      <dgm:prSet presAssocID="{49232B0B-C642-451A-868F-7EB7D93E2C3F}" presName="parSh" presStyleLbl="node1" presStyleIdx="4" presStyleCnt="5" custScaleX="109408" custScaleY="125717"/>
      <dgm:spPr/>
    </dgm:pt>
    <dgm:pt modelId="{C2220D25-B6C7-4F71-9691-5E16FB83295F}" type="pres">
      <dgm:prSet presAssocID="{49232B0B-C642-451A-868F-7EB7D93E2C3F}" presName="desTx" presStyleLbl="fgAcc1" presStyleIdx="4" presStyleCnt="5" custScaleX="121673">
        <dgm:presLayoutVars>
          <dgm:bulletEnabled val="1"/>
        </dgm:presLayoutVars>
      </dgm:prSet>
      <dgm:spPr/>
    </dgm:pt>
  </dgm:ptLst>
  <dgm:cxnLst>
    <dgm:cxn modelId="{A9469601-B634-49CC-8895-D06142FA9106}" srcId="{5AAB5C62-0CA7-4B0B-9552-38C121BB9C79}" destId="{14FF4074-A6AE-4330-A7A7-B2E7C76DEE9B}" srcOrd="1" destOrd="0" parTransId="{FDCCF5CE-72C8-44E4-B1D4-F3A7789C7377}" sibTransId="{727223EE-0475-476D-AC32-995E53559F7B}"/>
    <dgm:cxn modelId="{30ABE501-52F8-47ED-91D2-DC072AE472F3}" type="presOf" srcId="{409B16DA-8A80-4F1E-8348-BC70399802E9}" destId="{974CFD73-FE2D-40AD-9305-5D72B36BEA4D}" srcOrd="1" destOrd="0" presId="urn:microsoft.com/office/officeart/2005/8/layout/process3"/>
    <dgm:cxn modelId="{E6C2D207-1C6B-47AB-8689-95FCA2F863D1}" type="presOf" srcId="{5AAB5C62-0CA7-4B0B-9552-38C121BB9C79}" destId="{D281A26D-8723-4C69-A69D-9C1B199D992C}" srcOrd="0" destOrd="0" presId="urn:microsoft.com/office/officeart/2005/8/layout/process3"/>
    <dgm:cxn modelId="{55C70B0A-A968-4DB1-870D-3F8BE31D1D43}" type="presOf" srcId="{00F3DEB9-4A06-4F80-BA08-2A6239FBD2EE}" destId="{8C959CF1-612F-4671-881F-2B08CEE4CA8B}" srcOrd="0" destOrd="0" presId="urn:microsoft.com/office/officeart/2005/8/layout/process3"/>
    <dgm:cxn modelId="{E894A70D-5353-4218-BE1D-D1E85E2F71D1}" srcId="{20E77CF5-EB7E-4E92-A879-6459F7DE2CEC}" destId="{DEDEEAD6-56F3-46EB-AACB-D423C86C8197}" srcOrd="1" destOrd="0" parTransId="{DB173F67-EDB0-43FC-98CA-E2DF1403252F}" sibTransId="{78B91F9D-207E-4A19-B3D9-EC740EE4D7A0}"/>
    <dgm:cxn modelId="{945B8127-D943-4D9C-8497-3EC265E2F5D5}" type="presOf" srcId="{E8FDFCB2-1CD2-4C55-8E87-AC9E627CC9DB}" destId="{4F9D097B-36B8-468C-9C02-2CCC6DFC284F}" srcOrd="0" destOrd="0" presId="urn:microsoft.com/office/officeart/2005/8/layout/process3"/>
    <dgm:cxn modelId="{E3E51C29-B4D3-4741-A667-3B89814EA196}" srcId="{49232B0B-C642-451A-868F-7EB7D93E2C3F}" destId="{4CD06A2A-0500-4C33-A7F6-A93448BDB6EA}" srcOrd="1" destOrd="0" parTransId="{BB560FAD-522F-4DBD-8C98-502B2F4416FA}" sibTransId="{A51693DA-30D0-4724-9D88-7C2C6D2AA860}"/>
    <dgm:cxn modelId="{6FCD0C2C-2B6C-43AE-898F-F9840571D34B}" type="presOf" srcId="{53870D75-BABA-43F9-A310-40312919021A}" destId="{EB69D535-AB45-43B7-AFC0-44DC7C22F3A9}" srcOrd="1" destOrd="0" presId="urn:microsoft.com/office/officeart/2005/8/layout/process3"/>
    <dgm:cxn modelId="{0948BB31-1609-47D6-950B-09CDB0C755F8}" srcId="{49232B0B-C642-451A-868F-7EB7D93E2C3F}" destId="{3494F68A-F155-44C4-83E3-D4B92CF5BF56}" srcOrd="2" destOrd="0" parTransId="{DE55355E-1F64-4CCB-B2A1-D28DADAE65A7}" sibTransId="{ED624A95-26BC-431D-854C-D529E1C3B319}"/>
    <dgm:cxn modelId="{50E4D731-A5CC-487F-B18A-CDF431E682D6}" type="presOf" srcId="{727223EE-0475-476D-AC32-995E53559F7B}" destId="{97B0BBC2-A179-47CD-A506-1A1E1370F8AD}" srcOrd="1" destOrd="0" presId="urn:microsoft.com/office/officeart/2005/8/layout/process3"/>
    <dgm:cxn modelId="{F7715038-30C6-40D9-BC3F-F0FECED9F761}" type="presOf" srcId="{DEDEEAD6-56F3-46EB-AACB-D423C86C8197}" destId="{FF0B3A5D-DF60-495E-AE46-426173DE1A3C}" srcOrd="0" destOrd="1" presId="urn:microsoft.com/office/officeart/2005/8/layout/process3"/>
    <dgm:cxn modelId="{764C7738-6307-4DC8-9155-9F94AA4F9404}" type="presOf" srcId="{5E79A10B-ADE0-4E35-83C4-478AA921C9D7}" destId="{E590339A-C059-4B0B-B737-640EFEE6C56E}" srcOrd="0" destOrd="0" presId="urn:microsoft.com/office/officeart/2005/8/layout/process3"/>
    <dgm:cxn modelId="{0C1E105C-026A-47EB-9E44-9255F818A234}" srcId="{5AAB5C62-0CA7-4B0B-9552-38C121BB9C79}" destId="{00F3DEB9-4A06-4F80-BA08-2A6239FBD2EE}" srcOrd="3" destOrd="0" parTransId="{D9CA14B2-F40F-4401-9D50-3D3083E16560}" sibTransId="{7DF026C2-8781-4290-B2CA-08EB2628220C}"/>
    <dgm:cxn modelId="{ACFE355E-C8AF-401D-BC8A-A5CCB4DE7B70}" type="presOf" srcId="{7DF026C2-8781-4290-B2CA-08EB2628220C}" destId="{7B129C87-1160-48BC-9CCF-CAFF633581AC}" srcOrd="0" destOrd="0" presId="urn:microsoft.com/office/officeart/2005/8/layout/process3"/>
    <dgm:cxn modelId="{7361FF41-A0A1-49D4-AE46-A08F0D6ED6BB}" type="presOf" srcId="{96F7C27D-2D52-483E-B0B4-C71BDE572966}" destId="{BA231BF0-AD57-4204-A867-B7B78D2B241A}" srcOrd="0" destOrd="0" presId="urn:microsoft.com/office/officeart/2005/8/layout/process3"/>
    <dgm:cxn modelId="{8A233C47-A3E1-4230-B301-1BDD7270E5AA}" srcId="{14FF4074-A6AE-4330-A7A7-B2E7C76DEE9B}" destId="{D870EAE6-C647-4285-89EA-47BF0B1B7D02}" srcOrd="1" destOrd="0" parTransId="{F83B4DA1-B14C-4ACB-9DA2-FF98B7130023}" sibTransId="{5B223EC8-3265-4D64-8084-A6951CA2FC3D}"/>
    <dgm:cxn modelId="{076EAF68-A348-40B8-BB27-571F31E3187F}" type="presOf" srcId="{409B16DA-8A80-4F1E-8348-BC70399802E9}" destId="{C18C9F50-FD4B-4B26-8490-6A62CD5749A4}" srcOrd="0" destOrd="0" presId="urn:microsoft.com/office/officeart/2005/8/layout/process3"/>
    <dgm:cxn modelId="{9CC5E96F-6784-4E32-9ADA-7E8D039BD608}" type="presOf" srcId="{49232B0B-C642-451A-868F-7EB7D93E2C3F}" destId="{1867C0A0-2D4B-49D7-900F-7B5DA97DD1E2}" srcOrd="0" destOrd="0" presId="urn:microsoft.com/office/officeart/2005/8/layout/process3"/>
    <dgm:cxn modelId="{D3737352-29BF-43AC-8730-C517FA3AE337}" type="presOf" srcId="{49232B0B-C642-451A-868F-7EB7D93E2C3F}" destId="{2ACA71EC-3820-4830-83B2-26345D09651E}" srcOrd="1" destOrd="0" presId="urn:microsoft.com/office/officeart/2005/8/layout/process3"/>
    <dgm:cxn modelId="{A3A45F74-F44B-4202-9401-A756A6074846}" type="presOf" srcId="{A7603625-0A32-404A-87E1-71F271BAE5EF}" destId="{B17901B4-2E8A-43E5-9A7D-4142991B3590}" srcOrd="1" destOrd="0" presId="urn:microsoft.com/office/officeart/2005/8/layout/process3"/>
    <dgm:cxn modelId="{09FF9074-7D4F-4E5E-BC90-5AD81901BDA2}" srcId="{00F3DEB9-4A06-4F80-BA08-2A6239FBD2EE}" destId="{5E79A10B-ADE0-4E35-83C4-478AA921C9D7}" srcOrd="0" destOrd="0" parTransId="{44D95A7C-9958-445B-9164-7C53210053F0}" sibTransId="{B912988A-2AEA-49E7-A774-7B80FF1131DB}"/>
    <dgm:cxn modelId="{75A22475-72E9-44E9-87DF-A9CCFB4039C2}" type="presOf" srcId="{3494F68A-F155-44C4-83E3-D4B92CF5BF56}" destId="{C2220D25-B6C7-4F71-9691-5E16FB83295F}" srcOrd="0" destOrd="2" presId="urn:microsoft.com/office/officeart/2005/8/layout/process3"/>
    <dgm:cxn modelId="{09C83C57-589E-4A50-BE45-B6E64A805736}" type="presOf" srcId="{20E77CF5-EB7E-4E92-A879-6459F7DE2CEC}" destId="{60554EE2-CAD9-41FF-8EEF-ADD9CD0F820D}" srcOrd="1" destOrd="0" presId="urn:microsoft.com/office/officeart/2005/8/layout/process3"/>
    <dgm:cxn modelId="{A4571F78-381A-42BF-8F45-3175AD690F4E}" srcId="{5AAB5C62-0CA7-4B0B-9552-38C121BB9C79}" destId="{A7603625-0A32-404A-87E1-71F271BAE5EF}" srcOrd="2" destOrd="0" parTransId="{895CF98A-176F-4AE1-9B16-82611FABB8E4}" sibTransId="{53870D75-BABA-43F9-A310-40312919021A}"/>
    <dgm:cxn modelId="{B4D6C558-A8C4-461B-9062-BFA03A2D7437}" type="presOf" srcId="{00F3DEB9-4A06-4F80-BA08-2A6239FBD2EE}" destId="{E34A6F66-950A-422D-A3EB-F2707AC1DDEB}" srcOrd="1" destOrd="0" presId="urn:microsoft.com/office/officeart/2005/8/layout/process3"/>
    <dgm:cxn modelId="{F1000185-688C-4CB6-951A-FE00995A0694}" type="presOf" srcId="{4CD06A2A-0500-4C33-A7F6-A93448BDB6EA}" destId="{C2220D25-B6C7-4F71-9691-5E16FB83295F}" srcOrd="0" destOrd="1" presId="urn:microsoft.com/office/officeart/2005/8/layout/process3"/>
    <dgm:cxn modelId="{544D6D8D-A12A-4158-A743-05806FE29230}" type="presOf" srcId="{7DF026C2-8781-4290-B2CA-08EB2628220C}" destId="{687ABE92-5C92-4691-A093-100B1C0A7048}" srcOrd="1" destOrd="0" presId="urn:microsoft.com/office/officeart/2005/8/layout/process3"/>
    <dgm:cxn modelId="{49A8629E-8C86-4ED9-9315-7F41091D0311}" srcId="{00F3DEB9-4A06-4F80-BA08-2A6239FBD2EE}" destId="{21338CFA-7C5B-455B-936F-2AF6B491C73F}" srcOrd="1" destOrd="0" parTransId="{A8ADDD83-BB82-407C-A675-07870D478489}" sibTransId="{5BAE7ECD-6575-406C-9C79-6E22C43B58B2}"/>
    <dgm:cxn modelId="{24AA96A5-720C-4336-B34B-549C4C7FF4DC}" type="presOf" srcId="{A7603625-0A32-404A-87E1-71F271BAE5EF}" destId="{34475067-EDD5-44C3-ABA9-133013819E93}" srcOrd="0" destOrd="0" presId="urn:microsoft.com/office/officeart/2005/8/layout/process3"/>
    <dgm:cxn modelId="{3F9699A8-F6CB-4053-A598-8D104C5E0FF0}" type="presOf" srcId="{21338CFA-7C5B-455B-936F-2AF6B491C73F}" destId="{E590339A-C059-4B0B-B737-640EFEE6C56E}" srcOrd="0" destOrd="1" presId="urn:microsoft.com/office/officeart/2005/8/layout/process3"/>
    <dgm:cxn modelId="{ADE61DAA-D6AB-459C-B7D7-E6BA58A15A0D}" type="presOf" srcId="{20E77CF5-EB7E-4E92-A879-6459F7DE2CEC}" destId="{674B1152-69E5-4793-ABCA-B42A752990CD}" srcOrd="0" destOrd="0" presId="urn:microsoft.com/office/officeart/2005/8/layout/process3"/>
    <dgm:cxn modelId="{6D611AB8-2B66-4E29-B621-B2FD068B5546}" type="presOf" srcId="{9F03EE49-F23D-4218-99F9-E7D7F62AD8A0}" destId="{C2220D25-B6C7-4F71-9691-5E16FB83295F}" srcOrd="0" destOrd="0" presId="urn:microsoft.com/office/officeart/2005/8/layout/process3"/>
    <dgm:cxn modelId="{5262C6C8-B6C2-4B38-AE01-A1C6A41340D4}" srcId="{20E77CF5-EB7E-4E92-A879-6459F7DE2CEC}" destId="{E06A4052-1C15-4E18-A2EA-1FA43FAAB5DF}" srcOrd="0" destOrd="0" parTransId="{7FFE8243-6EF4-4AAE-A9FC-1801336F5C7A}" sibTransId="{B5007DC4-1191-46B6-8E52-C963DB9FDB57}"/>
    <dgm:cxn modelId="{75893BCB-400B-4CDB-9EE2-EDC434A1FE64}" type="presOf" srcId="{D870EAE6-C647-4285-89EA-47BF0B1B7D02}" destId="{BA231BF0-AD57-4204-A867-B7B78D2B241A}" srcOrd="0" destOrd="1" presId="urn:microsoft.com/office/officeart/2005/8/layout/process3"/>
    <dgm:cxn modelId="{4FA328CD-B531-4FC3-98AB-BBB6B4335CA6}" type="presOf" srcId="{53870D75-BABA-43F9-A310-40312919021A}" destId="{36CFBEB7-B624-468C-8C67-1D1D5A5D7EF4}" srcOrd="0" destOrd="0" presId="urn:microsoft.com/office/officeart/2005/8/layout/process3"/>
    <dgm:cxn modelId="{8B3C25CE-524E-4FC8-9CF4-00EB1CFAE605}" type="presOf" srcId="{727223EE-0475-476D-AC32-995E53559F7B}" destId="{AA29C9A0-0FBA-4DCE-A1D3-75C119F85803}" srcOrd="0" destOrd="0" presId="urn:microsoft.com/office/officeart/2005/8/layout/process3"/>
    <dgm:cxn modelId="{EC8F9CD0-EC5C-435E-A825-17BCA07E92B6}" srcId="{5AAB5C62-0CA7-4B0B-9552-38C121BB9C79}" destId="{49232B0B-C642-451A-868F-7EB7D93E2C3F}" srcOrd="4" destOrd="0" parTransId="{17974056-6713-443D-AA6D-5B84F167DFF3}" sibTransId="{A9B36F2A-54D5-491D-99EA-F281393D2C56}"/>
    <dgm:cxn modelId="{30BEDED5-7676-4CF4-B622-A4F5A6523915}" type="presOf" srcId="{14FF4074-A6AE-4330-A7A7-B2E7C76DEE9B}" destId="{9AD9CCA2-5AF3-4C4C-96FF-D8C9F841CDD9}" srcOrd="0" destOrd="0" presId="urn:microsoft.com/office/officeart/2005/8/layout/process3"/>
    <dgm:cxn modelId="{F1F404DF-9070-4C62-80CE-9C3D4CD5003B}" srcId="{14FF4074-A6AE-4330-A7A7-B2E7C76DEE9B}" destId="{96F7C27D-2D52-483E-B0B4-C71BDE572966}" srcOrd="0" destOrd="0" parTransId="{719C1D1B-825C-4E31-AEE7-B30214E50E1D}" sibTransId="{98C90F3D-7927-416B-9A83-A2A5FFEC27A9}"/>
    <dgm:cxn modelId="{E75344E0-5E88-4995-9B40-A2FBDA6564EB}" srcId="{5AAB5C62-0CA7-4B0B-9552-38C121BB9C79}" destId="{20E77CF5-EB7E-4E92-A879-6459F7DE2CEC}" srcOrd="0" destOrd="0" parTransId="{8FB11662-4FC4-420A-8F81-63DEDE4579B5}" sibTransId="{409B16DA-8A80-4F1E-8348-BC70399802E9}"/>
    <dgm:cxn modelId="{FAC3F7E1-3F5B-4BBD-85A7-FC0D06714311}" type="presOf" srcId="{14FF4074-A6AE-4330-A7A7-B2E7C76DEE9B}" destId="{653D4469-B91A-4EF3-9735-F9AA7DAE4230}" srcOrd="1" destOrd="0" presId="urn:microsoft.com/office/officeart/2005/8/layout/process3"/>
    <dgm:cxn modelId="{54975DE6-2B91-44CA-BCC7-260FE12C2704}" type="presOf" srcId="{5895D1BD-FB3C-4967-9C03-6DB1A63AD2B8}" destId="{4F9D097B-36B8-468C-9C02-2CCC6DFC284F}" srcOrd="0" destOrd="1" presId="urn:microsoft.com/office/officeart/2005/8/layout/process3"/>
    <dgm:cxn modelId="{000A11F6-D330-4D77-A09A-549547CA4CB1}" type="presOf" srcId="{E06A4052-1C15-4E18-A2EA-1FA43FAAB5DF}" destId="{FF0B3A5D-DF60-495E-AE46-426173DE1A3C}" srcOrd="0" destOrd="0" presId="urn:microsoft.com/office/officeart/2005/8/layout/process3"/>
    <dgm:cxn modelId="{105147F9-F03D-4B16-B3A7-1B87554555BD}" srcId="{A7603625-0A32-404A-87E1-71F271BAE5EF}" destId="{5895D1BD-FB3C-4967-9C03-6DB1A63AD2B8}" srcOrd="1" destOrd="0" parTransId="{8237F4A8-724B-4BBD-A47A-37E8D1D26EDA}" sibTransId="{20406757-ACAE-4B51-9F9A-BBC6B2F9BC05}"/>
    <dgm:cxn modelId="{0D46ACF9-73FB-4EA0-BBE7-09E3C3CAC899}" srcId="{49232B0B-C642-451A-868F-7EB7D93E2C3F}" destId="{9F03EE49-F23D-4218-99F9-E7D7F62AD8A0}" srcOrd="0" destOrd="0" parTransId="{15B68FAF-167C-4472-AF7E-24D7457B2CA1}" sibTransId="{82DF0F19-0289-4EAA-A4F3-044F26D4B663}"/>
    <dgm:cxn modelId="{7A962BFD-70B8-46DF-A3B0-6474DEC5591A}" srcId="{A7603625-0A32-404A-87E1-71F271BAE5EF}" destId="{E8FDFCB2-1CD2-4C55-8E87-AC9E627CC9DB}" srcOrd="0" destOrd="0" parTransId="{BC449387-01C9-4F70-B7C1-3F20D006F6BA}" sibTransId="{E271D6C8-E8D1-437D-9450-404234F33C57}"/>
    <dgm:cxn modelId="{BBEE5DF7-439E-4A3F-B31B-CA58C192592F}" type="presParOf" srcId="{D281A26D-8723-4C69-A69D-9C1B199D992C}" destId="{D5830BAE-5DB8-44EA-A3BD-3B3D3A3EEB1F}" srcOrd="0" destOrd="0" presId="urn:microsoft.com/office/officeart/2005/8/layout/process3"/>
    <dgm:cxn modelId="{D0DDB316-A103-496D-BB64-F74FD9D45436}" type="presParOf" srcId="{D5830BAE-5DB8-44EA-A3BD-3B3D3A3EEB1F}" destId="{674B1152-69E5-4793-ABCA-B42A752990CD}" srcOrd="0" destOrd="0" presId="urn:microsoft.com/office/officeart/2005/8/layout/process3"/>
    <dgm:cxn modelId="{BF407578-C27E-437E-8B46-8512B1F53FE9}" type="presParOf" srcId="{D5830BAE-5DB8-44EA-A3BD-3B3D3A3EEB1F}" destId="{60554EE2-CAD9-41FF-8EEF-ADD9CD0F820D}" srcOrd="1" destOrd="0" presId="urn:microsoft.com/office/officeart/2005/8/layout/process3"/>
    <dgm:cxn modelId="{3B7D2BE7-C731-4A95-BAD8-D1C14204AB58}" type="presParOf" srcId="{D5830BAE-5DB8-44EA-A3BD-3B3D3A3EEB1F}" destId="{FF0B3A5D-DF60-495E-AE46-426173DE1A3C}" srcOrd="2" destOrd="0" presId="urn:microsoft.com/office/officeart/2005/8/layout/process3"/>
    <dgm:cxn modelId="{8932CC86-F903-4709-8E07-9D7E6370BCFC}" type="presParOf" srcId="{D281A26D-8723-4C69-A69D-9C1B199D992C}" destId="{C18C9F50-FD4B-4B26-8490-6A62CD5749A4}" srcOrd="1" destOrd="0" presId="urn:microsoft.com/office/officeart/2005/8/layout/process3"/>
    <dgm:cxn modelId="{D449BDAB-DDE0-4C49-92A2-4419A1C295F4}" type="presParOf" srcId="{C18C9F50-FD4B-4B26-8490-6A62CD5749A4}" destId="{974CFD73-FE2D-40AD-9305-5D72B36BEA4D}" srcOrd="0" destOrd="0" presId="urn:microsoft.com/office/officeart/2005/8/layout/process3"/>
    <dgm:cxn modelId="{8B443D22-D1B4-4EF1-955E-BE5D4CFAC177}" type="presParOf" srcId="{D281A26D-8723-4C69-A69D-9C1B199D992C}" destId="{999AFCE3-5F19-4A66-A9FC-3ED6446A75F5}" srcOrd="2" destOrd="0" presId="urn:microsoft.com/office/officeart/2005/8/layout/process3"/>
    <dgm:cxn modelId="{503F0B2D-A63C-4187-9A88-993B6D8509F8}" type="presParOf" srcId="{999AFCE3-5F19-4A66-A9FC-3ED6446A75F5}" destId="{9AD9CCA2-5AF3-4C4C-96FF-D8C9F841CDD9}" srcOrd="0" destOrd="0" presId="urn:microsoft.com/office/officeart/2005/8/layout/process3"/>
    <dgm:cxn modelId="{A468013D-8099-4203-B050-6823E2D48193}" type="presParOf" srcId="{999AFCE3-5F19-4A66-A9FC-3ED6446A75F5}" destId="{653D4469-B91A-4EF3-9735-F9AA7DAE4230}" srcOrd="1" destOrd="0" presId="urn:microsoft.com/office/officeart/2005/8/layout/process3"/>
    <dgm:cxn modelId="{F9E5707E-71F3-4304-9633-7D8AAFAF4EBF}" type="presParOf" srcId="{999AFCE3-5F19-4A66-A9FC-3ED6446A75F5}" destId="{BA231BF0-AD57-4204-A867-B7B78D2B241A}" srcOrd="2" destOrd="0" presId="urn:microsoft.com/office/officeart/2005/8/layout/process3"/>
    <dgm:cxn modelId="{008F52D1-D7C3-4FE5-802B-739011E8C284}" type="presParOf" srcId="{D281A26D-8723-4C69-A69D-9C1B199D992C}" destId="{AA29C9A0-0FBA-4DCE-A1D3-75C119F85803}" srcOrd="3" destOrd="0" presId="urn:microsoft.com/office/officeart/2005/8/layout/process3"/>
    <dgm:cxn modelId="{8E5C5858-5B69-4ABD-BAA1-FBDF85A7D2A0}" type="presParOf" srcId="{AA29C9A0-0FBA-4DCE-A1D3-75C119F85803}" destId="{97B0BBC2-A179-47CD-A506-1A1E1370F8AD}" srcOrd="0" destOrd="0" presId="urn:microsoft.com/office/officeart/2005/8/layout/process3"/>
    <dgm:cxn modelId="{617BA7E9-CDC2-4F3A-B1BE-345264FD847A}" type="presParOf" srcId="{D281A26D-8723-4C69-A69D-9C1B199D992C}" destId="{5EFB12DA-39CA-447D-9868-C6AD912013AE}" srcOrd="4" destOrd="0" presId="urn:microsoft.com/office/officeart/2005/8/layout/process3"/>
    <dgm:cxn modelId="{860FC980-82BB-4A1F-8771-F17160EC958B}" type="presParOf" srcId="{5EFB12DA-39CA-447D-9868-C6AD912013AE}" destId="{34475067-EDD5-44C3-ABA9-133013819E93}" srcOrd="0" destOrd="0" presId="urn:microsoft.com/office/officeart/2005/8/layout/process3"/>
    <dgm:cxn modelId="{C2B6BBFF-D5D2-4212-9D02-042B39E3DD3D}" type="presParOf" srcId="{5EFB12DA-39CA-447D-9868-C6AD912013AE}" destId="{B17901B4-2E8A-43E5-9A7D-4142991B3590}" srcOrd="1" destOrd="0" presId="urn:microsoft.com/office/officeart/2005/8/layout/process3"/>
    <dgm:cxn modelId="{FF207749-D5AE-431A-9C89-0ABF3080EB50}" type="presParOf" srcId="{5EFB12DA-39CA-447D-9868-C6AD912013AE}" destId="{4F9D097B-36B8-468C-9C02-2CCC6DFC284F}" srcOrd="2" destOrd="0" presId="urn:microsoft.com/office/officeart/2005/8/layout/process3"/>
    <dgm:cxn modelId="{3B0B3A6E-0D74-43DE-9BAC-2E23CB80670A}" type="presParOf" srcId="{D281A26D-8723-4C69-A69D-9C1B199D992C}" destId="{36CFBEB7-B624-468C-8C67-1D1D5A5D7EF4}" srcOrd="5" destOrd="0" presId="urn:microsoft.com/office/officeart/2005/8/layout/process3"/>
    <dgm:cxn modelId="{6F524F6C-CD00-455C-99F3-320F44E7AFF8}" type="presParOf" srcId="{36CFBEB7-B624-468C-8C67-1D1D5A5D7EF4}" destId="{EB69D535-AB45-43B7-AFC0-44DC7C22F3A9}" srcOrd="0" destOrd="0" presId="urn:microsoft.com/office/officeart/2005/8/layout/process3"/>
    <dgm:cxn modelId="{4824B159-4C5A-48D0-B861-C6331FC796FD}" type="presParOf" srcId="{D281A26D-8723-4C69-A69D-9C1B199D992C}" destId="{EA6EA058-CCAF-4595-B14B-8D664F13548C}" srcOrd="6" destOrd="0" presId="urn:microsoft.com/office/officeart/2005/8/layout/process3"/>
    <dgm:cxn modelId="{E6E3F00C-8057-49DA-96C4-0B7A7FBB562E}" type="presParOf" srcId="{EA6EA058-CCAF-4595-B14B-8D664F13548C}" destId="{8C959CF1-612F-4671-881F-2B08CEE4CA8B}" srcOrd="0" destOrd="0" presId="urn:microsoft.com/office/officeart/2005/8/layout/process3"/>
    <dgm:cxn modelId="{7CC8704D-614F-4316-97E0-19164AB14EDC}" type="presParOf" srcId="{EA6EA058-CCAF-4595-B14B-8D664F13548C}" destId="{E34A6F66-950A-422D-A3EB-F2707AC1DDEB}" srcOrd="1" destOrd="0" presId="urn:microsoft.com/office/officeart/2005/8/layout/process3"/>
    <dgm:cxn modelId="{CE5FCC68-8404-4D9F-ADEF-4B076DAE0593}" type="presParOf" srcId="{EA6EA058-CCAF-4595-B14B-8D664F13548C}" destId="{E590339A-C059-4B0B-B737-640EFEE6C56E}" srcOrd="2" destOrd="0" presId="urn:microsoft.com/office/officeart/2005/8/layout/process3"/>
    <dgm:cxn modelId="{B15FF473-2D89-4C75-975C-216C4DA3654C}" type="presParOf" srcId="{D281A26D-8723-4C69-A69D-9C1B199D992C}" destId="{7B129C87-1160-48BC-9CCF-CAFF633581AC}" srcOrd="7" destOrd="0" presId="urn:microsoft.com/office/officeart/2005/8/layout/process3"/>
    <dgm:cxn modelId="{7136B0B5-462D-4BC9-991F-544CB0A22658}" type="presParOf" srcId="{7B129C87-1160-48BC-9CCF-CAFF633581AC}" destId="{687ABE92-5C92-4691-A093-100B1C0A7048}" srcOrd="0" destOrd="0" presId="urn:microsoft.com/office/officeart/2005/8/layout/process3"/>
    <dgm:cxn modelId="{EDAA2356-6DBD-4A45-89C4-5B2FE3AA715E}" type="presParOf" srcId="{D281A26D-8723-4C69-A69D-9C1B199D992C}" destId="{A21BBDD1-113D-43D4-BDC0-119EAA38CA21}" srcOrd="8" destOrd="0" presId="urn:microsoft.com/office/officeart/2005/8/layout/process3"/>
    <dgm:cxn modelId="{3AD91B75-DF72-4447-B555-2FDC2F25FFC3}" type="presParOf" srcId="{A21BBDD1-113D-43D4-BDC0-119EAA38CA21}" destId="{1867C0A0-2D4B-49D7-900F-7B5DA97DD1E2}" srcOrd="0" destOrd="0" presId="urn:microsoft.com/office/officeart/2005/8/layout/process3"/>
    <dgm:cxn modelId="{E538DBF1-8D90-4A31-A4FF-807957BC7BA7}" type="presParOf" srcId="{A21BBDD1-113D-43D4-BDC0-119EAA38CA21}" destId="{2ACA71EC-3820-4830-83B2-26345D09651E}" srcOrd="1" destOrd="0" presId="urn:microsoft.com/office/officeart/2005/8/layout/process3"/>
    <dgm:cxn modelId="{711620BC-0BF5-477D-83E9-3BFC49918165}" type="presParOf" srcId="{A21BBDD1-113D-43D4-BDC0-119EAA38CA21}" destId="{C2220D25-B6C7-4F71-9691-5E16FB83295F}"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5A1505-502A-4134-B564-80E4EF4ADCE0}">
      <dsp:nvSpPr>
        <dsp:cNvPr id="0" name=""/>
        <dsp:cNvSpPr/>
      </dsp:nvSpPr>
      <dsp:spPr>
        <a:xfrm>
          <a:off x="0" y="660582"/>
          <a:ext cx="1499759" cy="89985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Gather data</a:t>
          </a:r>
        </a:p>
      </dsp:txBody>
      <dsp:txXfrm>
        <a:off x="26356" y="686938"/>
        <a:ext cx="1447047" cy="847143"/>
      </dsp:txXfrm>
    </dsp:sp>
    <dsp:sp modelId="{692654D8-D70D-4D1F-BDB2-DADCD247F711}">
      <dsp:nvSpPr>
        <dsp:cNvPr id="0" name=""/>
        <dsp:cNvSpPr/>
      </dsp:nvSpPr>
      <dsp:spPr>
        <a:xfrm>
          <a:off x="1615837" y="924540"/>
          <a:ext cx="279641" cy="37194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615837" y="998928"/>
        <a:ext cx="195749" cy="223164"/>
      </dsp:txXfrm>
    </dsp:sp>
    <dsp:sp modelId="{EE6AEAC4-68A9-4E7C-80A5-EA7CF7D764E5}">
      <dsp:nvSpPr>
        <dsp:cNvPr id="0" name=""/>
        <dsp:cNvSpPr/>
      </dsp:nvSpPr>
      <dsp:spPr>
        <a:xfrm>
          <a:off x="2027385" y="660582"/>
          <a:ext cx="1499759" cy="89985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Clean data</a:t>
          </a:r>
        </a:p>
      </dsp:txBody>
      <dsp:txXfrm>
        <a:off x="2053741" y="686938"/>
        <a:ext cx="1447047" cy="847143"/>
      </dsp:txXfrm>
    </dsp:sp>
    <dsp:sp modelId="{AF877905-8BE7-474D-954C-059E0A482999}">
      <dsp:nvSpPr>
        <dsp:cNvPr id="0" name=""/>
        <dsp:cNvSpPr/>
      </dsp:nvSpPr>
      <dsp:spPr>
        <a:xfrm>
          <a:off x="3659124" y="924540"/>
          <a:ext cx="317949" cy="37194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3659124" y="998928"/>
        <a:ext cx="222564" cy="223164"/>
      </dsp:txXfrm>
    </dsp:sp>
    <dsp:sp modelId="{29845D07-6A7F-47B9-9E44-7085D7C2BD27}">
      <dsp:nvSpPr>
        <dsp:cNvPr id="0" name=""/>
        <dsp:cNvSpPr/>
      </dsp:nvSpPr>
      <dsp:spPr>
        <a:xfrm>
          <a:off x="4127049" y="660582"/>
          <a:ext cx="1499759" cy="89985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Analyze data</a:t>
          </a:r>
        </a:p>
      </dsp:txBody>
      <dsp:txXfrm>
        <a:off x="4153405" y="686938"/>
        <a:ext cx="1447047" cy="847143"/>
      </dsp:txXfrm>
    </dsp:sp>
    <dsp:sp modelId="{5CAE26AD-EE8C-4BB8-A036-79A09DDB8506}">
      <dsp:nvSpPr>
        <dsp:cNvPr id="0" name=""/>
        <dsp:cNvSpPr/>
      </dsp:nvSpPr>
      <dsp:spPr>
        <a:xfrm>
          <a:off x="5758788" y="924540"/>
          <a:ext cx="317949" cy="37194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5758788" y="998928"/>
        <a:ext cx="222564" cy="223164"/>
      </dsp:txXfrm>
    </dsp:sp>
    <dsp:sp modelId="{86F8EA60-0ED1-4459-BF56-5A0CB6782611}">
      <dsp:nvSpPr>
        <dsp:cNvPr id="0" name=""/>
        <dsp:cNvSpPr/>
      </dsp:nvSpPr>
      <dsp:spPr>
        <a:xfrm>
          <a:off x="6226713" y="660582"/>
          <a:ext cx="1499759" cy="89985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Train model</a:t>
          </a:r>
        </a:p>
      </dsp:txBody>
      <dsp:txXfrm>
        <a:off x="6253069" y="686938"/>
        <a:ext cx="1447047" cy="847143"/>
      </dsp:txXfrm>
    </dsp:sp>
    <dsp:sp modelId="{868A40BD-5F81-4708-9E8A-83F81645BE2A}">
      <dsp:nvSpPr>
        <dsp:cNvPr id="0" name=""/>
        <dsp:cNvSpPr/>
      </dsp:nvSpPr>
      <dsp:spPr>
        <a:xfrm rot="5400000">
          <a:off x="6817618" y="1665421"/>
          <a:ext cx="317949" cy="37194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5400000">
        <a:off x="6865011" y="1692417"/>
        <a:ext cx="223164" cy="222564"/>
      </dsp:txXfrm>
    </dsp:sp>
    <dsp:sp modelId="{0DE28E53-E8DA-4ABD-A08E-4618B74DCB84}">
      <dsp:nvSpPr>
        <dsp:cNvPr id="0" name=""/>
        <dsp:cNvSpPr/>
      </dsp:nvSpPr>
      <dsp:spPr>
        <a:xfrm>
          <a:off x="6226713" y="2160342"/>
          <a:ext cx="1499759" cy="89985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Test model</a:t>
          </a:r>
        </a:p>
      </dsp:txBody>
      <dsp:txXfrm>
        <a:off x="6253069" y="2186698"/>
        <a:ext cx="1447047" cy="847143"/>
      </dsp:txXfrm>
    </dsp:sp>
    <dsp:sp modelId="{23C22AF8-85F5-4D90-B91B-70F9ED48B16F}">
      <dsp:nvSpPr>
        <dsp:cNvPr id="0" name=""/>
        <dsp:cNvSpPr/>
      </dsp:nvSpPr>
      <dsp:spPr>
        <a:xfrm rot="10799190">
          <a:off x="5833566" y="2424536"/>
          <a:ext cx="277823" cy="37194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5916913" y="2498914"/>
        <a:ext cx="194476" cy="223164"/>
      </dsp:txXfrm>
    </dsp:sp>
    <dsp:sp modelId="{DAC875D7-EDD0-4D55-8F59-716DDA3DCD31}">
      <dsp:nvSpPr>
        <dsp:cNvPr id="0" name=""/>
        <dsp:cNvSpPr/>
      </dsp:nvSpPr>
      <dsp:spPr>
        <a:xfrm>
          <a:off x="4202757" y="2160818"/>
          <a:ext cx="1499759" cy="89985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Deploy model</a:t>
          </a:r>
        </a:p>
      </dsp:txBody>
      <dsp:txXfrm>
        <a:off x="4229113" y="2187174"/>
        <a:ext cx="1447047" cy="847143"/>
      </dsp:txXfrm>
    </dsp:sp>
    <dsp:sp modelId="{2C895661-4D5A-436C-965E-E73E3F997AD1}">
      <dsp:nvSpPr>
        <dsp:cNvPr id="0" name=""/>
        <dsp:cNvSpPr/>
      </dsp:nvSpPr>
      <dsp:spPr>
        <a:xfrm rot="10800000">
          <a:off x="3752829" y="2424776"/>
          <a:ext cx="317949" cy="37194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3848214" y="2499164"/>
        <a:ext cx="222564" cy="223164"/>
      </dsp:txXfrm>
    </dsp:sp>
    <dsp:sp modelId="{30254C48-5012-4ACD-B53E-03A8F70CC3D9}">
      <dsp:nvSpPr>
        <dsp:cNvPr id="0" name=""/>
        <dsp:cNvSpPr/>
      </dsp:nvSpPr>
      <dsp:spPr>
        <a:xfrm>
          <a:off x="2103093" y="2160818"/>
          <a:ext cx="1499759" cy="89985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Stop Fraud</a:t>
          </a:r>
        </a:p>
      </dsp:txBody>
      <dsp:txXfrm>
        <a:off x="2129449" y="2187174"/>
        <a:ext cx="1447047" cy="847143"/>
      </dsp:txXfrm>
    </dsp:sp>
    <dsp:sp modelId="{8DCB4B06-DBC1-4E27-9757-ECEE0ECE08F0}">
      <dsp:nvSpPr>
        <dsp:cNvPr id="0" name=""/>
        <dsp:cNvSpPr/>
      </dsp:nvSpPr>
      <dsp:spPr>
        <a:xfrm rot="10800000">
          <a:off x="1653165" y="2424776"/>
          <a:ext cx="317949" cy="37194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1748550" y="2499164"/>
        <a:ext cx="222564" cy="223164"/>
      </dsp:txXfrm>
    </dsp:sp>
    <dsp:sp modelId="{9B761AF3-4C77-45B1-8FE1-285BA85F7602}">
      <dsp:nvSpPr>
        <dsp:cNvPr id="0" name=""/>
        <dsp:cNvSpPr/>
      </dsp:nvSpPr>
      <dsp:spPr>
        <a:xfrm>
          <a:off x="3430" y="2160818"/>
          <a:ext cx="1499759" cy="89985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Save Money!</a:t>
          </a:r>
        </a:p>
      </dsp:txBody>
      <dsp:txXfrm>
        <a:off x="29786" y="2187174"/>
        <a:ext cx="1447047" cy="8471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554EE2-CAD9-41FF-8EEF-ADD9CD0F820D}">
      <dsp:nvSpPr>
        <dsp:cNvPr id="0" name=""/>
        <dsp:cNvSpPr/>
      </dsp:nvSpPr>
      <dsp:spPr>
        <a:xfrm>
          <a:off x="7558" y="951611"/>
          <a:ext cx="1180328" cy="65678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t>Import Data</a:t>
          </a:r>
        </a:p>
      </dsp:txBody>
      <dsp:txXfrm>
        <a:off x="7558" y="951611"/>
        <a:ext cx="1180328" cy="437853"/>
      </dsp:txXfrm>
    </dsp:sp>
    <dsp:sp modelId="{FF0B3A5D-DF60-495E-AE46-426173DE1A3C}">
      <dsp:nvSpPr>
        <dsp:cNvPr id="0" name=""/>
        <dsp:cNvSpPr/>
      </dsp:nvSpPr>
      <dsp:spPr>
        <a:xfrm>
          <a:off x="162364" y="1367073"/>
          <a:ext cx="1312647" cy="146475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8135 Agents</a:t>
          </a:r>
        </a:p>
        <a:p>
          <a:pPr marL="114300" lvl="1" indent="-114300" algn="l" defTabSz="533400">
            <a:lnSpc>
              <a:spcPct val="90000"/>
            </a:lnSpc>
            <a:spcBef>
              <a:spcPct val="0"/>
            </a:spcBef>
            <a:spcAft>
              <a:spcPct val="15000"/>
            </a:spcAft>
            <a:buChar char="•"/>
          </a:pPr>
          <a:r>
            <a:rPr lang="en-US" sz="1200" kern="1200" dirty="0"/>
            <a:t>464 Fraud</a:t>
          </a:r>
        </a:p>
      </dsp:txBody>
      <dsp:txXfrm>
        <a:off x="200810" y="1405519"/>
        <a:ext cx="1235755" cy="1387858"/>
      </dsp:txXfrm>
    </dsp:sp>
    <dsp:sp modelId="{C18C9F50-FD4B-4B26-8490-6A62CD5749A4}">
      <dsp:nvSpPr>
        <dsp:cNvPr id="0" name=""/>
        <dsp:cNvSpPr/>
      </dsp:nvSpPr>
      <dsp:spPr>
        <a:xfrm>
          <a:off x="1367974" y="1036239"/>
          <a:ext cx="381784" cy="26859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367974" y="1089959"/>
        <a:ext cx="301205" cy="161158"/>
      </dsp:txXfrm>
    </dsp:sp>
    <dsp:sp modelId="{653D4469-B91A-4EF3-9735-F9AA7DAE4230}">
      <dsp:nvSpPr>
        <dsp:cNvPr id="0" name=""/>
        <dsp:cNvSpPr/>
      </dsp:nvSpPr>
      <dsp:spPr>
        <a:xfrm>
          <a:off x="1908235" y="951611"/>
          <a:ext cx="1180328" cy="65678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t>Split Data</a:t>
          </a:r>
        </a:p>
      </dsp:txBody>
      <dsp:txXfrm>
        <a:off x="1908235" y="951611"/>
        <a:ext cx="1180328" cy="437853"/>
      </dsp:txXfrm>
    </dsp:sp>
    <dsp:sp modelId="{BA231BF0-AD57-4204-A867-B7B78D2B241A}">
      <dsp:nvSpPr>
        <dsp:cNvPr id="0" name=""/>
        <dsp:cNvSpPr/>
      </dsp:nvSpPr>
      <dsp:spPr>
        <a:xfrm>
          <a:off x="2063041" y="1367073"/>
          <a:ext cx="1312647" cy="146475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75% to test</a:t>
          </a:r>
        </a:p>
        <a:p>
          <a:pPr marL="114300" lvl="1" indent="-114300" algn="l" defTabSz="533400">
            <a:lnSpc>
              <a:spcPct val="90000"/>
            </a:lnSpc>
            <a:spcBef>
              <a:spcPct val="0"/>
            </a:spcBef>
            <a:spcAft>
              <a:spcPct val="15000"/>
            </a:spcAft>
            <a:buChar char="•"/>
          </a:pPr>
          <a:r>
            <a:rPr lang="en-US" sz="1200" kern="1200" dirty="0"/>
            <a:t>25% to train</a:t>
          </a:r>
        </a:p>
      </dsp:txBody>
      <dsp:txXfrm>
        <a:off x="2101487" y="1405519"/>
        <a:ext cx="1235755" cy="1387858"/>
      </dsp:txXfrm>
    </dsp:sp>
    <dsp:sp modelId="{AA29C9A0-0FBA-4DCE-A1D3-75C119F85803}">
      <dsp:nvSpPr>
        <dsp:cNvPr id="0" name=""/>
        <dsp:cNvSpPr/>
      </dsp:nvSpPr>
      <dsp:spPr>
        <a:xfrm>
          <a:off x="3268650" y="1036239"/>
          <a:ext cx="381784" cy="26859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268650" y="1089959"/>
        <a:ext cx="301205" cy="161158"/>
      </dsp:txXfrm>
    </dsp:sp>
    <dsp:sp modelId="{B17901B4-2E8A-43E5-9A7D-4142991B3590}">
      <dsp:nvSpPr>
        <dsp:cNvPr id="0" name=""/>
        <dsp:cNvSpPr/>
      </dsp:nvSpPr>
      <dsp:spPr>
        <a:xfrm>
          <a:off x="3808911" y="951611"/>
          <a:ext cx="1180328" cy="65678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t>Train Model</a:t>
          </a:r>
        </a:p>
      </dsp:txBody>
      <dsp:txXfrm>
        <a:off x="3808911" y="951611"/>
        <a:ext cx="1180328" cy="437853"/>
      </dsp:txXfrm>
    </dsp:sp>
    <dsp:sp modelId="{4F9D097B-36B8-468C-9C02-2CCC6DFC284F}">
      <dsp:nvSpPr>
        <dsp:cNvPr id="0" name=""/>
        <dsp:cNvSpPr/>
      </dsp:nvSpPr>
      <dsp:spPr>
        <a:xfrm>
          <a:off x="3963717" y="1367073"/>
          <a:ext cx="1312647" cy="146475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6091 Agents</a:t>
          </a:r>
        </a:p>
        <a:p>
          <a:pPr marL="114300" lvl="1" indent="-114300" algn="l" defTabSz="533400">
            <a:lnSpc>
              <a:spcPct val="90000"/>
            </a:lnSpc>
            <a:spcBef>
              <a:spcPct val="0"/>
            </a:spcBef>
            <a:spcAft>
              <a:spcPct val="15000"/>
            </a:spcAft>
            <a:buChar char="•"/>
          </a:pPr>
          <a:r>
            <a:rPr lang="en-US" sz="1200" kern="1200" dirty="0"/>
            <a:t>Supervised </a:t>
          </a:r>
        </a:p>
      </dsp:txBody>
      <dsp:txXfrm>
        <a:off x="4002163" y="1405519"/>
        <a:ext cx="1235755" cy="1387858"/>
      </dsp:txXfrm>
    </dsp:sp>
    <dsp:sp modelId="{36CFBEB7-B624-468C-8C67-1D1D5A5D7EF4}">
      <dsp:nvSpPr>
        <dsp:cNvPr id="0" name=""/>
        <dsp:cNvSpPr/>
      </dsp:nvSpPr>
      <dsp:spPr>
        <a:xfrm>
          <a:off x="5169327" y="1036239"/>
          <a:ext cx="381784" cy="26859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169327" y="1089959"/>
        <a:ext cx="301205" cy="161158"/>
      </dsp:txXfrm>
    </dsp:sp>
    <dsp:sp modelId="{E34A6F66-950A-422D-A3EB-F2707AC1DDEB}">
      <dsp:nvSpPr>
        <dsp:cNvPr id="0" name=""/>
        <dsp:cNvSpPr/>
      </dsp:nvSpPr>
      <dsp:spPr>
        <a:xfrm>
          <a:off x="5709588" y="951611"/>
          <a:ext cx="1180328" cy="65678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t>Test Model</a:t>
          </a:r>
        </a:p>
      </dsp:txBody>
      <dsp:txXfrm>
        <a:off x="5709588" y="951611"/>
        <a:ext cx="1180328" cy="437853"/>
      </dsp:txXfrm>
    </dsp:sp>
    <dsp:sp modelId="{E590339A-C059-4B0B-B737-640EFEE6C56E}">
      <dsp:nvSpPr>
        <dsp:cNvPr id="0" name=""/>
        <dsp:cNvSpPr/>
      </dsp:nvSpPr>
      <dsp:spPr>
        <a:xfrm>
          <a:off x="5864394" y="1367073"/>
          <a:ext cx="1312647" cy="146475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2044 Agents</a:t>
          </a:r>
        </a:p>
        <a:p>
          <a:pPr marL="114300" lvl="1" indent="-114300" algn="l" defTabSz="533400">
            <a:lnSpc>
              <a:spcPct val="90000"/>
            </a:lnSpc>
            <a:spcBef>
              <a:spcPct val="0"/>
            </a:spcBef>
            <a:spcAft>
              <a:spcPct val="15000"/>
            </a:spcAft>
            <a:buChar char="•"/>
          </a:pPr>
          <a:endParaRPr lang="en-US" sz="1200" kern="1200" dirty="0"/>
        </a:p>
      </dsp:txBody>
      <dsp:txXfrm>
        <a:off x="5902840" y="1405519"/>
        <a:ext cx="1235755" cy="1387858"/>
      </dsp:txXfrm>
    </dsp:sp>
    <dsp:sp modelId="{7B129C87-1160-48BC-9CCF-CAFF633581AC}">
      <dsp:nvSpPr>
        <dsp:cNvPr id="0" name=""/>
        <dsp:cNvSpPr/>
      </dsp:nvSpPr>
      <dsp:spPr>
        <a:xfrm>
          <a:off x="7070003" y="1036239"/>
          <a:ext cx="381784" cy="26859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7070003" y="1089959"/>
        <a:ext cx="301205" cy="161158"/>
      </dsp:txXfrm>
    </dsp:sp>
    <dsp:sp modelId="{2ACA71EC-3820-4830-83B2-26345D09651E}">
      <dsp:nvSpPr>
        <dsp:cNvPr id="0" name=""/>
        <dsp:cNvSpPr/>
      </dsp:nvSpPr>
      <dsp:spPr>
        <a:xfrm>
          <a:off x="7610264" y="951611"/>
          <a:ext cx="1180328" cy="65678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t>Result</a:t>
          </a:r>
        </a:p>
      </dsp:txBody>
      <dsp:txXfrm>
        <a:off x="7610264" y="951611"/>
        <a:ext cx="1180328" cy="437853"/>
      </dsp:txXfrm>
    </dsp:sp>
    <dsp:sp modelId="{C2220D25-B6C7-4F71-9691-5E16FB83295F}">
      <dsp:nvSpPr>
        <dsp:cNvPr id="0" name=""/>
        <dsp:cNvSpPr/>
      </dsp:nvSpPr>
      <dsp:spPr>
        <a:xfrm>
          <a:off x="7765070" y="1367073"/>
          <a:ext cx="1312647" cy="146475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2044 Agents with probability of fraud</a:t>
          </a:r>
        </a:p>
        <a:p>
          <a:pPr marL="114300" lvl="1" indent="-114300" algn="l" defTabSz="533400">
            <a:lnSpc>
              <a:spcPct val="90000"/>
            </a:lnSpc>
            <a:spcBef>
              <a:spcPct val="0"/>
            </a:spcBef>
            <a:spcAft>
              <a:spcPct val="15000"/>
            </a:spcAft>
            <a:buChar char="•"/>
          </a:pPr>
          <a:endParaRPr lang="en-US" sz="1200" kern="1200" dirty="0"/>
        </a:p>
        <a:p>
          <a:pPr marL="114300" lvl="1" indent="-114300" algn="l" defTabSz="533400">
            <a:lnSpc>
              <a:spcPct val="90000"/>
            </a:lnSpc>
            <a:spcBef>
              <a:spcPct val="0"/>
            </a:spcBef>
            <a:spcAft>
              <a:spcPct val="15000"/>
            </a:spcAft>
            <a:buChar char="•"/>
          </a:pPr>
          <a:endParaRPr lang="en-US" sz="1200" kern="1200" dirty="0"/>
        </a:p>
      </dsp:txBody>
      <dsp:txXfrm>
        <a:off x="7803516" y="1405519"/>
        <a:ext cx="1235755" cy="1387858"/>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7C8321-80FF-40DC-8018-0B2F9A338E56}" type="datetimeFigureOut">
              <a:rPr lang="en-US" smtClean="0"/>
              <a:t>7/28/2018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B745F3-2D74-4248-9C70-77C51F657C77}" type="slidenum">
              <a:rPr lang="en-US" smtClean="0"/>
              <a:t>‹#›</a:t>
            </a:fld>
            <a:endParaRPr lang="en-US"/>
          </a:p>
        </p:txBody>
      </p:sp>
    </p:spTree>
    <p:extLst>
      <p:ext uri="{BB962C8B-B14F-4D97-AF65-F5344CB8AC3E}">
        <p14:creationId xmlns:p14="http://schemas.microsoft.com/office/powerpoint/2010/main" val="351393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Breakup into subsections, outline, what is the problem, solving the problem, results, etc.</a:t>
            </a:r>
          </a:p>
        </p:txBody>
      </p:sp>
      <p:sp>
        <p:nvSpPr>
          <p:cNvPr id="4" name="Slide Number Placeholder 3"/>
          <p:cNvSpPr>
            <a:spLocks noGrp="1"/>
          </p:cNvSpPr>
          <p:nvPr>
            <p:ph type="sldNum" sz="quarter" idx="10"/>
          </p:nvPr>
        </p:nvSpPr>
        <p:spPr/>
        <p:txBody>
          <a:bodyPr/>
          <a:lstStyle/>
          <a:p>
            <a:fld id="{ECB745F3-2D74-4248-9C70-77C51F657C77}" type="slidenum">
              <a:rPr lang="en-US" smtClean="0"/>
              <a:t>1</a:t>
            </a:fld>
            <a:endParaRPr lang="en-US"/>
          </a:p>
        </p:txBody>
      </p:sp>
    </p:spTree>
    <p:extLst>
      <p:ext uri="{BB962C8B-B14F-4D97-AF65-F5344CB8AC3E}">
        <p14:creationId xmlns:p14="http://schemas.microsoft.com/office/powerpoint/2010/main" val="3306511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questions based on presentation</a:t>
            </a:r>
          </a:p>
          <a:p>
            <a:r>
              <a:rPr lang="en-US" dirty="0"/>
              <a:t>Look at question 1 and 3. maybe combine into one question</a:t>
            </a:r>
          </a:p>
        </p:txBody>
      </p:sp>
      <p:sp>
        <p:nvSpPr>
          <p:cNvPr id="4" name="Slide Number Placeholder 3"/>
          <p:cNvSpPr>
            <a:spLocks noGrp="1"/>
          </p:cNvSpPr>
          <p:nvPr>
            <p:ph type="sldNum" sz="quarter" idx="10"/>
          </p:nvPr>
        </p:nvSpPr>
        <p:spPr/>
        <p:txBody>
          <a:bodyPr/>
          <a:lstStyle/>
          <a:p>
            <a:fld id="{ECB745F3-2D74-4248-9C70-77C51F657C77}" type="slidenum">
              <a:rPr lang="en-US" smtClean="0"/>
              <a:t>2</a:t>
            </a:fld>
            <a:endParaRPr lang="en-US"/>
          </a:p>
        </p:txBody>
      </p:sp>
    </p:spTree>
    <p:extLst>
      <p:ext uri="{BB962C8B-B14F-4D97-AF65-F5344CB8AC3E}">
        <p14:creationId xmlns:p14="http://schemas.microsoft.com/office/powerpoint/2010/main" val="124897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pros and cons</a:t>
            </a:r>
          </a:p>
          <a:p>
            <a:r>
              <a:rPr lang="en-US" dirty="0"/>
              <a:t>Add case 1</a:t>
            </a:r>
          </a:p>
          <a:p>
            <a:endParaRPr lang="en-US" dirty="0"/>
          </a:p>
        </p:txBody>
      </p:sp>
      <p:sp>
        <p:nvSpPr>
          <p:cNvPr id="4" name="Slide Number Placeholder 3"/>
          <p:cNvSpPr>
            <a:spLocks noGrp="1"/>
          </p:cNvSpPr>
          <p:nvPr>
            <p:ph type="sldNum" sz="quarter" idx="10"/>
          </p:nvPr>
        </p:nvSpPr>
        <p:spPr/>
        <p:txBody>
          <a:bodyPr/>
          <a:lstStyle/>
          <a:p>
            <a:fld id="{ECB745F3-2D74-4248-9C70-77C51F657C77}" type="slidenum">
              <a:rPr lang="en-US" smtClean="0"/>
              <a:t>4</a:t>
            </a:fld>
            <a:endParaRPr lang="en-US"/>
          </a:p>
        </p:txBody>
      </p:sp>
    </p:spTree>
    <p:extLst>
      <p:ext uri="{BB962C8B-B14F-4D97-AF65-F5344CB8AC3E}">
        <p14:creationId xmlns:p14="http://schemas.microsoft.com/office/powerpoint/2010/main" val="1879897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B745F3-2D74-4248-9C70-77C51F657C77}" type="slidenum">
              <a:rPr lang="en-US" smtClean="0"/>
              <a:t>5</a:t>
            </a:fld>
            <a:endParaRPr lang="en-US"/>
          </a:p>
        </p:txBody>
      </p:sp>
    </p:spTree>
    <p:extLst>
      <p:ext uri="{BB962C8B-B14F-4D97-AF65-F5344CB8AC3E}">
        <p14:creationId xmlns:p14="http://schemas.microsoft.com/office/powerpoint/2010/main" val="1689833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DW POS to something generic or nothing</a:t>
            </a:r>
          </a:p>
          <a:p>
            <a:r>
              <a:rPr lang="en-US" dirty="0"/>
              <a:t>“account blocks” maybe a different wording can be used</a:t>
            </a:r>
          </a:p>
        </p:txBody>
      </p:sp>
      <p:sp>
        <p:nvSpPr>
          <p:cNvPr id="4" name="Slide Number Placeholder 3"/>
          <p:cNvSpPr>
            <a:spLocks noGrp="1"/>
          </p:cNvSpPr>
          <p:nvPr>
            <p:ph type="sldNum" sz="quarter" idx="10"/>
          </p:nvPr>
        </p:nvSpPr>
        <p:spPr/>
        <p:txBody>
          <a:bodyPr/>
          <a:lstStyle/>
          <a:p>
            <a:fld id="{ECB745F3-2D74-4248-9C70-77C51F657C77}" type="slidenum">
              <a:rPr lang="en-US" smtClean="0"/>
              <a:t>6</a:t>
            </a:fld>
            <a:endParaRPr lang="en-US"/>
          </a:p>
        </p:txBody>
      </p:sp>
    </p:spTree>
    <p:extLst>
      <p:ext uri="{BB962C8B-B14F-4D97-AF65-F5344CB8AC3E}">
        <p14:creationId xmlns:p14="http://schemas.microsoft.com/office/powerpoint/2010/main" val="2875037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B745F3-2D74-4248-9C70-77C51F657C77}" type="slidenum">
              <a:rPr lang="en-US" smtClean="0"/>
              <a:t>7</a:t>
            </a:fld>
            <a:endParaRPr lang="en-US"/>
          </a:p>
        </p:txBody>
      </p:sp>
    </p:spTree>
    <p:extLst>
      <p:ext uri="{BB962C8B-B14F-4D97-AF65-F5344CB8AC3E}">
        <p14:creationId xmlns:p14="http://schemas.microsoft.com/office/powerpoint/2010/main" val="1682039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Tie back to slide 1</a:t>
            </a:r>
          </a:p>
        </p:txBody>
      </p:sp>
      <p:sp>
        <p:nvSpPr>
          <p:cNvPr id="4" name="Slide Number Placeholder 3"/>
          <p:cNvSpPr>
            <a:spLocks noGrp="1"/>
          </p:cNvSpPr>
          <p:nvPr>
            <p:ph type="sldNum" sz="quarter" idx="10"/>
          </p:nvPr>
        </p:nvSpPr>
        <p:spPr/>
        <p:txBody>
          <a:bodyPr/>
          <a:lstStyle/>
          <a:p>
            <a:fld id="{ECB745F3-2D74-4248-9C70-77C51F657C77}" type="slidenum">
              <a:rPr lang="en-US" smtClean="0"/>
              <a:t>8</a:t>
            </a:fld>
            <a:endParaRPr lang="en-US"/>
          </a:p>
        </p:txBody>
      </p:sp>
    </p:spTree>
    <p:extLst>
      <p:ext uri="{BB962C8B-B14F-4D97-AF65-F5344CB8AC3E}">
        <p14:creationId xmlns:p14="http://schemas.microsoft.com/office/powerpoint/2010/main" val="2341290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fields into type : MGI, Education, pop, crime/poverty. Color code. </a:t>
            </a:r>
          </a:p>
          <a:p>
            <a:r>
              <a:rPr lang="en-US" dirty="0"/>
              <a:t>Take out credit changes</a:t>
            </a:r>
          </a:p>
          <a:p>
            <a:r>
              <a:rPr lang="en-US" dirty="0"/>
              <a:t>Take out column 2</a:t>
            </a:r>
          </a:p>
          <a:p>
            <a:r>
              <a:rPr lang="en-US" dirty="0"/>
              <a:t>Don’t even need table. Just group it</a:t>
            </a:r>
          </a:p>
          <a:p>
            <a:endParaRPr lang="en-US" dirty="0"/>
          </a:p>
        </p:txBody>
      </p:sp>
      <p:sp>
        <p:nvSpPr>
          <p:cNvPr id="4" name="Slide Number Placeholder 3"/>
          <p:cNvSpPr>
            <a:spLocks noGrp="1"/>
          </p:cNvSpPr>
          <p:nvPr>
            <p:ph type="sldNum" sz="quarter" idx="10"/>
          </p:nvPr>
        </p:nvSpPr>
        <p:spPr/>
        <p:txBody>
          <a:bodyPr/>
          <a:lstStyle/>
          <a:p>
            <a:fld id="{ECB745F3-2D74-4248-9C70-77C51F657C77}" type="slidenum">
              <a:rPr lang="en-US" smtClean="0"/>
              <a:t>9</a:t>
            </a:fld>
            <a:endParaRPr lang="en-US"/>
          </a:p>
        </p:txBody>
      </p:sp>
    </p:spTree>
    <p:extLst>
      <p:ext uri="{BB962C8B-B14F-4D97-AF65-F5344CB8AC3E}">
        <p14:creationId xmlns:p14="http://schemas.microsoft.com/office/powerpoint/2010/main" val="395191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Attribute or Characteristic</a:t>
            </a:r>
          </a:p>
          <a:p>
            <a:endParaRPr lang="en-US" dirty="0"/>
          </a:p>
        </p:txBody>
      </p:sp>
      <p:sp>
        <p:nvSpPr>
          <p:cNvPr id="4" name="Slide Number Placeholder 3"/>
          <p:cNvSpPr>
            <a:spLocks noGrp="1"/>
          </p:cNvSpPr>
          <p:nvPr>
            <p:ph type="sldNum" sz="quarter" idx="10"/>
          </p:nvPr>
        </p:nvSpPr>
        <p:spPr/>
        <p:txBody>
          <a:bodyPr/>
          <a:lstStyle/>
          <a:p>
            <a:fld id="{ECB745F3-2D74-4248-9C70-77C51F657C77}" type="slidenum">
              <a:rPr lang="en-US" smtClean="0"/>
              <a:t>10</a:t>
            </a:fld>
            <a:endParaRPr lang="en-US"/>
          </a:p>
        </p:txBody>
      </p:sp>
    </p:spTree>
    <p:extLst>
      <p:ext uri="{BB962C8B-B14F-4D97-AF65-F5344CB8AC3E}">
        <p14:creationId xmlns:p14="http://schemas.microsoft.com/office/powerpoint/2010/main" val="1181116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B745F3-2D74-4248-9C70-77C51F657C77}" type="slidenum">
              <a:rPr lang="en-US" smtClean="0"/>
              <a:t>12</a:t>
            </a:fld>
            <a:endParaRPr lang="en-US"/>
          </a:p>
        </p:txBody>
      </p:sp>
    </p:spTree>
    <p:extLst>
      <p:ext uri="{BB962C8B-B14F-4D97-AF65-F5344CB8AC3E}">
        <p14:creationId xmlns:p14="http://schemas.microsoft.com/office/powerpoint/2010/main" val="3537076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 test and train. Break before this (subsection)</a:t>
            </a:r>
          </a:p>
        </p:txBody>
      </p:sp>
      <p:sp>
        <p:nvSpPr>
          <p:cNvPr id="4" name="Slide Number Placeholder 3"/>
          <p:cNvSpPr>
            <a:spLocks noGrp="1"/>
          </p:cNvSpPr>
          <p:nvPr>
            <p:ph type="sldNum" sz="quarter" idx="10"/>
          </p:nvPr>
        </p:nvSpPr>
        <p:spPr/>
        <p:txBody>
          <a:bodyPr/>
          <a:lstStyle/>
          <a:p>
            <a:fld id="{ECB745F3-2D74-4248-9C70-77C51F657C77}" type="slidenum">
              <a:rPr lang="en-US" smtClean="0"/>
              <a:t>13</a:t>
            </a:fld>
            <a:endParaRPr lang="en-US"/>
          </a:p>
        </p:txBody>
      </p:sp>
    </p:spTree>
    <p:extLst>
      <p:ext uri="{BB962C8B-B14F-4D97-AF65-F5344CB8AC3E}">
        <p14:creationId xmlns:p14="http://schemas.microsoft.com/office/powerpoint/2010/main" val="512405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 code type of model</a:t>
            </a:r>
          </a:p>
        </p:txBody>
      </p:sp>
      <p:sp>
        <p:nvSpPr>
          <p:cNvPr id="4" name="Slide Number Placeholder 3"/>
          <p:cNvSpPr>
            <a:spLocks noGrp="1"/>
          </p:cNvSpPr>
          <p:nvPr>
            <p:ph type="sldNum" sz="quarter" idx="10"/>
          </p:nvPr>
        </p:nvSpPr>
        <p:spPr/>
        <p:txBody>
          <a:bodyPr/>
          <a:lstStyle/>
          <a:p>
            <a:fld id="{ECB745F3-2D74-4248-9C70-77C51F657C77}" type="slidenum">
              <a:rPr lang="en-US" smtClean="0"/>
              <a:t>14</a:t>
            </a:fld>
            <a:endParaRPr lang="en-US"/>
          </a:p>
        </p:txBody>
      </p:sp>
    </p:spTree>
    <p:extLst>
      <p:ext uri="{BB962C8B-B14F-4D97-AF65-F5344CB8AC3E}">
        <p14:creationId xmlns:p14="http://schemas.microsoft.com/office/powerpoint/2010/main" val="1149986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 word equation</a:t>
            </a:r>
          </a:p>
          <a:p>
            <a:r>
              <a:rPr lang="en-US" dirty="0"/>
              <a:t>Tie case 1 back to slide 4</a:t>
            </a:r>
          </a:p>
        </p:txBody>
      </p:sp>
      <p:sp>
        <p:nvSpPr>
          <p:cNvPr id="4" name="Slide Number Placeholder 3"/>
          <p:cNvSpPr>
            <a:spLocks noGrp="1"/>
          </p:cNvSpPr>
          <p:nvPr>
            <p:ph type="sldNum" sz="quarter" idx="10"/>
          </p:nvPr>
        </p:nvSpPr>
        <p:spPr/>
        <p:txBody>
          <a:bodyPr/>
          <a:lstStyle/>
          <a:p>
            <a:fld id="{ECB745F3-2D74-4248-9C70-77C51F657C77}" type="slidenum">
              <a:rPr lang="en-US" smtClean="0"/>
              <a:t>17</a:t>
            </a:fld>
            <a:endParaRPr lang="en-US"/>
          </a:p>
        </p:txBody>
      </p:sp>
    </p:spTree>
    <p:extLst>
      <p:ext uri="{BB962C8B-B14F-4D97-AF65-F5344CB8AC3E}">
        <p14:creationId xmlns:p14="http://schemas.microsoft.com/office/powerpoint/2010/main" val="2623592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slide 15 (</a:t>
            </a:r>
            <a:r>
              <a:rPr lang="en-US" dirty="0" err="1"/>
              <a:t>sens</a:t>
            </a:r>
            <a:r>
              <a:rPr lang="en-US" dirty="0"/>
              <a:t> vs spec)</a:t>
            </a:r>
          </a:p>
          <a:p>
            <a:r>
              <a:rPr lang="en-US" dirty="0"/>
              <a:t>Color coding</a:t>
            </a:r>
          </a:p>
        </p:txBody>
      </p:sp>
      <p:sp>
        <p:nvSpPr>
          <p:cNvPr id="4" name="Slide Number Placeholder 3"/>
          <p:cNvSpPr>
            <a:spLocks noGrp="1"/>
          </p:cNvSpPr>
          <p:nvPr>
            <p:ph type="sldNum" sz="quarter" idx="10"/>
          </p:nvPr>
        </p:nvSpPr>
        <p:spPr/>
        <p:txBody>
          <a:bodyPr/>
          <a:lstStyle/>
          <a:p>
            <a:fld id="{ECB745F3-2D74-4248-9C70-77C51F657C77}" type="slidenum">
              <a:rPr lang="en-US" smtClean="0"/>
              <a:t>18</a:t>
            </a:fld>
            <a:endParaRPr lang="en-US"/>
          </a:p>
        </p:txBody>
      </p:sp>
    </p:spTree>
    <p:extLst>
      <p:ext uri="{BB962C8B-B14F-4D97-AF65-F5344CB8AC3E}">
        <p14:creationId xmlns:p14="http://schemas.microsoft.com/office/powerpoint/2010/main" val="2416593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B745F3-2D74-4248-9C70-77C51F657C77}" type="slidenum">
              <a:rPr lang="en-US" smtClean="0"/>
              <a:t>20</a:t>
            </a:fld>
            <a:endParaRPr lang="en-US"/>
          </a:p>
        </p:txBody>
      </p:sp>
    </p:spTree>
    <p:extLst>
      <p:ext uri="{BB962C8B-B14F-4D97-AF65-F5344CB8AC3E}">
        <p14:creationId xmlns:p14="http://schemas.microsoft.com/office/powerpoint/2010/main" val="37707304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 name="Picture 5" descr="Slide01 copy.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505712"/>
            <a:ext cx="9144000" cy="5352288"/>
          </a:xfrm>
          <a:prstGeom prst="rect">
            <a:avLst/>
          </a:prstGeom>
        </p:spPr>
      </p:pic>
      <p:pic>
        <p:nvPicPr>
          <p:cNvPr id="7" name="Picture 6" descr="Slide02 copy.png"/>
          <p:cNvPicPr>
            <a:picLocks noChangeAspect="1"/>
          </p:cNvPicPr>
          <p:nvPr userDrawn="1"/>
        </p:nvPicPr>
        <p:blipFill rotWithShape="1">
          <a:blip r:embed="rId3">
            <a:extLst>
              <a:ext uri="{28A0092B-C50C-407E-A947-70E740481C1C}">
                <a14:useLocalDpi xmlns:a14="http://schemas.microsoft.com/office/drawing/2010/main" val="0"/>
              </a:ext>
            </a:extLst>
          </a:blip>
          <a:srcRect l="2037"/>
          <a:stretch/>
        </p:blipFill>
        <p:spPr>
          <a:xfrm flipH="1">
            <a:off x="399389" y="0"/>
            <a:ext cx="8957734" cy="1542288"/>
          </a:xfrm>
          <a:prstGeom prst="rect">
            <a:avLst/>
          </a:prstGeom>
        </p:spPr>
      </p:pic>
      <p:sp>
        <p:nvSpPr>
          <p:cNvPr id="2" name="Title 1"/>
          <p:cNvSpPr>
            <a:spLocks noGrp="1"/>
          </p:cNvSpPr>
          <p:nvPr>
            <p:ph type="ctrTitle"/>
          </p:nvPr>
        </p:nvSpPr>
        <p:spPr>
          <a:xfrm>
            <a:off x="1150958" y="3259987"/>
            <a:ext cx="6842084" cy="720519"/>
          </a:xfrm>
          <a:prstGeom prst="rect">
            <a:avLst/>
          </a:prstGeom>
        </p:spPr>
        <p:txBody>
          <a:bodyPr>
            <a:normAutofit/>
          </a:bodyPr>
          <a:lstStyle>
            <a:lvl1pPr>
              <a:defRPr sz="3600" b="1" i="0">
                <a:latin typeface="Arial"/>
                <a:cs typeface="Arial"/>
              </a:defRPr>
            </a:lvl1pPr>
          </a:lstStyle>
          <a:p>
            <a:r>
              <a:rPr lang="en-US"/>
              <a:t>Click to edit Master title style</a:t>
            </a:r>
            <a:endParaRPr lang="en-US" dirty="0"/>
          </a:p>
        </p:txBody>
      </p:sp>
      <p:sp>
        <p:nvSpPr>
          <p:cNvPr id="3" name="Subtitle 2"/>
          <p:cNvSpPr>
            <a:spLocks noGrp="1"/>
          </p:cNvSpPr>
          <p:nvPr>
            <p:ph type="subTitle" idx="1"/>
          </p:nvPr>
        </p:nvSpPr>
        <p:spPr>
          <a:xfrm>
            <a:off x="1371600" y="4061077"/>
            <a:ext cx="6400800" cy="528083"/>
          </a:xfrm>
          <a:prstGeom prst="rect">
            <a:avLst/>
          </a:prstGeom>
        </p:spPr>
        <p:txBody>
          <a:bodyPr>
            <a:normAutofit/>
          </a:bodyPr>
          <a:lstStyle>
            <a:lvl1pPr marL="0" indent="0" algn="ctr">
              <a:buNone/>
              <a:defRPr sz="2800" b="0" i="0">
                <a:solidFill>
                  <a:schemeClr val="tx1">
                    <a:tint val="75000"/>
                  </a:schemeClr>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9" name="Picture 8" descr="MG Logo.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85523" y="261408"/>
            <a:ext cx="1856698" cy="463127"/>
          </a:xfrm>
          <a:prstGeom prst="rect">
            <a:avLst/>
          </a:prstGeom>
        </p:spPr>
      </p:pic>
    </p:spTree>
    <p:extLst>
      <p:ext uri="{BB962C8B-B14F-4D97-AF65-F5344CB8AC3E}">
        <p14:creationId xmlns:p14="http://schemas.microsoft.com/office/powerpoint/2010/main" val="4203619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extLst>
              <a:ext uri="{28A0092B-C50C-407E-A947-70E740481C1C}">
                <a14:useLocalDpi xmlns:a14="http://schemas.microsoft.com/office/drawing/2010/main" val="0"/>
              </a:ext>
            </a:extLst>
          </a:blip>
          <a:srcRect t="15001"/>
          <a:stretch/>
        </p:blipFill>
        <p:spPr>
          <a:xfrm>
            <a:off x="0" y="1030346"/>
            <a:ext cx="9143999" cy="5825367"/>
          </a:xfrm>
          <a:prstGeom prst="rect">
            <a:avLst/>
          </a:prstGeom>
        </p:spPr>
      </p:pic>
      <p:sp>
        <p:nvSpPr>
          <p:cNvPr id="3" name="Content Placeholder 2"/>
          <p:cNvSpPr>
            <a:spLocks noGrp="1"/>
          </p:cNvSpPr>
          <p:nvPr>
            <p:ph idx="1"/>
          </p:nvPr>
        </p:nvSpPr>
        <p:spPr>
          <a:xfrm>
            <a:off x="457200" y="1606815"/>
            <a:ext cx="8229600" cy="4525963"/>
          </a:xfrm>
          <a:prstGeom prst="rect">
            <a:avLst/>
          </a:prstGeo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600">
                <a:latin typeface="Arial"/>
                <a:cs typeface="Arial"/>
              </a:defRPr>
            </a:lvl4pPr>
            <a:lvl5pPr>
              <a:defRPr sz="1400">
                <a:latin typeface="Arial"/>
                <a:cs typeface="Aria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1"/>
          <p:cNvSpPr>
            <a:spLocks noGrp="1"/>
          </p:cNvSpPr>
          <p:nvPr>
            <p:ph type="ctrTitle" hasCustomPrompt="1"/>
          </p:nvPr>
        </p:nvSpPr>
        <p:spPr>
          <a:xfrm>
            <a:off x="363808" y="904613"/>
            <a:ext cx="7355549" cy="611065"/>
          </a:xfrm>
          <a:prstGeom prst="rect">
            <a:avLst/>
          </a:prstGeom>
        </p:spPr>
        <p:txBody>
          <a:bodyPr>
            <a:normAutofit/>
          </a:bodyPr>
          <a:lstStyle>
            <a:lvl1pPr algn="l">
              <a:defRPr sz="2800" b="1" i="0" baseline="0">
                <a:latin typeface="Arial"/>
                <a:cs typeface="Arial"/>
              </a:defRPr>
            </a:lvl1pPr>
          </a:lstStyle>
          <a:p>
            <a:r>
              <a:rPr lang="pl-PL" dirty="0" err="1"/>
              <a:t>Main</a:t>
            </a:r>
            <a:r>
              <a:rPr lang="pl-PL" dirty="0"/>
              <a:t> </a:t>
            </a:r>
            <a:r>
              <a:rPr lang="pl-PL" dirty="0" err="1"/>
              <a:t>title</a:t>
            </a:r>
            <a:endParaRPr lang="en-US" dirty="0"/>
          </a:p>
        </p:txBody>
      </p:sp>
      <p:sp>
        <p:nvSpPr>
          <p:cNvPr id="12" name="Text Placeholder 4"/>
          <p:cNvSpPr>
            <a:spLocks noGrp="1"/>
          </p:cNvSpPr>
          <p:nvPr>
            <p:ph type="body" sz="quarter" idx="10" hasCustomPrompt="1"/>
          </p:nvPr>
        </p:nvSpPr>
        <p:spPr>
          <a:xfrm>
            <a:off x="363808" y="258591"/>
            <a:ext cx="3355109" cy="233614"/>
          </a:xfrm>
          <a:prstGeom prst="rect">
            <a:avLst/>
          </a:prstGeom>
        </p:spPr>
        <p:txBody>
          <a:bodyPr vert="horz"/>
          <a:lstStyle>
            <a:lvl1pPr marL="0" indent="0" algn="l">
              <a:buNone/>
              <a:defRPr sz="900" b="1" i="0" baseline="0">
                <a:solidFill>
                  <a:schemeClr val="bg1">
                    <a:lumMod val="50000"/>
                  </a:schemeClr>
                </a:solidFill>
                <a:latin typeface="Arial"/>
              </a:defRPr>
            </a:lvl1pPr>
            <a:lvl2pPr>
              <a:defRPr sz="1600"/>
            </a:lvl2pPr>
            <a:lvl3pPr>
              <a:defRPr sz="1400"/>
            </a:lvl3pPr>
            <a:lvl4pPr>
              <a:defRPr sz="1200"/>
            </a:lvl4pPr>
            <a:lvl5pPr>
              <a:defRPr sz="1200"/>
            </a:lvl5pPr>
          </a:lstStyle>
          <a:p>
            <a:pPr lvl="0"/>
            <a:r>
              <a:rPr lang="en-US" dirty="0"/>
              <a:t>TITLE OF PRESENTATION // CHAPTER</a:t>
            </a:r>
          </a:p>
        </p:txBody>
      </p:sp>
      <p:sp>
        <p:nvSpPr>
          <p:cNvPr id="11" name="TextBox 10"/>
          <p:cNvSpPr txBox="1"/>
          <p:nvPr userDrawn="1"/>
        </p:nvSpPr>
        <p:spPr>
          <a:xfrm>
            <a:off x="8641922" y="6490689"/>
            <a:ext cx="436280" cy="307777"/>
          </a:xfrm>
          <a:prstGeom prst="rect">
            <a:avLst/>
          </a:prstGeom>
          <a:noFill/>
        </p:spPr>
        <p:txBody>
          <a:bodyPr wrap="square" rtlCol="0">
            <a:spAutoFit/>
          </a:bodyPr>
          <a:lstStyle/>
          <a:p>
            <a:pPr algn="ctr"/>
            <a:fld id="{F9B4D2DB-002A-284B-B51B-84172054C39E}" type="slidenum">
              <a:rPr lang="en-US" sz="1400" b="1" smtClean="0">
                <a:solidFill>
                  <a:schemeClr val="bg1">
                    <a:lumMod val="50000"/>
                  </a:schemeClr>
                </a:solidFill>
              </a:rPr>
              <a:pPr algn="ctr"/>
              <a:t>‹#›</a:t>
            </a:fld>
            <a:endParaRPr lang="en-US" sz="1400" b="1" dirty="0">
              <a:solidFill>
                <a:schemeClr val="bg1">
                  <a:lumMod val="50000"/>
                </a:schemeClr>
              </a:solidFill>
            </a:endParaRPr>
          </a:p>
        </p:txBody>
      </p:sp>
      <p:sp>
        <p:nvSpPr>
          <p:cNvPr id="13" name="TextBox 12"/>
          <p:cNvSpPr txBox="1"/>
          <p:nvPr userDrawn="1"/>
        </p:nvSpPr>
        <p:spPr>
          <a:xfrm>
            <a:off x="363808" y="6503940"/>
            <a:ext cx="2470966" cy="21544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bg1">
                    <a:lumMod val="50000"/>
                  </a:schemeClr>
                </a:solidFill>
                <a:latin typeface="Arial"/>
              </a:rPr>
              <a:t>CONFIDENTIAL</a:t>
            </a:r>
            <a:r>
              <a:rPr lang="en-US" sz="800" baseline="0" dirty="0">
                <a:solidFill>
                  <a:schemeClr val="bg1">
                    <a:lumMod val="50000"/>
                  </a:schemeClr>
                </a:solidFill>
                <a:latin typeface="Arial"/>
              </a:rPr>
              <a:t> </a:t>
            </a:r>
            <a:r>
              <a:rPr lang="en-US" sz="800" dirty="0">
                <a:solidFill>
                  <a:schemeClr val="bg1">
                    <a:lumMod val="50000"/>
                  </a:schemeClr>
                </a:solidFill>
                <a:latin typeface="Arial"/>
              </a:rPr>
              <a:t>–</a:t>
            </a:r>
            <a:r>
              <a:rPr lang="en-US" sz="800" baseline="0" dirty="0">
                <a:solidFill>
                  <a:schemeClr val="bg1">
                    <a:lumMod val="50000"/>
                  </a:schemeClr>
                </a:solidFill>
                <a:latin typeface="Arial"/>
              </a:rPr>
              <a:t> </a:t>
            </a:r>
            <a:r>
              <a:rPr lang="en-US" sz="800" dirty="0">
                <a:solidFill>
                  <a:schemeClr val="bg1">
                    <a:lumMod val="50000"/>
                  </a:schemeClr>
                </a:solidFill>
                <a:latin typeface="Arial"/>
              </a:rPr>
              <a:t> FOR INTERNAL USE ONLY</a:t>
            </a:r>
            <a:endParaRPr lang="en-US" sz="800" dirty="0">
              <a:solidFill>
                <a:schemeClr val="tx2"/>
              </a:solidFill>
              <a:latin typeface="Arial"/>
            </a:endParaRPr>
          </a:p>
        </p:txBody>
      </p:sp>
      <p:pic>
        <p:nvPicPr>
          <p:cNvPr id="16" name="Picture 15" descr="MG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85523" y="261408"/>
            <a:ext cx="1856698" cy="463127"/>
          </a:xfrm>
          <a:prstGeom prst="rect">
            <a:avLst/>
          </a:prstGeom>
        </p:spPr>
      </p:pic>
    </p:spTree>
    <p:extLst>
      <p:ext uri="{BB962C8B-B14F-4D97-AF65-F5344CB8AC3E}">
        <p14:creationId xmlns:p14="http://schemas.microsoft.com/office/powerpoint/2010/main" val="342379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extLst>
              <a:ext uri="{28A0092B-C50C-407E-A947-70E740481C1C}">
                <a14:useLocalDpi xmlns:a14="http://schemas.microsoft.com/office/drawing/2010/main" val="0"/>
              </a:ext>
            </a:extLst>
          </a:blip>
          <a:srcRect t="10805"/>
          <a:stretch/>
        </p:blipFill>
        <p:spPr>
          <a:xfrm>
            <a:off x="0" y="742808"/>
            <a:ext cx="9143999" cy="6112905"/>
          </a:xfrm>
          <a:prstGeom prst="rect">
            <a:avLst/>
          </a:prstGeom>
        </p:spPr>
      </p:pic>
      <p:sp>
        <p:nvSpPr>
          <p:cNvPr id="8" name="Title 1"/>
          <p:cNvSpPr>
            <a:spLocks noGrp="1"/>
          </p:cNvSpPr>
          <p:nvPr>
            <p:ph type="ctrTitle" hasCustomPrompt="1"/>
          </p:nvPr>
        </p:nvSpPr>
        <p:spPr>
          <a:xfrm>
            <a:off x="2202696" y="2123054"/>
            <a:ext cx="4914724" cy="787506"/>
          </a:xfrm>
          <a:prstGeom prst="rect">
            <a:avLst/>
          </a:prstGeom>
        </p:spPr>
        <p:txBody>
          <a:bodyPr>
            <a:normAutofit/>
          </a:bodyPr>
          <a:lstStyle>
            <a:lvl1pPr>
              <a:defRPr sz="2400" b="1" i="0" baseline="0">
                <a:latin typeface="Arial"/>
                <a:cs typeface="Arial"/>
              </a:defRPr>
            </a:lvl1pPr>
          </a:lstStyle>
          <a:p>
            <a:r>
              <a:rPr lang="pl-PL" dirty="0" err="1"/>
              <a:t>Sub-Chapter</a:t>
            </a:r>
            <a:r>
              <a:rPr lang="pl-PL" dirty="0"/>
              <a:t> </a:t>
            </a:r>
            <a:r>
              <a:rPr lang="pl-PL" dirty="0" err="1"/>
              <a:t>Slide</a:t>
            </a:r>
            <a:endParaRPr lang="en-US" dirty="0"/>
          </a:p>
        </p:txBody>
      </p:sp>
      <p:sp>
        <p:nvSpPr>
          <p:cNvPr id="9" name="Subtitle 2"/>
          <p:cNvSpPr>
            <a:spLocks noGrp="1"/>
          </p:cNvSpPr>
          <p:nvPr>
            <p:ph type="subTitle" idx="1" hasCustomPrompt="1"/>
          </p:nvPr>
        </p:nvSpPr>
        <p:spPr>
          <a:xfrm>
            <a:off x="2202696" y="2793983"/>
            <a:ext cx="4914724" cy="592847"/>
          </a:xfrm>
          <a:prstGeom prst="rect">
            <a:avLst/>
          </a:prstGeom>
        </p:spPr>
        <p:txBody>
          <a:bodyPr>
            <a:normAutofit/>
          </a:bodyPr>
          <a:lstStyle>
            <a:lvl1pPr marL="0" indent="0" algn="ctr">
              <a:buNone/>
              <a:defRPr sz="1800" b="0" i="0">
                <a:solidFill>
                  <a:schemeClr val="tx1">
                    <a:tint val="75000"/>
                  </a:schemeClr>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dirty="0" err="1"/>
              <a:t>Click</a:t>
            </a:r>
            <a:r>
              <a:rPr lang="pl-PL" dirty="0"/>
              <a:t> to </a:t>
            </a:r>
            <a:r>
              <a:rPr lang="pl-PL" dirty="0" err="1"/>
              <a:t>edit</a:t>
            </a:r>
            <a:r>
              <a:rPr lang="pl-PL" dirty="0"/>
              <a:t> Master </a:t>
            </a:r>
            <a:r>
              <a:rPr lang="pl-PL" dirty="0" err="1"/>
              <a:t>Sub-Chapter</a:t>
            </a:r>
            <a:r>
              <a:rPr lang="pl-PL" dirty="0"/>
              <a:t> style</a:t>
            </a:r>
            <a:endParaRPr lang="en-US" dirty="0"/>
          </a:p>
        </p:txBody>
      </p:sp>
      <p:sp>
        <p:nvSpPr>
          <p:cNvPr id="13" name="TextBox 12"/>
          <p:cNvSpPr txBox="1"/>
          <p:nvPr userDrawn="1"/>
        </p:nvSpPr>
        <p:spPr>
          <a:xfrm>
            <a:off x="8641922" y="6490689"/>
            <a:ext cx="436280" cy="307777"/>
          </a:xfrm>
          <a:prstGeom prst="rect">
            <a:avLst/>
          </a:prstGeom>
          <a:noFill/>
        </p:spPr>
        <p:txBody>
          <a:bodyPr wrap="square" rtlCol="0">
            <a:spAutoFit/>
          </a:bodyPr>
          <a:lstStyle/>
          <a:p>
            <a:pPr algn="ctr"/>
            <a:fld id="{F9B4D2DB-002A-284B-B51B-84172054C39E}" type="slidenum">
              <a:rPr lang="en-US" sz="1400" b="1" smtClean="0">
                <a:solidFill>
                  <a:schemeClr val="bg1">
                    <a:lumMod val="50000"/>
                  </a:schemeClr>
                </a:solidFill>
              </a:rPr>
              <a:pPr algn="ctr"/>
              <a:t>‹#›</a:t>
            </a:fld>
            <a:endParaRPr lang="en-US" sz="1400" b="1" dirty="0">
              <a:solidFill>
                <a:schemeClr val="bg1">
                  <a:lumMod val="50000"/>
                </a:schemeClr>
              </a:solidFill>
            </a:endParaRPr>
          </a:p>
        </p:txBody>
      </p:sp>
      <p:sp>
        <p:nvSpPr>
          <p:cNvPr id="12" name="TextBox 11"/>
          <p:cNvSpPr txBox="1"/>
          <p:nvPr userDrawn="1"/>
        </p:nvSpPr>
        <p:spPr>
          <a:xfrm>
            <a:off x="363808" y="6503940"/>
            <a:ext cx="2470966" cy="21544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bg1">
                    <a:lumMod val="50000"/>
                  </a:schemeClr>
                </a:solidFill>
                <a:latin typeface="Arial"/>
              </a:rPr>
              <a:t>CONFIDENTIAL</a:t>
            </a:r>
            <a:r>
              <a:rPr lang="en-US" sz="800" baseline="0" dirty="0">
                <a:solidFill>
                  <a:schemeClr val="bg1">
                    <a:lumMod val="50000"/>
                  </a:schemeClr>
                </a:solidFill>
                <a:latin typeface="Arial"/>
              </a:rPr>
              <a:t> </a:t>
            </a:r>
            <a:r>
              <a:rPr lang="en-US" sz="800" dirty="0">
                <a:solidFill>
                  <a:schemeClr val="bg1">
                    <a:lumMod val="50000"/>
                  </a:schemeClr>
                </a:solidFill>
                <a:latin typeface="Arial"/>
              </a:rPr>
              <a:t>–</a:t>
            </a:r>
            <a:r>
              <a:rPr lang="en-US" sz="800" baseline="0" dirty="0">
                <a:solidFill>
                  <a:schemeClr val="bg1">
                    <a:lumMod val="50000"/>
                  </a:schemeClr>
                </a:solidFill>
                <a:latin typeface="Arial"/>
              </a:rPr>
              <a:t> </a:t>
            </a:r>
            <a:r>
              <a:rPr lang="en-US" sz="800" dirty="0">
                <a:solidFill>
                  <a:schemeClr val="bg1">
                    <a:lumMod val="50000"/>
                  </a:schemeClr>
                </a:solidFill>
                <a:latin typeface="Arial"/>
              </a:rPr>
              <a:t> FOR INTERNAL USE ONLY</a:t>
            </a:r>
            <a:endParaRPr lang="en-US" sz="800" dirty="0">
              <a:solidFill>
                <a:schemeClr val="tx2"/>
              </a:solidFill>
              <a:latin typeface="Arial"/>
            </a:endParaRPr>
          </a:p>
        </p:txBody>
      </p:sp>
      <p:sp>
        <p:nvSpPr>
          <p:cNvPr id="11" name="Text Placeholder 4"/>
          <p:cNvSpPr>
            <a:spLocks noGrp="1"/>
          </p:cNvSpPr>
          <p:nvPr>
            <p:ph type="body" sz="quarter" idx="10" hasCustomPrompt="1"/>
          </p:nvPr>
        </p:nvSpPr>
        <p:spPr>
          <a:xfrm>
            <a:off x="363808" y="258591"/>
            <a:ext cx="3355109" cy="233614"/>
          </a:xfrm>
          <a:prstGeom prst="rect">
            <a:avLst/>
          </a:prstGeom>
        </p:spPr>
        <p:txBody>
          <a:bodyPr vert="horz"/>
          <a:lstStyle>
            <a:lvl1pPr marL="0" indent="0" algn="l">
              <a:buNone/>
              <a:defRPr sz="900" b="1" i="0" baseline="0">
                <a:solidFill>
                  <a:schemeClr val="bg1">
                    <a:lumMod val="50000"/>
                  </a:schemeClr>
                </a:solidFill>
                <a:latin typeface="Arial"/>
              </a:defRPr>
            </a:lvl1pPr>
            <a:lvl2pPr>
              <a:defRPr sz="1600"/>
            </a:lvl2pPr>
            <a:lvl3pPr>
              <a:defRPr sz="1400"/>
            </a:lvl3pPr>
            <a:lvl4pPr>
              <a:defRPr sz="1200"/>
            </a:lvl4pPr>
            <a:lvl5pPr>
              <a:defRPr sz="1200"/>
            </a:lvl5pPr>
          </a:lstStyle>
          <a:p>
            <a:pPr lvl="0"/>
            <a:r>
              <a:rPr lang="en-US" dirty="0"/>
              <a:t>TITLE OF PRESENTATION // CHAPTER</a:t>
            </a:r>
          </a:p>
        </p:txBody>
      </p:sp>
      <p:pic>
        <p:nvPicPr>
          <p:cNvPr id="16" name="Picture 15" descr="MG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85523" y="261408"/>
            <a:ext cx="1856698" cy="463127"/>
          </a:xfrm>
          <a:prstGeom prst="rect">
            <a:avLst/>
          </a:prstGeom>
        </p:spPr>
      </p:pic>
    </p:spTree>
    <p:extLst>
      <p:ext uri="{BB962C8B-B14F-4D97-AF65-F5344CB8AC3E}">
        <p14:creationId xmlns:p14="http://schemas.microsoft.com/office/powerpoint/2010/main" val="281215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0339"/>
          <a:stretch/>
        </p:blipFill>
        <p:spPr>
          <a:xfrm>
            <a:off x="0" y="710860"/>
            <a:ext cx="9143999" cy="6144854"/>
          </a:xfrm>
          <a:prstGeom prst="rect">
            <a:avLst/>
          </a:prstGeom>
        </p:spPr>
      </p:pic>
      <p:sp>
        <p:nvSpPr>
          <p:cNvPr id="3" name="Content Placeholder 2"/>
          <p:cNvSpPr>
            <a:spLocks noGrp="1"/>
          </p:cNvSpPr>
          <p:nvPr>
            <p:ph sz="half" idx="1"/>
          </p:nvPr>
        </p:nvSpPr>
        <p:spPr>
          <a:xfrm>
            <a:off x="457200" y="1600200"/>
            <a:ext cx="4038600" cy="4525963"/>
          </a:xfrm>
          <a:prstGeom prst="rect">
            <a:avLst/>
          </a:prstGeo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600">
                <a:latin typeface="Arial"/>
                <a:cs typeface="Arial"/>
              </a:defRPr>
            </a:lvl4pPr>
            <a:lvl5pPr>
              <a:defRPr sz="14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600">
                <a:latin typeface="Arial"/>
                <a:cs typeface="Arial"/>
              </a:defRPr>
            </a:lvl4pPr>
            <a:lvl5pPr>
              <a:defRPr sz="14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Box 9"/>
          <p:cNvSpPr txBox="1"/>
          <p:nvPr userDrawn="1"/>
        </p:nvSpPr>
        <p:spPr>
          <a:xfrm>
            <a:off x="8641922" y="6490689"/>
            <a:ext cx="436280" cy="307777"/>
          </a:xfrm>
          <a:prstGeom prst="rect">
            <a:avLst/>
          </a:prstGeom>
          <a:noFill/>
        </p:spPr>
        <p:txBody>
          <a:bodyPr wrap="square" rtlCol="0">
            <a:spAutoFit/>
          </a:bodyPr>
          <a:lstStyle/>
          <a:p>
            <a:pPr algn="ctr"/>
            <a:fld id="{F9B4D2DB-002A-284B-B51B-84172054C39E}" type="slidenum">
              <a:rPr lang="en-US" sz="1400" b="1" smtClean="0">
                <a:solidFill>
                  <a:schemeClr val="bg1">
                    <a:lumMod val="50000"/>
                  </a:schemeClr>
                </a:solidFill>
              </a:rPr>
              <a:pPr algn="ctr"/>
              <a:t>‹#›</a:t>
            </a:fld>
            <a:endParaRPr lang="en-US" sz="1400" b="1" dirty="0">
              <a:solidFill>
                <a:schemeClr val="bg1">
                  <a:lumMod val="50000"/>
                </a:schemeClr>
              </a:solidFill>
            </a:endParaRPr>
          </a:p>
        </p:txBody>
      </p:sp>
      <p:sp>
        <p:nvSpPr>
          <p:cNvPr id="13" name="TextBox 12"/>
          <p:cNvSpPr txBox="1"/>
          <p:nvPr userDrawn="1"/>
        </p:nvSpPr>
        <p:spPr>
          <a:xfrm>
            <a:off x="363808" y="6503940"/>
            <a:ext cx="2470966" cy="21544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bg1">
                    <a:lumMod val="50000"/>
                  </a:schemeClr>
                </a:solidFill>
                <a:latin typeface="Arial"/>
              </a:rPr>
              <a:t>CONFIDENTIAL</a:t>
            </a:r>
            <a:r>
              <a:rPr lang="en-US" sz="800" baseline="0" dirty="0">
                <a:solidFill>
                  <a:schemeClr val="bg1">
                    <a:lumMod val="50000"/>
                  </a:schemeClr>
                </a:solidFill>
                <a:latin typeface="Arial"/>
              </a:rPr>
              <a:t> </a:t>
            </a:r>
            <a:r>
              <a:rPr lang="en-US" sz="800" dirty="0">
                <a:solidFill>
                  <a:schemeClr val="bg1">
                    <a:lumMod val="50000"/>
                  </a:schemeClr>
                </a:solidFill>
                <a:latin typeface="Arial"/>
              </a:rPr>
              <a:t>–</a:t>
            </a:r>
            <a:r>
              <a:rPr lang="en-US" sz="800" baseline="0" dirty="0">
                <a:solidFill>
                  <a:schemeClr val="bg1">
                    <a:lumMod val="50000"/>
                  </a:schemeClr>
                </a:solidFill>
                <a:latin typeface="Arial"/>
              </a:rPr>
              <a:t> </a:t>
            </a:r>
            <a:r>
              <a:rPr lang="en-US" sz="800" dirty="0">
                <a:solidFill>
                  <a:schemeClr val="bg1">
                    <a:lumMod val="50000"/>
                  </a:schemeClr>
                </a:solidFill>
                <a:latin typeface="Arial"/>
              </a:rPr>
              <a:t> FOR INTERNAL USE ONLY</a:t>
            </a:r>
            <a:endParaRPr lang="en-US" sz="800" dirty="0">
              <a:solidFill>
                <a:schemeClr val="tx2"/>
              </a:solidFill>
              <a:latin typeface="Arial"/>
            </a:endParaRPr>
          </a:p>
        </p:txBody>
      </p:sp>
      <p:sp>
        <p:nvSpPr>
          <p:cNvPr id="14" name="Title 1"/>
          <p:cNvSpPr>
            <a:spLocks noGrp="1"/>
          </p:cNvSpPr>
          <p:nvPr>
            <p:ph type="ctrTitle" hasCustomPrompt="1"/>
          </p:nvPr>
        </p:nvSpPr>
        <p:spPr>
          <a:xfrm>
            <a:off x="363808" y="904613"/>
            <a:ext cx="7355549" cy="611065"/>
          </a:xfrm>
          <a:prstGeom prst="rect">
            <a:avLst/>
          </a:prstGeom>
        </p:spPr>
        <p:txBody>
          <a:bodyPr>
            <a:normAutofit/>
          </a:bodyPr>
          <a:lstStyle>
            <a:lvl1pPr algn="l">
              <a:defRPr sz="2800" b="1" i="0" baseline="0">
                <a:latin typeface="Arial"/>
                <a:cs typeface="Arial"/>
              </a:defRPr>
            </a:lvl1pPr>
          </a:lstStyle>
          <a:p>
            <a:r>
              <a:rPr lang="pl-PL" dirty="0" err="1"/>
              <a:t>Main</a:t>
            </a:r>
            <a:r>
              <a:rPr lang="pl-PL" dirty="0"/>
              <a:t> </a:t>
            </a:r>
            <a:r>
              <a:rPr lang="pl-PL" dirty="0" err="1"/>
              <a:t>title</a:t>
            </a:r>
            <a:endParaRPr lang="en-US" dirty="0"/>
          </a:p>
        </p:txBody>
      </p:sp>
      <p:sp>
        <p:nvSpPr>
          <p:cNvPr id="11" name="Text Placeholder 4"/>
          <p:cNvSpPr>
            <a:spLocks noGrp="1"/>
          </p:cNvSpPr>
          <p:nvPr>
            <p:ph type="body" sz="quarter" idx="10" hasCustomPrompt="1"/>
          </p:nvPr>
        </p:nvSpPr>
        <p:spPr>
          <a:xfrm>
            <a:off x="363808" y="258591"/>
            <a:ext cx="3355109" cy="233614"/>
          </a:xfrm>
          <a:prstGeom prst="rect">
            <a:avLst/>
          </a:prstGeom>
        </p:spPr>
        <p:txBody>
          <a:bodyPr vert="horz"/>
          <a:lstStyle>
            <a:lvl1pPr marL="0" indent="0" algn="l">
              <a:buNone/>
              <a:defRPr sz="900" b="1" i="0" baseline="0">
                <a:solidFill>
                  <a:schemeClr val="bg1">
                    <a:lumMod val="50000"/>
                  </a:schemeClr>
                </a:solidFill>
                <a:latin typeface="Arial"/>
              </a:defRPr>
            </a:lvl1pPr>
            <a:lvl2pPr>
              <a:defRPr sz="1600"/>
            </a:lvl2pPr>
            <a:lvl3pPr>
              <a:defRPr sz="1400"/>
            </a:lvl3pPr>
            <a:lvl4pPr>
              <a:defRPr sz="1200"/>
            </a:lvl4pPr>
            <a:lvl5pPr>
              <a:defRPr sz="1200"/>
            </a:lvl5pPr>
          </a:lstStyle>
          <a:p>
            <a:pPr lvl="0"/>
            <a:r>
              <a:rPr lang="en-US" dirty="0"/>
              <a:t>TITLE OF PRESENTATION // CHAPTER</a:t>
            </a:r>
          </a:p>
        </p:txBody>
      </p:sp>
      <p:pic>
        <p:nvPicPr>
          <p:cNvPr id="16" name="Picture 15" descr="MG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85523" y="261408"/>
            <a:ext cx="1856698" cy="463127"/>
          </a:xfrm>
          <a:prstGeom prst="rect">
            <a:avLst/>
          </a:prstGeom>
        </p:spPr>
      </p:pic>
    </p:spTree>
    <p:extLst>
      <p:ext uri="{BB962C8B-B14F-4D97-AF65-F5344CB8AC3E}">
        <p14:creationId xmlns:p14="http://schemas.microsoft.com/office/powerpoint/2010/main" val="4103710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t="10339"/>
          <a:stretch/>
        </p:blipFill>
        <p:spPr>
          <a:xfrm>
            <a:off x="0" y="710860"/>
            <a:ext cx="9143999" cy="6144854"/>
          </a:xfrm>
          <a:prstGeom prst="rect">
            <a:avLst/>
          </a:prstGeom>
        </p:spPr>
      </p:pic>
      <p:sp>
        <p:nvSpPr>
          <p:cNvPr id="16" name="TextBox 15"/>
          <p:cNvSpPr txBox="1"/>
          <p:nvPr userDrawn="1"/>
        </p:nvSpPr>
        <p:spPr>
          <a:xfrm>
            <a:off x="8671877" y="535807"/>
            <a:ext cx="397690" cy="307777"/>
          </a:xfrm>
          <a:prstGeom prst="rect">
            <a:avLst/>
          </a:prstGeom>
          <a:noFill/>
        </p:spPr>
        <p:txBody>
          <a:bodyPr wrap="none" rtlCol="0">
            <a:spAutoFit/>
          </a:bodyPr>
          <a:lstStyle/>
          <a:p>
            <a:pPr algn="r"/>
            <a:fld id="{F9B4D2DB-002A-284B-B51B-84172054C39E}" type="slidenum">
              <a:rPr lang="en-US" sz="1400" b="1" smtClean="0">
                <a:solidFill>
                  <a:schemeClr val="bg1"/>
                </a:solidFill>
              </a:rPr>
              <a:pPr algn="r"/>
              <a:t>‹#›</a:t>
            </a:fld>
            <a:endParaRPr lang="en-US" sz="1400" b="1" dirty="0">
              <a:solidFill>
                <a:schemeClr val="bg1"/>
              </a:solidFill>
            </a:endParaRPr>
          </a:p>
        </p:txBody>
      </p:sp>
      <p:sp>
        <p:nvSpPr>
          <p:cNvPr id="18" name="Content Placeholder 2"/>
          <p:cNvSpPr>
            <a:spLocks noGrp="1"/>
          </p:cNvSpPr>
          <p:nvPr>
            <p:ph sz="half" idx="10"/>
          </p:nvPr>
        </p:nvSpPr>
        <p:spPr>
          <a:xfrm>
            <a:off x="457200" y="2559361"/>
            <a:ext cx="4038600" cy="3360977"/>
          </a:xfrm>
          <a:prstGeom prst="rect">
            <a:avLst/>
          </a:prstGeo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600">
                <a:latin typeface="Arial"/>
                <a:cs typeface="Arial"/>
              </a:defRPr>
            </a:lvl4pPr>
            <a:lvl5pPr>
              <a:defRPr sz="14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3"/>
          <p:cNvSpPr>
            <a:spLocks noGrp="1"/>
          </p:cNvSpPr>
          <p:nvPr>
            <p:ph sz="half" idx="2"/>
          </p:nvPr>
        </p:nvSpPr>
        <p:spPr>
          <a:xfrm>
            <a:off x="4648200" y="2559361"/>
            <a:ext cx="4038600" cy="3360977"/>
          </a:xfrm>
          <a:prstGeom prst="rect">
            <a:avLst/>
          </a:prstGeo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600">
                <a:latin typeface="Arial"/>
                <a:cs typeface="Arial"/>
              </a:defRPr>
            </a:lvl4pPr>
            <a:lvl5pPr>
              <a:defRPr sz="14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p:cNvSpPr>
            <a:spLocks noGrp="1"/>
          </p:cNvSpPr>
          <p:nvPr>
            <p:ph type="body" idx="1"/>
          </p:nvPr>
        </p:nvSpPr>
        <p:spPr>
          <a:xfrm>
            <a:off x="457200" y="1819554"/>
            <a:ext cx="4040188" cy="639762"/>
          </a:xfrm>
          <a:prstGeom prst="rect">
            <a:avLst/>
          </a:prstGeom>
        </p:spPr>
        <p:txBody>
          <a:bodyPr anchor="b"/>
          <a:lstStyle>
            <a:lvl1pPr marL="0" indent="0">
              <a:buNone/>
              <a:defRPr sz="2000" b="1" i="0">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5" name="Text Placeholder 4"/>
          <p:cNvSpPr>
            <a:spLocks noGrp="1"/>
          </p:cNvSpPr>
          <p:nvPr>
            <p:ph type="body" sz="quarter" idx="3"/>
          </p:nvPr>
        </p:nvSpPr>
        <p:spPr>
          <a:xfrm>
            <a:off x="4645025" y="1819554"/>
            <a:ext cx="4041775" cy="639762"/>
          </a:xfrm>
          <a:prstGeom prst="rect">
            <a:avLst/>
          </a:prstGeom>
        </p:spPr>
        <p:txBody>
          <a:bodyPr anchor="b"/>
          <a:lstStyle>
            <a:lvl1pPr marL="0" indent="0">
              <a:buNone/>
              <a:defRPr sz="2000" b="1" i="0">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7" name="TextBox 16"/>
          <p:cNvSpPr txBox="1"/>
          <p:nvPr userDrawn="1"/>
        </p:nvSpPr>
        <p:spPr>
          <a:xfrm>
            <a:off x="8641922" y="6490689"/>
            <a:ext cx="436280" cy="307777"/>
          </a:xfrm>
          <a:prstGeom prst="rect">
            <a:avLst/>
          </a:prstGeom>
          <a:noFill/>
        </p:spPr>
        <p:txBody>
          <a:bodyPr wrap="square" rtlCol="0">
            <a:spAutoFit/>
          </a:bodyPr>
          <a:lstStyle/>
          <a:p>
            <a:pPr algn="ctr"/>
            <a:fld id="{F9B4D2DB-002A-284B-B51B-84172054C39E}" type="slidenum">
              <a:rPr lang="en-US" sz="1400" b="1" smtClean="0">
                <a:solidFill>
                  <a:schemeClr val="bg1">
                    <a:lumMod val="50000"/>
                  </a:schemeClr>
                </a:solidFill>
              </a:rPr>
              <a:pPr algn="ctr"/>
              <a:t>‹#›</a:t>
            </a:fld>
            <a:endParaRPr lang="en-US" sz="1400" b="1" dirty="0">
              <a:solidFill>
                <a:schemeClr val="bg1">
                  <a:lumMod val="50000"/>
                </a:schemeClr>
              </a:solidFill>
            </a:endParaRPr>
          </a:p>
        </p:txBody>
      </p:sp>
      <p:sp>
        <p:nvSpPr>
          <p:cNvPr id="21" name="Title 1"/>
          <p:cNvSpPr>
            <a:spLocks noGrp="1"/>
          </p:cNvSpPr>
          <p:nvPr>
            <p:ph type="ctrTitle" hasCustomPrompt="1"/>
          </p:nvPr>
        </p:nvSpPr>
        <p:spPr>
          <a:xfrm>
            <a:off x="363808" y="904613"/>
            <a:ext cx="7355549" cy="611065"/>
          </a:xfrm>
          <a:prstGeom prst="rect">
            <a:avLst/>
          </a:prstGeom>
        </p:spPr>
        <p:txBody>
          <a:bodyPr>
            <a:normAutofit/>
          </a:bodyPr>
          <a:lstStyle>
            <a:lvl1pPr algn="l">
              <a:defRPr sz="2800" b="1" i="0" baseline="0">
                <a:latin typeface="Arial"/>
                <a:cs typeface="Arial"/>
              </a:defRPr>
            </a:lvl1pPr>
          </a:lstStyle>
          <a:p>
            <a:r>
              <a:rPr lang="pl-PL" dirty="0" err="1"/>
              <a:t>Main</a:t>
            </a:r>
            <a:r>
              <a:rPr lang="pl-PL" dirty="0"/>
              <a:t> </a:t>
            </a:r>
            <a:r>
              <a:rPr lang="pl-PL" dirty="0" err="1"/>
              <a:t>title</a:t>
            </a:r>
            <a:endParaRPr lang="en-US" dirty="0"/>
          </a:p>
        </p:txBody>
      </p:sp>
      <p:sp>
        <p:nvSpPr>
          <p:cNvPr id="23" name="TextBox 22"/>
          <p:cNvSpPr txBox="1"/>
          <p:nvPr userDrawn="1"/>
        </p:nvSpPr>
        <p:spPr>
          <a:xfrm>
            <a:off x="363808" y="6503940"/>
            <a:ext cx="2470966" cy="21544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bg1">
                    <a:lumMod val="50000"/>
                  </a:schemeClr>
                </a:solidFill>
                <a:latin typeface="Arial"/>
              </a:rPr>
              <a:t>CONFIDENTIAL</a:t>
            </a:r>
            <a:r>
              <a:rPr lang="en-US" sz="800" baseline="0" dirty="0">
                <a:solidFill>
                  <a:schemeClr val="bg1">
                    <a:lumMod val="50000"/>
                  </a:schemeClr>
                </a:solidFill>
                <a:latin typeface="Arial"/>
              </a:rPr>
              <a:t> </a:t>
            </a:r>
            <a:r>
              <a:rPr lang="en-US" sz="800" dirty="0">
                <a:solidFill>
                  <a:schemeClr val="bg1">
                    <a:lumMod val="50000"/>
                  </a:schemeClr>
                </a:solidFill>
                <a:latin typeface="Arial"/>
              </a:rPr>
              <a:t>–</a:t>
            </a:r>
            <a:r>
              <a:rPr lang="en-US" sz="800" baseline="0" dirty="0">
                <a:solidFill>
                  <a:schemeClr val="bg1">
                    <a:lumMod val="50000"/>
                  </a:schemeClr>
                </a:solidFill>
                <a:latin typeface="Arial"/>
              </a:rPr>
              <a:t> </a:t>
            </a:r>
            <a:r>
              <a:rPr lang="en-US" sz="800" dirty="0">
                <a:solidFill>
                  <a:schemeClr val="bg1">
                    <a:lumMod val="50000"/>
                  </a:schemeClr>
                </a:solidFill>
                <a:latin typeface="Arial"/>
              </a:rPr>
              <a:t> FOR INTERNAL USE ONLY</a:t>
            </a:r>
            <a:endParaRPr lang="en-US" sz="800" dirty="0">
              <a:solidFill>
                <a:schemeClr val="tx2"/>
              </a:solidFill>
              <a:latin typeface="Arial"/>
            </a:endParaRPr>
          </a:p>
        </p:txBody>
      </p:sp>
      <p:sp>
        <p:nvSpPr>
          <p:cNvPr id="13" name="Text Placeholder 4"/>
          <p:cNvSpPr>
            <a:spLocks noGrp="1"/>
          </p:cNvSpPr>
          <p:nvPr>
            <p:ph type="body" sz="quarter" idx="11" hasCustomPrompt="1"/>
          </p:nvPr>
        </p:nvSpPr>
        <p:spPr>
          <a:xfrm>
            <a:off x="363808" y="258591"/>
            <a:ext cx="3355109" cy="233614"/>
          </a:xfrm>
          <a:prstGeom prst="rect">
            <a:avLst/>
          </a:prstGeom>
        </p:spPr>
        <p:txBody>
          <a:bodyPr vert="horz"/>
          <a:lstStyle>
            <a:lvl1pPr marL="0" indent="0" algn="l">
              <a:buNone/>
              <a:defRPr sz="900" b="1" i="0" baseline="0">
                <a:solidFill>
                  <a:schemeClr val="bg1">
                    <a:lumMod val="50000"/>
                  </a:schemeClr>
                </a:solidFill>
                <a:latin typeface="Arial"/>
              </a:defRPr>
            </a:lvl1pPr>
            <a:lvl2pPr>
              <a:defRPr sz="1600"/>
            </a:lvl2pPr>
            <a:lvl3pPr>
              <a:defRPr sz="1400"/>
            </a:lvl3pPr>
            <a:lvl4pPr>
              <a:defRPr sz="1200"/>
            </a:lvl4pPr>
            <a:lvl5pPr>
              <a:defRPr sz="1200"/>
            </a:lvl5pPr>
          </a:lstStyle>
          <a:p>
            <a:pPr lvl="0"/>
            <a:r>
              <a:rPr lang="en-US" dirty="0"/>
              <a:t>TITLE OF PRESENTATION // CHAPTER</a:t>
            </a:r>
          </a:p>
        </p:txBody>
      </p:sp>
      <p:pic>
        <p:nvPicPr>
          <p:cNvPr id="15" name="Picture 14" descr="MG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85523" y="261408"/>
            <a:ext cx="1856698" cy="463127"/>
          </a:xfrm>
          <a:prstGeom prst="rect">
            <a:avLst/>
          </a:prstGeom>
        </p:spPr>
      </p:pic>
    </p:spTree>
    <p:extLst>
      <p:ext uri="{BB962C8B-B14F-4D97-AF65-F5344CB8AC3E}">
        <p14:creationId xmlns:p14="http://schemas.microsoft.com/office/powerpoint/2010/main" val="1753959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Picture Slide">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10805"/>
          <a:stretch/>
        </p:blipFill>
        <p:spPr>
          <a:xfrm>
            <a:off x="0" y="742808"/>
            <a:ext cx="9143999" cy="6112905"/>
          </a:xfrm>
          <a:prstGeom prst="rect">
            <a:avLst/>
          </a:prstGeom>
        </p:spPr>
      </p:pic>
      <p:sp>
        <p:nvSpPr>
          <p:cNvPr id="19" name="Content Placeholder 3"/>
          <p:cNvSpPr>
            <a:spLocks noGrp="1"/>
          </p:cNvSpPr>
          <p:nvPr>
            <p:ph sz="half" idx="2"/>
          </p:nvPr>
        </p:nvSpPr>
        <p:spPr>
          <a:xfrm>
            <a:off x="4648200" y="2559361"/>
            <a:ext cx="4038600" cy="3360977"/>
          </a:xfrm>
          <a:prstGeom prst="rect">
            <a:avLst/>
          </a:prstGeo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600">
                <a:latin typeface="Arial"/>
                <a:cs typeface="Arial"/>
              </a:defRPr>
            </a:lvl4pPr>
            <a:lvl5pPr>
              <a:defRPr sz="14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819554"/>
            <a:ext cx="4041775" cy="639762"/>
          </a:xfrm>
          <a:prstGeom prst="rect">
            <a:avLst/>
          </a:prstGeom>
        </p:spPr>
        <p:txBody>
          <a:bodyPr anchor="b"/>
          <a:lstStyle>
            <a:lvl1pPr marL="0" indent="0">
              <a:buNone/>
              <a:defRPr sz="2000" b="1" i="0">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icture Placeholder 3"/>
          <p:cNvSpPr>
            <a:spLocks noGrp="1"/>
          </p:cNvSpPr>
          <p:nvPr>
            <p:ph type="pic" sz="quarter" idx="10"/>
          </p:nvPr>
        </p:nvSpPr>
        <p:spPr>
          <a:xfrm>
            <a:off x="363538" y="1819275"/>
            <a:ext cx="4194175" cy="4100513"/>
          </a:xfrm>
          <a:prstGeom prst="rect">
            <a:avLst/>
          </a:prstGeom>
        </p:spPr>
        <p:txBody>
          <a:bodyPr vert="horz"/>
          <a:lstStyle/>
          <a:p>
            <a:r>
              <a:rPr lang="en-US"/>
              <a:t>Click icon to add picture</a:t>
            </a:r>
          </a:p>
        </p:txBody>
      </p:sp>
      <p:sp>
        <p:nvSpPr>
          <p:cNvPr id="12" name="TextBox 11"/>
          <p:cNvSpPr txBox="1"/>
          <p:nvPr userDrawn="1"/>
        </p:nvSpPr>
        <p:spPr>
          <a:xfrm>
            <a:off x="8641922" y="6490689"/>
            <a:ext cx="436280" cy="307777"/>
          </a:xfrm>
          <a:prstGeom prst="rect">
            <a:avLst/>
          </a:prstGeom>
          <a:noFill/>
        </p:spPr>
        <p:txBody>
          <a:bodyPr wrap="square" rtlCol="0">
            <a:spAutoFit/>
          </a:bodyPr>
          <a:lstStyle/>
          <a:p>
            <a:pPr algn="ctr"/>
            <a:fld id="{F9B4D2DB-002A-284B-B51B-84172054C39E}" type="slidenum">
              <a:rPr lang="en-US" sz="1400" b="1" smtClean="0">
                <a:solidFill>
                  <a:schemeClr val="bg1">
                    <a:lumMod val="50000"/>
                  </a:schemeClr>
                </a:solidFill>
              </a:rPr>
              <a:pPr algn="ctr"/>
              <a:t>‹#›</a:t>
            </a:fld>
            <a:endParaRPr lang="en-US" sz="1400" b="1" dirty="0">
              <a:solidFill>
                <a:schemeClr val="bg1">
                  <a:lumMod val="50000"/>
                </a:schemeClr>
              </a:solidFill>
            </a:endParaRPr>
          </a:p>
        </p:txBody>
      </p:sp>
      <p:sp>
        <p:nvSpPr>
          <p:cNvPr id="11" name="Title 1"/>
          <p:cNvSpPr>
            <a:spLocks noGrp="1"/>
          </p:cNvSpPr>
          <p:nvPr>
            <p:ph type="ctrTitle" hasCustomPrompt="1"/>
          </p:nvPr>
        </p:nvSpPr>
        <p:spPr>
          <a:xfrm>
            <a:off x="363808" y="904613"/>
            <a:ext cx="7355549" cy="611065"/>
          </a:xfrm>
          <a:prstGeom prst="rect">
            <a:avLst/>
          </a:prstGeom>
        </p:spPr>
        <p:txBody>
          <a:bodyPr>
            <a:normAutofit/>
          </a:bodyPr>
          <a:lstStyle>
            <a:lvl1pPr algn="l">
              <a:defRPr sz="2800" b="1" i="0" baseline="0">
                <a:latin typeface="Arial"/>
                <a:cs typeface="Arial"/>
              </a:defRPr>
            </a:lvl1pPr>
          </a:lstStyle>
          <a:p>
            <a:r>
              <a:rPr lang="pl-PL" dirty="0" err="1"/>
              <a:t>Main</a:t>
            </a:r>
            <a:r>
              <a:rPr lang="pl-PL" dirty="0"/>
              <a:t> </a:t>
            </a:r>
            <a:r>
              <a:rPr lang="pl-PL" dirty="0" err="1"/>
              <a:t>title</a:t>
            </a:r>
            <a:endParaRPr lang="en-US" dirty="0"/>
          </a:p>
        </p:txBody>
      </p:sp>
      <p:sp>
        <p:nvSpPr>
          <p:cNvPr id="16" name="TextBox 15"/>
          <p:cNvSpPr txBox="1"/>
          <p:nvPr userDrawn="1"/>
        </p:nvSpPr>
        <p:spPr>
          <a:xfrm>
            <a:off x="363808" y="6503940"/>
            <a:ext cx="2470966" cy="21544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bg1">
                    <a:lumMod val="50000"/>
                  </a:schemeClr>
                </a:solidFill>
                <a:latin typeface="Arial"/>
              </a:rPr>
              <a:t>CONFIDENTIAL</a:t>
            </a:r>
            <a:r>
              <a:rPr lang="en-US" sz="800" baseline="0" dirty="0">
                <a:solidFill>
                  <a:schemeClr val="bg1">
                    <a:lumMod val="50000"/>
                  </a:schemeClr>
                </a:solidFill>
                <a:latin typeface="Arial"/>
              </a:rPr>
              <a:t> </a:t>
            </a:r>
            <a:r>
              <a:rPr lang="en-US" sz="800" dirty="0">
                <a:solidFill>
                  <a:schemeClr val="bg1">
                    <a:lumMod val="50000"/>
                  </a:schemeClr>
                </a:solidFill>
                <a:latin typeface="Arial"/>
              </a:rPr>
              <a:t>–</a:t>
            </a:r>
            <a:r>
              <a:rPr lang="en-US" sz="800" baseline="0" dirty="0">
                <a:solidFill>
                  <a:schemeClr val="bg1">
                    <a:lumMod val="50000"/>
                  </a:schemeClr>
                </a:solidFill>
                <a:latin typeface="Arial"/>
              </a:rPr>
              <a:t> </a:t>
            </a:r>
            <a:r>
              <a:rPr lang="en-US" sz="800" dirty="0">
                <a:solidFill>
                  <a:schemeClr val="bg1">
                    <a:lumMod val="50000"/>
                  </a:schemeClr>
                </a:solidFill>
                <a:latin typeface="Arial"/>
              </a:rPr>
              <a:t> FOR INTERNAL USE ONLY</a:t>
            </a:r>
            <a:endParaRPr lang="en-US" sz="800" dirty="0">
              <a:solidFill>
                <a:schemeClr val="tx2"/>
              </a:solidFill>
              <a:latin typeface="Arial"/>
            </a:endParaRPr>
          </a:p>
        </p:txBody>
      </p:sp>
      <p:sp>
        <p:nvSpPr>
          <p:cNvPr id="13" name="Text Placeholder 4"/>
          <p:cNvSpPr>
            <a:spLocks noGrp="1"/>
          </p:cNvSpPr>
          <p:nvPr>
            <p:ph type="body" sz="quarter" idx="11" hasCustomPrompt="1"/>
          </p:nvPr>
        </p:nvSpPr>
        <p:spPr>
          <a:xfrm>
            <a:off x="363808" y="258591"/>
            <a:ext cx="3355109" cy="233614"/>
          </a:xfrm>
          <a:prstGeom prst="rect">
            <a:avLst/>
          </a:prstGeom>
        </p:spPr>
        <p:txBody>
          <a:bodyPr vert="horz"/>
          <a:lstStyle>
            <a:lvl1pPr marL="0" indent="0" algn="l">
              <a:buNone/>
              <a:defRPr sz="900" b="1" i="0" baseline="0">
                <a:solidFill>
                  <a:schemeClr val="bg1">
                    <a:lumMod val="50000"/>
                  </a:schemeClr>
                </a:solidFill>
                <a:latin typeface="Arial"/>
              </a:defRPr>
            </a:lvl1pPr>
            <a:lvl2pPr>
              <a:defRPr sz="1600"/>
            </a:lvl2pPr>
            <a:lvl3pPr>
              <a:defRPr sz="1400"/>
            </a:lvl3pPr>
            <a:lvl4pPr>
              <a:defRPr sz="1200"/>
            </a:lvl4pPr>
            <a:lvl5pPr>
              <a:defRPr sz="1200"/>
            </a:lvl5pPr>
          </a:lstStyle>
          <a:p>
            <a:pPr lvl="0"/>
            <a:r>
              <a:rPr lang="en-US" dirty="0"/>
              <a:t>TITLE OF PRESENTATION // CHAPTER</a:t>
            </a:r>
          </a:p>
        </p:txBody>
      </p:sp>
      <p:pic>
        <p:nvPicPr>
          <p:cNvPr id="17" name="Picture 16" descr="MG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85523" y="261408"/>
            <a:ext cx="1856698" cy="463127"/>
          </a:xfrm>
          <a:prstGeom prst="rect">
            <a:avLst/>
          </a:prstGeom>
        </p:spPr>
      </p:pic>
    </p:spTree>
    <p:extLst>
      <p:ext uri="{BB962C8B-B14F-4D97-AF65-F5344CB8AC3E}">
        <p14:creationId xmlns:p14="http://schemas.microsoft.com/office/powerpoint/2010/main" val="3455961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Picture Slide">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0339"/>
          <a:stretch/>
        </p:blipFill>
        <p:spPr>
          <a:xfrm>
            <a:off x="0" y="710860"/>
            <a:ext cx="9143999" cy="6144854"/>
          </a:xfrm>
          <a:prstGeom prst="rect">
            <a:avLst/>
          </a:prstGeom>
        </p:spPr>
      </p:pic>
      <p:sp>
        <p:nvSpPr>
          <p:cNvPr id="19" name="Content Placeholder 3"/>
          <p:cNvSpPr>
            <a:spLocks noGrp="1"/>
          </p:cNvSpPr>
          <p:nvPr>
            <p:ph sz="half" idx="2"/>
          </p:nvPr>
        </p:nvSpPr>
        <p:spPr>
          <a:xfrm>
            <a:off x="4648200" y="2559361"/>
            <a:ext cx="4038600" cy="3360977"/>
          </a:xfrm>
          <a:prstGeom prst="rect">
            <a:avLst/>
          </a:prstGeo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600">
                <a:latin typeface="Arial"/>
                <a:cs typeface="Arial"/>
              </a:defRPr>
            </a:lvl4pPr>
            <a:lvl5pPr>
              <a:defRPr sz="14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819554"/>
            <a:ext cx="4041775" cy="639762"/>
          </a:xfrm>
          <a:prstGeom prst="rect">
            <a:avLst/>
          </a:prstGeom>
        </p:spPr>
        <p:txBody>
          <a:bodyPr anchor="b"/>
          <a:lstStyle>
            <a:lvl1pPr marL="0" indent="0">
              <a:buNone/>
              <a:defRPr sz="2000" b="1" i="0">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icture Placeholder 3"/>
          <p:cNvSpPr>
            <a:spLocks noGrp="1"/>
          </p:cNvSpPr>
          <p:nvPr>
            <p:ph type="pic" sz="quarter" idx="10"/>
          </p:nvPr>
        </p:nvSpPr>
        <p:spPr>
          <a:xfrm>
            <a:off x="363538" y="1819276"/>
            <a:ext cx="4194175" cy="1944604"/>
          </a:xfrm>
          <a:prstGeom prst="rect">
            <a:avLst/>
          </a:prstGeom>
        </p:spPr>
        <p:txBody>
          <a:bodyPr vert="horz"/>
          <a:lstStyle/>
          <a:p>
            <a:r>
              <a:rPr lang="en-US"/>
              <a:t>Click icon to add picture</a:t>
            </a:r>
          </a:p>
        </p:txBody>
      </p:sp>
      <p:sp>
        <p:nvSpPr>
          <p:cNvPr id="9" name="Picture Placeholder 3"/>
          <p:cNvSpPr>
            <a:spLocks noGrp="1"/>
          </p:cNvSpPr>
          <p:nvPr>
            <p:ph type="pic" sz="quarter" idx="11"/>
          </p:nvPr>
        </p:nvSpPr>
        <p:spPr>
          <a:xfrm>
            <a:off x="363538" y="3975734"/>
            <a:ext cx="4194175" cy="1944604"/>
          </a:xfrm>
          <a:prstGeom prst="rect">
            <a:avLst/>
          </a:prstGeom>
        </p:spPr>
        <p:txBody>
          <a:bodyPr vert="horz"/>
          <a:lstStyle/>
          <a:p>
            <a:r>
              <a:rPr lang="en-US"/>
              <a:t>Click icon to add picture</a:t>
            </a:r>
          </a:p>
        </p:txBody>
      </p:sp>
      <p:sp>
        <p:nvSpPr>
          <p:cNvPr id="14" name="TextBox 13"/>
          <p:cNvSpPr txBox="1"/>
          <p:nvPr userDrawn="1"/>
        </p:nvSpPr>
        <p:spPr>
          <a:xfrm>
            <a:off x="8641922" y="6490689"/>
            <a:ext cx="436280" cy="307777"/>
          </a:xfrm>
          <a:prstGeom prst="rect">
            <a:avLst/>
          </a:prstGeom>
          <a:noFill/>
        </p:spPr>
        <p:txBody>
          <a:bodyPr wrap="square" rtlCol="0">
            <a:spAutoFit/>
          </a:bodyPr>
          <a:lstStyle/>
          <a:p>
            <a:pPr algn="ctr"/>
            <a:fld id="{F9B4D2DB-002A-284B-B51B-84172054C39E}" type="slidenum">
              <a:rPr lang="en-US" sz="1400" b="1" smtClean="0">
                <a:solidFill>
                  <a:schemeClr val="bg1">
                    <a:lumMod val="50000"/>
                  </a:schemeClr>
                </a:solidFill>
              </a:rPr>
              <a:pPr algn="ctr"/>
              <a:t>‹#›</a:t>
            </a:fld>
            <a:endParaRPr lang="en-US" sz="1400" b="1" dirty="0">
              <a:solidFill>
                <a:schemeClr val="bg1">
                  <a:lumMod val="50000"/>
                </a:schemeClr>
              </a:solidFill>
            </a:endParaRPr>
          </a:p>
        </p:txBody>
      </p:sp>
      <p:sp>
        <p:nvSpPr>
          <p:cNvPr id="12" name="Title 1"/>
          <p:cNvSpPr>
            <a:spLocks noGrp="1"/>
          </p:cNvSpPr>
          <p:nvPr>
            <p:ph type="ctrTitle" hasCustomPrompt="1"/>
          </p:nvPr>
        </p:nvSpPr>
        <p:spPr>
          <a:xfrm>
            <a:off x="363808" y="904613"/>
            <a:ext cx="7355549" cy="611065"/>
          </a:xfrm>
          <a:prstGeom prst="rect">
            <a:avLst/>
          </a:prstGeom>
        </p:spPr>
        <p:txBody>
          <a:bodyPr>
            <a:normAutofit/>
          </a:bodyPr>
          <a:lstStyle>
            <a:lvl1pPr algn="l">
              <a:defRPr sz="2800" b="1" i="0" baseline="0">
                <a:latin typeface="Arial"/>
                <a:cs typeface="Arial"/>
              </a:defRPr>
            </a:lvl1pPr>
          </a:lstStyle>
          <a:p>
            <a:r>
              <a:rPr lang="pl-PL" dirty="0" err="1"/>
              <a:t>Main</a:t>
            </a:r>
            <a:r>
              <a:rPr lang="pl-PL" dirty="0"/>
              <a:t> </a:t>
            </a:r>
            <a:r>
              <a:rPr lang="pl-PL" dirty="0" err="1"/>
              <a:t>title</a:t>
            </a:r>
            <a:endParaRPr lang="en-US" dirty="0"/>
          </a:p>
        </p:txBody>
      </p:sp>
      <p:sp>
        <p:nvSpPr>
          <p:cNvPr id="16" name="TextBox 15"/>
          <p:cNvSpPr txBox="1"/>
          <p:nvPr userDrawn="1"/>
        </p:nvSpPr>
        <p:spPr>
          <a:xfrm>
            <a:off x="363808" y="6503940"/>
            <a:ext cx="2470966" cy="21544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bg1">
                    <a:lumMod val="50000"/>
                  </a:schemeClr>
                </a:solidFill>
                <a:latin typeface="Arial"/>
              </a:rPr>
              <a:t>CONFIDENTIAL</a:t>
            </a:r>
            <a:r>
              <a:rPr lang="en-US" sz="800" baseline="0" dirty="0">
                <a:solidFill>
                  <a:schemeClr val="bg1">
                    <a:lumMod val="50000"/>
                  </a:schemeClr>
                </a:solidFill>
                <a:latin typeface="Arial"/>
              </a:rPr>
              <a:t> </a:t>
            </a:r>
            <a:r>
              <a:rPr lang="en-US" sz="800" dirty="0">
                <a:solidFill>
                  <a:schemeClr val="bg1">
                    <a:lumMod val="50000"/>
                  </a:schemeClr>
                </a:solidFill>
                <a:latin typeface="Arial"/>
              </a:rPr>
              <a:t>–</a:t>
            </a:r>
            <a:r>
              <a:rPr lang="en-US" sz="800" baseline="0" dirty="0">
                <a:solidFill>
                  <a:schemeClr val="bg1">
                    <a:lumMod val="50000"/>
                  </a:schemeClr>
                </a:solidFill>
                <a:latin typeface="Arial"/>
              </a:rPr>
              <a:t> </a:t>
            </a:r>
            <a:r>
              <a:rPr lang="en-US" sz="800" dirty="0">
                <a:solidFill>
                  <a:schemeClr val="bg1">
                    <a:lumMod val="50000"/>
                  </a:schemeClr>
                </a:solidFill>
                <a:latin typeface="Arial"/>
              </a:rPr>
              <a:t> FOR INTERNAL USE ONLY</a:t>
            </a:r>
            <a:endParaRPr lang="en-US" sz="800" dirty="0">
              <a:solidFill>
                <a:schemeClr val="tx2"/>
              </a:solidFill>
              <a:latin typeface="Arial"/>
            </a:endParaRPr>
          </a:p>
        </p:txBody>
      </p:sp>
      <p:sp>
        <p:nvSpPr>
          <p:cNvPr id="13" name="Text Placeholder 4"/>
          <p:cNvSpPr>
            <a:spLocks noGrp="1"/>
          </p:cNvSpPr>
          <p:nvPr>
            <p:ph type="body" sz="quarter" idx="12" hasCustomPrompt="1"/>
          </p:nvPr>
        </p:nvSpPr>
        <p:spPr>
          <a:xfrm>
            <a:off x="363808" y="258591"/>
            <a:ext cx="3355109" cy="233614"/>
          </a:xfrm>
          <a:prstGeom prst="rect">
            <a:avLst/>
          </a:prstGeom>
        </p:spPr>
        <p:txBody>
          <a:bodyPr vert="horz"/>
          <a:lstStyle>
            <a:lvl1pPr marL="0" indent="0" algn="l">
              <a:buNone/>
              <a:defRPr sz="900" b="1" i="0" baseline="0">
                <a:solidFill>
                  <a:schemeClr val="bg1">
                    <a:lumMod val="50000"/>
                  </a:schemeClr>
                </a:solidFill>
                <a:latin typeface="Arial"/>
              </a:defRPr>
            </a:lvl1pPr>
            <a:lvl2pPr>
              <a:defRPr sz="1600"/>
            </a:lvl2pPr>
            <a:lvl3pPr>
              <a:defRPr sz="1400"/>
            </a:lvl3pPr>
            <a:lvl4pPr>
              <a:defRPr sz="1200"/>
            </a:lvl4pPr>
            <a:lvl5pPr>
              <a:defRPr sz="1200"/>
            </a:lvl5pPr>
          </a:lstStyle>
          <a:p>
            <a:pPr lvl="0"/>
            <a:r>
              <a:rPr lang="en-US" dirty="0"/>
              <a:t>TITLE OF PRESENTATION // CHAPTER</a:t>
            </a:r>
          </a:p>
        </p:txBody>
      </p:sp>
      <p:pic>
        <p:nvPicPr>
          <p:cNvPr id="18" name="Picture 17" descr="MG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85523" y="261408"/>
            <a:ext cx="1856698" cy="463127"/>
          </a:xfrm>
          <a:prstGeom prst="rect">
            <a:avLst/>
          </a:prstGeom>
        </p:spPr>
      </p:pic>
    </p:spTree>
    <p:extLst>
      <p:ext uri="{BB962C8B-B14F-4D97-AF65-F5344CB8AC3E}">
        <p14:creationId xmlns:p14="http://schemas.microsoft.com/office/powerpoint/2010/main" val="1826819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0339"/>
          <a:stretch/>
        </p:blipFill>
        <p:spPr>
          <a:xfrm>
            <a:off x="0" y="710860"/>
            <a:ext cx="9143999" cy="6144854"/>
          </a:xfrm>
          <a:prstGeom prst="rect">
            <a:avLst/>
          </a:prstGeom>
        </p:spPr>
      </p:pic>
      <p:sp>
        <p:nvSpPr>
          <p:cNvPr id="7" name="TextBox 6"/>
          <p:cNvSpPr txBox="1"/>
          <p:nvPr userDrawn="1"/>
        </p:nvSpPr>
        <p:spPr>
          <a:xfrm>
            <a:off x="8641922" y="6490689"/>
            <a:ext cx="436280" cy="307777"/>
          </a:xfrm>
          <a:prstGeom prst="rect">
            <a:avLst/>
          </a:prstGeom>
          <a:noFill/>
        </p:spPr>
        <p:txBody>
          <a:bodyPr wrap="square" rtlCol="0">
            <a:spAutoFit/>
          </a:bodyPr>
          <a:lstStyle/>
          <a:p>
            <a:pPr algn="ctr"/>
            <a:fld id="{F9B4D2DB-002A-284B-B51B-84172054C39E}" type="slidenum">
              <a:rPr lang="en-US" sz="1400" b="1" smtClean="0">
                <a:solidFill>
                  <a:schemeClr val="bg1">
                    <a:lumMod val="50000"/>
                  </a:schemeClr>
                </a:solidFill>
              </a:rPr>
              <a:pPr algn="ctr"/>
              <a:t>‹#›</a:t>
            </a:fld>
            <a:endParaRPr lang="en-US" sz="1400" b="1" dirty="0">
              <a:solidFill>
                <a:schemeClr val="bg1">
                  <a:lumMod val="50000"/>
                </a:schemeClr>
              </a:solidFill>
            </a:endParaRPr>
          </a:p>
        </p:txBody>
      </p:sp>
      <p:sp>
        <p:nvSpPr>
          <p:cNvPr id="9" name="TextBox 8"/>
          <p:cNvSpPr txBox="1"/>
          <p:nvPr userDrawn="1"/>
        </p:nvSpPr>
        <p:spPr>
          <a:xfrm>
            <a:off x="363808" y="6503940"/>
            <a:ext cx="2470966" cy="21544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bg1">
                    <a:lumMod val="50000"/>
                  </a:schemeClr>
                </a:solidFill>
                <a:latin typeface="Arial"/>
              </a:rPr>
              <a:t>CONFIDENTIAL</a:t>
            </a:r>
            <a:r>
              <a:rPr lang="en-US" sz="800" baseline="0" dirty="0">
                <a:solidFill>
                  <a:schemeClr val="bg1">
                    <a:lumMod val="50000"/>
                  </a:schemeClr>
                </a:solidFill>
                <a:latin typeface="Arial"/>
              </a:rPr>
              <a:t> </a:t>
            </a:r>
            <a:r>
              <a:rPr lang="en-US" sz="800" dirty="0">
                <a:solidFill>
                  <a:schemeClr val="bg1">
                    <a:lumMod val="50000"/>
                  </a:schemeClr>
                </a:solidFill>
                <a:latin typeface="Arial"/>
              </a:rPr>
              <a:t>–</a:t>
            </a:r>
            <a:r>
              <a:rPr lang="en-US" sz="800" baseline="0" dirty="0">
                <a:solidFill>
                  <a:schemeClr val="bg1">
                    <a:lumMod val="50000"/>
                  </a:schemeClr>
                </a:solidFill>
                <a:latin typeface="Arial"/>
              </a:rPr>
              <a:t> </a:t>
            </a:r>
            <a:r>
              <a:rPr lang="en-US" sz="800" dirty="0">
                <a:solidFill>
                  <a:schemeClr val="bg1">
                    <a:lumMod val="50000"/>
                  </a:schemeClr>
                </a:solidFill>
                <a:latin typeface="Arial"/>
              </a:rPr>
              <a:t> FOR INTERNAL USE ONLY</a:t>
            </a:r>
            <a:endParaRPr lang="en-US" sz="800" dirty="0">
              <a:solidFill>
                <a:schemeClr val="tx2"/>
              </a:solidFill>
              <a:latin typeface="Arial"/>
            </a:endParaRPr>
          </a:p>
        </p:txBody>
      </p:sp>
      <p:sp>
        <p:nvSpPr>
          <p:cNvPr id="12" name="Text Placeholder 4"/>
          <p:cNvSpPr>
            <a:spLocks noGrp="1"/>
          </p:cNvSpPr>
          <p:nvPr>
            <p:ph type="body" sz="quarter" idx="10" hasCustomPrompt="1"/>
          </p:nvPr>
        </p:nvSpPr>
        <p:spPr>
          <a:xfrm>
            <a:off x="363808" y="258591"/>
            <a:ext cx="3355109" cy="233614"/>
          </a:xfrm>
          <a:prstGeom prst="rect">
            <a:avLst/>
          </a:prstGeom>
        </p:spPr>
        <p:txBody>
          <a:bodyPr vert="horz"/>
          <a:lstStyle>
            <a:lvl1pPr marL="0" indent="0" algn="l">
              <a:buNone/>
              <a:defRPr sz="900" b="1" i="0" baseline="0">
                <a:solidFill>
                  <a:schemeClr val="bg1">
                    <a:lumMod val="50000"/>
                  </a:schemeClr>
                </a:solidFill>
                <a:latin typeface="Arial"/>
              </a:defRPr>
            </a:lvl1pPr>
            <a:lvl2pPr>
              <a:defRPr sz="1600"/>
            </a:lvl2pPr>
            <a:lvl3pPr>
              <a:defRPr sz="1400"/>
            </a:lvl3pPr>
            <a:lvl4pPr>
              <a:defRPr sz="1200"/>
            </a:lvl4pPr>
            <a:lvl5pPr>
              <a:defRPr sz="1200"/>
            </a:lvl5pPr>
          </a:lstStyle>
          <a:p>
            <a:pPr lvl="0"/>
            <a:r>
              <a:rPr lang="en-US" dirty="0"/>
              <a:t>TITLE OF PRESENTATION // CHAPTER</a:t>
            </a:r>
          </a:p>
        </p:txBody>
      </p:sp>
      <p:pic>
        <p:nvPicPr>
          <p:cNvPr id="13" name="Picture 12" descr="MG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85523" y="261408"/>
            <a:ext cx="1856698" cy="463127"/>
          </a:xfrm>
          <a:prstGeom prst="rect">
            <a:avLst/>
          </a:prstGeom>
        </p:spPr>
      </p:pic>
    </p:spTree>
    <p:extLst>
      <p:ext uri="{BB962C8B-B14F-4D97-AF65-F5344CB8AC3E}">
        <p14:creationId xmlns:p14="http://schemas.microsoft.com/office/powerpoint/2010/main" val="1099069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ding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284"/>
            <a:ext cx="9143999" cy="6853430"/>
          </a:xfrm>
          <a:prstGeom prst="rect">
            <a:avLst/>
          </a:prstGeom>
        </p:spPr>
      </p:pic>
      <p:sp>
        <p:nvSpPr>
          <p:cNvPr id="8" name="TextBox 7"/>
          <p:cNvSpPr txBox="1"/>
          <p:nvPr userDrawn="1"/>
        </p:nvSpPr>
        <p:spPr>
          <a:xfrm>
            <a:off x="8671877" y="535807"/>
            <a:ext cx="397690" cy="307777"/>
          </a:xfrm>
          <a:prstGeom prst="rect">
            <a:avLst/>
          </a:prstGeom>
          <a:noFill/>
        </p:spPr>
        <p:txBody>
          <a:bodyPr wrap="none" rtlCol="0">
            <a:spAutoFit/>
          </a:bodyPr>
          <a:lstStyle/>
          <a:p>
            <a:pPr algn="r"/>
            <a:fld id="{F9B4D2DB-002A-284B-B51B-84172054C39E}" type="slidenum">
              <a:rPr lang="en-US" sz="1400" b="1" smtClean="0">
                <a:solidFill>
                  <a:schemeClr val="bg1"/>
                </a:solidFill>
              </a:rPr>
              <a:pPr algn="r"/>
              <a:t>‹#›</a:t>
            </a:fld>
            <a:endParaRPr lang="en-US" sz="1400" b="1" dirty="0">
              <a:solidFill>
                <a:schemeClr val="bg1"/>
              </a:solidFill>
            </a:endParaRPr>
          </a:p>
        </p:txBody>
      </p:sp>
    </p:spTree>
    <p:extLst>
      <p:ext uri="{BB962C8B-B14F-4D97-AF65-F5344CB8AC3E}">
        <p14:creationId xmlns:p14="http://schemas.microsoft.com/office/powerpoint/2010/main" val="1750670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9534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5" r:id="rId8"/>
    <p:sldLayoutId id="2147483658"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7897" y="3259987"/>
            <a:ext cx="7305145" cy="720519"/>
          </a:xfrm>
        </p:spPr>
        <p:txBody>
          <a:bodyPr>
            <a:normAutofit fontScale="90000"/>
          </a:bodyPr>
          <a:lstStyle/>
          <a:p>
            <a:r>
              <a:rPr lang="en-US" dirty="0"/>
              <a:t>Predicting Social Engineering Fraud</a:t>
            </a:r>
          </a:p>
        </p:txBody>
      </p:sp>
      <p:sp>
        <p:nvSpPr>
          <p:cNvPr id="3" name="Subtitle 2"/>
          <p:cNvSpPr>
            <a:spLocks noGrp="1"/>
          </p:cNvSpPr>
          <p:nvPr>
            <p:ph type="subTitle" idx="1"/>
          </p:nvPr>
        </p:nvSpPr>
        <p:spPr>
          <a:xfrm>
            <a:off x="1371600" y="3980506"/>
            <a:ext cx="6400800" cy="528083"/>
          </a:xfrm>
        </p:spPr>
        <p:txBody>
          <a:bodyPr/>
          <a:lstStyle/>
          <a:p>
            <a:r>
              <a:rPr lang="en-US" dirty="0"/>
              <a:t>Michael </a:t>
            </a:r>
            <a:r>
              <a:rPr lang="en-US" dirty="0" err="1"/>
              <a:t>Olheiser</a:t>
            </a:r>
            <a:endParaRPr lang="en-US" dirty="0"/>
          </a:p>
        </p:txBody>
      </p:sp>
    </p:spTree>
    <p:extLst>
      <p:ext uri="{BB962C8B-B14F-4D97-AF65-F5344CB8AC3E}">
        <p14:creationId xmlns:p14="http://schemas.microsoft.com/office/powerpoint/2010/main" val="863725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06815"/>
            <a:ext cx="8229600" cy="4525963"/>
          </a:xfrm>
        </p:spPr>
        <p:txBody>
          <a:bodyPr/>
          <a:lstStyle/>
          <a:p>
            <a:pPr>
              <a:spcBef>
                <a:spcPts val="0"/>
              </a:spcBef>
              <a:buClr>
                <a:srgbClr val="B31D15"/>
              </a:buClr>
            </a:pPr>
            <a:r>
              <a:rPr lang="en-US" sz="1400" dirty="0">
                <a:solidFill>
                  <a:srgbClr val="000000"/>
                </a:solidFill>
              </a:rPr>
              <a:t>Fraudsters call MoneyGram agents and present themselves as representatives from MoneyGram and convince them to process a send transaction to test the system.</a:t>
            </a:r>
          </a:p>
          <a:p>
            <a:pPr>
              <a:spcBef>
                <a:spcPts val="0"/>
              </a:spcBef>
              <a:buClr>
                <a:srgbClr val="B31D15"/>
              </a:buClr>
            </a:pPr>
            <a:endParaRPr lang="en-US" sz="1400" dirty="0">
              <a:solidFill>
                <a:srgbClr val="000000"/>
              </a:solidFill>
            </a:endParaRPr>
          </a:p>
          <a:p>
            <a:pPr>
              <a:spcBef>
                <a:spcPts val="0"/>
              </a:spcBef>
              <a:buClr>
                <a:srgbClr val="B31D15"/>
              </a:buClr>
            </a:pPr>
            <a:r>
              <a:rPr lang="en-US" sz="1400" dirty="0">
                <a:solidFill>
                  <a:srgbClr val="000000"/>
                </a:solidFill>
              </a:rPr>
              <a:t>The agents targeted by fraudsters range from large retail stores like Wal-Mart to small tobacco shops and markets. </a:t>
            </a:r>
          </a:p>
          <a:p>
            <a:pPr>
              <a:spcBef>
                <a:spcPts val="0"/>
              </a:spcBef>
              <a:buClr>
                <a:srgbClr val="B31D15"/>
              </a:buClr>
            </a:pPr>
            <a:endParaRPr lang="en-US" sz="1400" dirty="0">
              <a:solidFill>
                <a:srgbClr val="000000"/>
              </a:solidFill>
            </a:endParaRPr>
          </a:p>
          <a:p>
            <a:pPr>
              <a:spcBef>
                <a:spcPts val="0"/>
              </a:spcBef>
              <a:buClr>
                <a:srgbClr val="B31D15"/>
              </a:buClr>
            </a:pPr>
            <a:r>
              <a:rPr lang="en-US" sz="1400" dirty="0">
                <a:solidFill>
                  <a:srgbClr val="000000"/>
                </a:solidFill>
              </a:rPr>
              <a:t>Why is this a problem for MoneyGram?</a:t>
            </a:r>
          </a:p>
          <a:p>
            <a:pPr lvl="1">
              <a:spcBef>
                <a:spcPts val="0"/>
              </a:spcBef>
              <a:buClr>
                <a:srgbClr val="B31D15"/>
              </a:buClr>
            </a:pPr>
            <a:r>
              <a:rPr lang="en-US" sz="1000" dirty="0">
                <a:solidFill>
                  <a:srgbClr val="000000"/>
                </a:solidFill>
              </a:rPr>
              <a:t>Loss to revenue</a:t>
            </a:r>
          </a:p>
          <a:p>
            <a:pPr lvl="1">
              <a:spcBef>
                <a:spcPts val="0"/>
              </a:spcBef>
              <a:buClr>
                <a:srgbClr val="B31D15"/>
              </a:buClr>
            </a:pPr>
            <a:r>
              <a:rPr lang="en-US" sz="1000" dirty="0">
                <a:solidFill>
                  <a:srgbClr val="000000"/>
                </a:solidFill>
              </a:rPr>
              <a:t>Damages company reputation</a:t>
            </a:r>
          </a:p>
          <a:p>
            <a:pPr lvl="1">
              <a:spcBef>
                <a:spcPts val="0"/>
              </a:spcBef>
              <a:buClr>
                <a:srgbClr val="B31D15"/>
              </a:buClr>
            </a:pPr>
            <a:r>
              <a:rPr lang="en-US" sz="1000" dirty="0">
                <a:solidFill>
                  <a:srgbClr val="000000"/>
                </a:solidFill>
              </a:rPr>
              <a:t>Increases agent turnover</a:t>
            </a:r>
          </a:p>
          <a:p>
            <a:pPr>
              <a:spcBef>
                <a:spcPts val="0"/>
              </a:spcBef>
              <a:buClr>
                <a:srgbClr val="B31D15"/>
              </a:buClr>
            </a:pPr>
            <a:endParaRPr lang="en-US" sz="1400" dirty="0">
              <a:solidFill>
                <a:srgbClr val="000000"/>
              </a:solidFill>
            </a:endParaRPr>
          </a:p>
          <a:p>
            <a:pPr>
              <a:spcBef>
                <a:spcPts val="0"/>
              </a:spcBef>
              <a:buClr>
                <a:srgbClr val="B31D15"/>
              </a:buClr>
            </a:pPr>
            <a:endParaRPr lang="en-US" sz="1400" dirty="0">
              <a:solidFill>
                <a:srgbClr val="000000"/>
              </a:solidFill>
            </a:endParaRPr>
          </a:p>
          <a:p>
            <a:pPr>
              <a:spcBef>
                <a:spcPts val="0"/>
              </a:spcBef>
              <a:buClr>
                <a:srgbClr val="B31D15"/>
              </a:buClr>
            </a:pPr>
            <a:r>
              <a:rPr lang="en-US" sz="1400" dirty="0">
                <a:solidFill>
                  <a:srgbClr val="000000"/>
                </a:solidFill>
              </a:rPr>
              <a:t>Questions</a:t>
            </a:r>
          </a:p>
          <a:p>
            <a:pPr lvl="1">
              <a:spcBef>
                <a:spcPts val="0"/>
              </a:spcBef>
              <a:buClr>
                <a:srgbClr val="B31D15"/>
              </a:buClr>
            </a:pPr>
            <a:r>
              <a:rPr lang="en-US" sz="1000" dirty="0">
                <a:solidFill>
                  <a:srgbClr val="000000"/>
                </a:solidFill>
              </a:rPr>
              <a:t>Where are these agents located?</a:t>
            </a:r>
          </a:p>
          <a:p>
            <a:pPr lvl="1">
              <a:spcBef>
                <a:spcPts val="0"/>
              </a:spcBef>
              <a:buClr>
                <a:srgbClr val="B31D15"/>
              </a:buClr>
            </a:pPr>
            <a:r>
              <a:rPr lang="en-US" sz="1000" dirty="0">
                <a:solidFill>
                  <a:srgbClr val="000000"/>
                </a:solidFill>
              </a:rPr>
              <a:t>Why do agents fall victim to this fraud?</a:t>
            </a:r>
          </a:p>
          <a:p>
            <a:pPr lvl="1">
              <a:spcBef>
                <a:spcPts val="0"/>
              </a:spcBef>
              <a:buClr>
                <a:srgbClr val="B31D15"/>
              </a:buClr>
            </a:pPr>
            <a:r>
              <a:rPr lang="en-US" sz="1400" b="1" dirty="0"/>
              <a:t>How can we stop it?</a:t>
            </a:r>
          </a:p>
          <a:p>
            <a:pPr lvl="1">
              <a:spcBef>
                <a:spcPts val="0"/>
              </a:spcBef>
              <a:buClr>
                <a:srgbClr val="B31D15"/>
              </a:buClr>
            </a:pPr>
            <a:endParaRPr lang="en-US" sz="1000" dirty="0">
              <a:solidFill>
                <a:srgbClr val="000000"/>
              </a:solidFill>
            </a:endParaRPr>
          </a:p>
          <a:p>
            <a:pPr marL="0" indent="0">
              <a:spcBef>
                <a:spcPts val="0"/>
              </a:spcBef>
              <a:buClr>
                <a:srgbClr val="B31D15"/>
              </a:buClr>
              <a:buNone/>
            </a:pPr>
            <a:endParaRPr lang="en-US" sz="1400" dirty="0">
              <a:solidFill>
                <a:srgbClr val="000000"/>
              </a:solidFill>
            </a:endParaRPr>
          </a:p>
          <a:p>
            <a:pPr marL="457200" lvl="1" indent="0">
              <a:buClr>
                <a:srgbClr val="B31D15"/>
              </a:buClr>
              <a:buNone/>
            </a:pPr>
            <a:endParaRPr lang="en-US" sz="1400" dirty="0">
              <a:solidFill>
                <a:srgbClr val="000000"/>
              </a:solidFill>
            </a:endParaRPr>
          </a:p>
          <a:p>
            <a:endParaRPr lang="en-US" dirty="0"/>
          </a:p>
        </p:txBody>
      </p:sp>
      <p:sp>
        <p:nvSpPr>
          <p:cNvPr id="3" name="Title 2"/>
          <p:cNvSpPr>
            <a:spLocks noGrp="1"/>
          </p:cNvSpPr>
          <p:nvPr>
            <p:ph type="ctrTitle"/>
          </p:nvPr>
        </p:nvSpPr>
        <p:spPr/>
        <p:txBody>
          <a:bodyPr/>
          <a:lstStyle/>
          <a:p>
            <a:r>
              <a:rPr lang="en-US" dirty="0"/>
              <a:t>What is Social Engineering Fraud?</a:t>
            </a:r>
          </a:p>
        </p:txBody>
      </p:sp>
      <p:sp>
        <p:nvSpPr>
          <p:cNvPr id="4" name="Text Placeholder 3"/>
          <p:cNvSpPr>
            <a:spLocks noGrp="1"/>
          </p:cNvSpPr>
          <p:nvPr>
            <p:ph type="body" sz="quarter" idx="10"/>
          </p:nvPr>
        </p:nvSpPr>
        <p:spPr/>
        <p:txBody>
          <a:bodyPr/>
          <a:lstStyle/>
          <a:p>
            <a:endParaRPr lang="en-US"/>
          </a:p>
        </p:txBody>
      </p:sp>
      <p:pic>
        <p:nvPicPr>
          <p:cNvPr id="1028" name="Picture 4" descr="Image result for social engineering">
            <a:extLst>
              <a:ext uri="{FF2B5EF4-FFF2-40B4-BE49-F238E27FC236}">
                <a16:creationId xmlns:a16="http://schemas.microsoft.com/office/drawing/2014/main" id="{F8628B93-5315-4FB2-9C64-1ED01005F7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3629" y="4180420"/>
            <a:ext cx="2934180" cy="1952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658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5D8DDC7-0044-48DC-8C97-9C30B4E10BF7}"/>
              </a:ext>
            </a:extLst>
          </p:cNvPr>
          <p:cNvSpPr>
            <a:spLocks noGrp="1"/>
          </p:cNvSpPr>
          <p:nvPr>
            <p:ph sz="half" idx="10"/>
          </p:nvPr>
        </p:nvSpPr>
        <p:spPr>
          <a:xfrm>
            <a:off x="457200" y="2221557"/>
            <a:ext cx="4038600" cy="3360977"/>
          </a:xfrm>
        </p:spPr>
        <p:txBody>
          <a:bodyPr/>
          <a:lstStyle/>
          <a:p>
            <a:r>
              <a:rPr lang="en-US" dirty="0"/>
              <a:t>Alerting</a:t>
            </a:r>
          </a:p>
          <a:p>
            <a:r>
              <a:rPr lang="en-US" dirty="0"/>
              <a:t>Enhanced POS Security</a:t>
            </a:r>
          </a:p>
          <a:p>
            <a:r>
              <a:rPr lang="en-US" dirty="0"/>
              <a:t>Transaction monitoring</a:t>
            </a:r>
          </a:p>
          <a:p>
            <a:r>
              <a:rPr lang="en-US" u="sng" dirty="0"/>
              <a:t>Training</a:t>
            </a:r>
            <a:r>
              <a:rPr lang="en-US" dirty="0"/>
              <a:t>*</a:t>
            </a:r>
          </a:p>
        </p:txBody>
      </p:sp>
      <p:sp>
        <p:nvSpPr>
          <p:cNvPr id="6" name="Content Placeholder 5">
            <a:extLst>
              <a:ext uri="{FF2B5EF4-FFF2-40B4-BE49-F238E27FC236}">
                <a16:creationId xmlns:a16="http://schemas.microsoft.com/office/drawing/2014/main" id="{F7CA99F8-AB51-47E2-9592-28DDB5FBEADF}"/>
              </a:ext>
            </a:extLst>
          </p:cNvPr>
          <p:cNvSpPr>
            <a:spLocks noGrp="1"/>
          </p:cNvSpPr>
          <p:nvPr>
            <p:ph sz="half" idx="2"/>
          </p:nvPr>
        </p:nvSpPr>
        <p:spPr>
          <a:xfrm>
            <a:off x="4648200" y="2221557"/>
            <a:ext cx="4328020" cy="3360977"/>
          </a:xfrm>
        </p:spPr>
        <p:txBody>
          <a:bodyPr/>
          <a:lstStyle/>
          <a:p>
            <a:r>
              <a:rPr lang="en-US" dirty="0"/>
              <a:t>Reactive vs Proactive</a:t>
            </a:r>
          </a:p>
          <a:p>
            <a:r>
              <a:rPr lang="en-US" dirty="0"/>
              <a:t>Expensive</a:t>
            </a:r>
          </a:p>
          <a:p>
            <a:r>
              <a:rPr lang="en-US" dirty="0"/>
              <a:t>Time consuming</a:t>
            </a:r>
          </a:p>
          <a:p>
            <a:r>
              <a:rPr lang="en-US" dirty="0"/>
              <a:t>Over 300K agents</a:t>
            </a:r>
          </a:p>
          <a:p>
            <a:r>
              <a:rPr lang="en-US" dirty="0"/>
              <a:t>Limited resources</a:t>
            </a:r>
          </a:p>
        </p:txBody>
      </p:sp>
      <p:sp>
        <p:nvSpPr>
          <p:cNvPr id="5" name="Text Placeholder 4">
            <a:extLst>
              <a:ext uri="{FF2B5EF4-FFF2-40B4-BE49-F238E27FC236}">
                <a16:creationId xmlns:a16="http://schemas.microsoft.com/office/drawing/2014/main" id="{2EBCA71C-44A3-429A-B7E0-D72E755E0CC0}"/>
              </a:ext>
            </a:extLst>
          </p:cNvPr>
          <p:cNvSpPr>
            <a:spLocks noGrp="1"/>
          </p:cNvSpPr>
          <p:nvPr>
            <p:ph type="body" idx="1"/>
          </p:nvPr>
        </p:nvSpPr>
        <p:spPr>
          <a:xfrm>
            <a:off x="457200" y="1548377"/>
            <a:ext cx="4040188" cy="639762"/>
          </a:xfrm>
        </p:spPr>
        <p:txBody>
          <a:bodyPr/>
          <a:lstStyle/>
          <a:p>
            <a:r>
              <a:rPr lang="en-US" dirty="0"/>
              <a:t>Solutions</a:t>
            </a:r>
          </a:p>
        </p:txBody>
      </p:sp>
      <p:sp>
        <p:nvSpPr>
          <p:cNvPr id="7" name="Text Placeholder 6">
            <a:extLst>
              <a:ext uri="{FF2B5EF4-FFF2-40B4-BE49-F238E27FC236}">
                <a16:creationId xmlns:a16="http://schemas.microsoft.com/office/drawing/2014/main" id="{52579FCE-3B50-496B-9DD0-A56E9971BF9A}"/>
              </a:ext>
            </a:extLst>
          </p:cNvPr>
          <p:cNvSpPr>
            <a:spLocks noGrp="1"/>
          </p:cNvSpPr>
          <p:nvPr>
            <p:ph type="body" sz="quarter" idx="3"/>
          </p:nvPr>
        </p:nvSpPr>
        <p:spPr>
          <a:xfrm>
            <a:off x="4645025" y="1548377"/>
            <a:ext cx="4041775" cy="639762"/>
          </a:xfrm>
        </p:spPr>
        <p:txBody>
          <a:bodyPr/>
          <a:lstStyle/>
          <a:p>
            <a:r>
              <a:rPr lang="en-US" dirty="0"/>
              <a:t>Challenges</a:t>
            </a:r>
          </a:p>
        </p:txBody>
      </p:sp>
      <p:sp>
        <p:nvSpPr>
          <p:cNvPr id="3" name="Title 2">
            <a:extLst>
              <a:ext uri="{FF2B5EF4-FFF2-40B4-BE49-F238E27FC236}">
                <a16:creationId xmlns:a16="http://schemas.microsoft.com/office/drawing/2014/main" id="{5FCC129A-AD0F-4E78-A1BB-963089BE0FCF}"/>
              </a:ext>
            </a:extLst>
          </p:cNvPr>
          <p:cNvSpPr>
            <a:spLocks noGrp="1"/>
          </p:cNvSpPr>
          <p:nvPr>
            <p:ph type="ctrTitle"/>
          </p:nvPr>
        </p:nvSpPr>
        <p:spPr/>
        <p:txBody>
          <a:bodyPr/>
          <a:lstStyle/>
          <a:p>
            <a:r>
              <a:rPr lang="en-US" dirty="0"/>
              <a:t>Preventing Social Engineering Fraud</a:t>
            </a:r>
          </a:p>
        </p:txBody>
      </p:sp>
      <p:sp>
        <p:nvSpPr>
          <p:cNvPr id="9" name="Text Placeholder 8">
            <a:extLst>
              <a:ext uri="{FF2B5EF4-FFF2-40B4-BE49-F238E27FC236}">
                <a16:creationId xmlns:a16="http://schemas.microsoft.com/office/drawing/2014/main" id="{B027390D-A613-48EB-A887-205B949306EF}"/>
              </a:ext>
            </a:extLst>
          </p:cNvPr>
          <p:cNvSpPr>
            <a:spLocks noGrp="1"/>
          </p:cNvSpPr>
          <p:nvPr>
            <p:ph type="body" sz="quarter" idx="11"/>
          </p:nvPr>
        </p:nvSpPr>
        <p:spPr/>
        <p:txBody>
          <a:bodyPr/>
          <a:lstStyle/>
          <a:p>
            <a:endParaRPr lang="en-US"/>
          </a:p>
        </p:txBody>
      </p:sp>
      <p:sp>
        <p:nvSpPr>
          <p:cNvPr id="10" name="TextBox 9">
            <a:extLst>
              <a:ext uri="{FF2B5EF4-FFF2-40B4-BE49-F238E27FC236}">
                <a16:creationId xmlns:a16="http://schemas.microsoft.com/office/drawing/2014/main" id="{CB9CED2E-FC94-4E74-9E12-D36EEF1E8FAD}"/>
              </a:ext>
            </a:extLst>
          </p:cNvPr>
          <p:cNvSpPr txBox="1"/>
          <p:nvPr/>
        </p:nvSpPr>
        <p:spPr>
          <a:xfrm>
            <a:off x="595618" y="4989875"/>
            <a:ext cx="8196044" cy="646331"/>
          </a:xfrm>
          <a:prstGeom prst="rect">
            <a:avLst/>
          </a:prstGeom>
          <a:noFill/>
        </p:spPr>
        <p:txBody>
          <a:bodyPr wrap="square" rtlCol="0">
            <a:spAutoFit/>
          </a:bodyPr>
          <a:lstStyle/>
          <a:p>
            <a:pPr algn="l">
              <a:lnSpc>
                <a:spcPct val="90000"/>
              </a:lnSpc>
            </a:pPr>
            <a:r>
              <a:rPr lang="en-US" sz="2000" dirty="0"/>
              <a:t>*Training is proactive, but how can we make it cost effective to implement for our agents?</a:t>
            </a:r>
          </a:p>
        </p:txBody>
      </p:sp>
    </p:spTree>
    <p:extLst>
      <p:ext uri="{BB962C8B-B14F-4D97-AF65-F5344CB8AC3E}">
        <p14:creationId xmlns:p14="http://schemas.microsoft.com/office/powerpoint/2010/main" val="591268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76B3991-8E5F-4380-A7CB-4DB2B04A8E13}"/>
              </a:ext>
            </a:extLst>
          </p:cNvPr>
          <p:cNvSpPr/>
          <p:nvPr/>
        </p:nvSpPr>
        <p:spPr>
          <a:xfrm>
            <a:off x="2364958" y="1611043"/>
            <a:ext cx="2139563" cy="3578087"/>
          </a:xfrm>
          <a:prstGeom prst="rect">
            <a:avLst/>
          </a:prstGeom>
          <a:solidFill>
            <a:schemeClr val="bg1">
              <a:lumMod val="9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A22279D-657D-440D-BA91-96AD20E0AF5B}"/>
              </a:ext>
            </a:extLst>
          </p:cNvPr>
          <p:cNvSpPr/>
          <p:nvPr/>
        </p:nvSpPr>
        <p:spPr>
          <a:xfrm>
            <a:off x="4613912" y="1611043"/>
            <a:ext cx="2183171" cy="3578087"/>
          </a:xfrm>
          <a:prstGeom prst="rect">
            <a:avLst/>
          </a:prstGeom>
          <a:solidFill>
            <a:schemeClr val="bg1">
              <a:lumMod val="9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673D423F-3CBE-4815-876D-36C78E312D8E}"/>
              </a:ext>
            </a:extLst>
          </p:cNvPr>
          <p:cNvSpPr>
            <a:spLocks noGrp="1"/>
          </p:cNvSpPr>
          <p:nvPr>
            <p:ph type="body" sz="quarter" idx="10"/>
          </p:nvPr>
        </p:nvSpPr>
        <p:spPr/>
        <p:txBody>
          <a:bodyPr/>
          <a:lstStyle/>
          <a:p>
            <a:endParaRPr lang="en-US"/>
          </a:p>
        </p:txBody>
      </p:sp>
      <p:sp>
        <p:nvSpPr>
          <p:cNvPr id="30" name="Rectangle: Diagonal Corners Rounded 29">
            <a:extLst>
              <a:ext uri="{FF2B5EF4-FFF2-40B4-BE49-F238E27FC236}">
                <a16:creationId xmlns:a16="http://schemas.microsoft.com/office/drawing/2014/main" id="{E40E47D6-DB8F-4CDE-932C-7A9108C9A1D0}"/>
              </a:ext>
            </a:extLst>
          </p:cNvPr>
          <p:cNvSpPr/>
          <p:nvPr/>
        </p:nvSpPr>
        <p:spPr>
          <a:xfrm>
            <a:off x="2364957" y="5287251"/>
            <a:ext cx="2139563" cy="922578"/>
          </a:xfrm>
          <a:prstGeom prst="round2DiagRect">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Diagonal Corners Rounded 35">
            <a:extLst>
              <a:ext uri="{FF2B5EF4-FFF2-40B4-BE49-F238E27FC236}">
                <a16:creationId xmlns:a16="http://schemas.microsoft.com/office/drawing/2014/main" id="{63BDC507-6F31-454E-96F3-303CFAFDAAE5}"/>
              </a:ext>
            </a:extLst>
          </p:cNvPr>
          <p:cNvSpPr/>
          <p:nvPr/>
        </p:nvSpPr>
        <p:spPr>
          <a:xfrm>
            <a:off x="4613912" y="5287250"/>
            <a:ext cx="2183171" cy="922578"/>
          </a:xfrm>
          <a:prstGeom prst="round2DiagRect">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angle: Diagonal Corners Rounded 36">
            <a:extLst>
              <a:ext uri="{FF2B5EF4-FFF2-40B4-BE49-F238E27FC236}">
                <a16:creationId xmlns:a16="http://schemas.microsoft.com/office/drawing/2014/main" id="{B2D22679-DF57-4F7A-A613-3F06C256BBB7}"/>
              </a:ext>
            </a:extLst>
          </p:cNvPr>
          <p:cNvSpPr/>
          <p:nvPr/>
        </p:nvSpPr>
        <p:spPr>
          <a:xfrm>
            <a:off x="6880231" y="5287249"/>
            <a:ext cx="2197481" cy="922578"/>
          </a:xfrm>
          <a:prstGeom prst="round2DiagRect">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0FEE656-7FCA-4145-9F88-38279416704F}"/>
              </a:ext>
            </a:extLst>
          </p:cNvPr>
          <p:cNvSpPr/>
          <p:nvPr/>
        </p:nvSpPr>
        <p:spPr>
          <a:xfrm>
            <a:off x="6892925" y="1609204"/>
            <a:ext cx="2184788" cy="3578087"/>
          </a:xfrm>
          <a:prstGeom prst="rect">
            <a:avLst/>
          </a:prstGeom>
          <a:solidFill>
            <a:schemeClr val="bg1">
              <a:lumMod val="9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ctangle: Diagonal Corners Rounded 40">
            <a:extLst>
              <a:ext uri="{FF2B5EF4-FFF2-40B4-BE49-F238E27FC236}">
                <a16:creationId xmlns:a16="http://schemas.microsoft.com/office/drawing/2014/main" id="{25A8A5B6-6DED-4C56-88BC-E57C7AAB2B3C}"/>
              </a:ext>
            </a:extLst>
          </p:cNvPr>
          <p:cNvSpPr/>
          <p:nvPr/>
        </p:nvSpPr>
        <p:spPr>
          <a:xfrm>
            <a:off x="128564" y="889233"/>
            <a:ext cx="8851065" cy="612396"/>
          </a:xfrm>
          <a:prstGeom prst="round2DiagRect">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C330D339-F05B-4C1A-A03B-C6EEA18A1DCD}"/>
              </a:ext>
            </a:extLst>
          </p:cNvPr>
          <p:cNvSpPr txBox="1"/>
          <p:nvPr/>
        </p:nvSpPr>
        <p:spPr>
          <a:xfrm>
            <a:off x="2104224" y="910698"/>
            <a:ext cx="4899741" cy="590931"/>
          </a:xfrm>
          <a:prstGeom prst="rect">
            <a:avLst/>
          </a:prstGeom>
          <a:noFill/>
        </p:spPr>
        <p:txBody>
          <a:bodyPr wrap="square" rtlCol="0">
            <a:spAutoFit/>
          </a:bodyPr>
          <a:lstStyle/>
          <a:p>
            <a:pPr algn="l">
              <a:lnSpc>
                <a:spcPct val="90000"/>
              </a:lnSpc>
            </a:pPr>
            <a:r>
              <a:rPr lang="en-US" sz="3600" b="1" dirty="0">
                <a:ln w="10160">
                  <a:solidFill>
                    <a:schemeClr val="tx1"/>
                  </a:solidFill>
                  <a:prstDash val="solid"/>
                </a:ln>
                <a:solidFill>
                  <a:srgbClr val="FFFFFF"/>
                </a:solidFill>
                <a:effectLst>
                  <a:outerShdw blurRad="38100" dist="22860" dir="5400000" algn="tl" rotWithShape="0">
                    <a:srgbClr val="000000">
                      <a:alpha val="30000"/>
                    </a:srgbClr>
                  </a:outerShdw>
                </a:effectLst>
              </a:rPr>
              <a:t>Fraud Training Strategies</a:t>
            </a:r>
          </a:p>
        </p:txBody>
      </p:sp>
      <p:sp>
        <p:nvSpPr>
          <p:cNvPr id="44" name="TextBox 43">
            <a:extLst>
              <a:ext uri="{FF2B5EF4-FFF2-40B4-BE49-F238E27FC236}">
                <a16:creationId xmlns:a16="http://schemas.microsoft.com/office/drawing/2014/main" id="{A0C566DC-416A-46E5-94EF-38CBEF62672A}"/>
              </a:ext>
            </a:extLst>
          </p:cNvPr>
          <p:cNvSpPr txBox="1"/>
          <p:nvPr/>
        </p:nvSpPr>
        <p:spPr>
          <a:xfrm>
            <a:off x="2752524" y="5326804"/>
            <a:ext cx="2107376" cy="867930"/>
          </a:xfrm>
          <a:prstGeom prst="rect">
            <a:avLst/>
          </a:prstGeom>
          <a:noFill/>
        </p:spPr>
        <p:txBody>
          <a:bodyPr wrap="square" rtlCol="0">
            <a:spAutoFit/>
          </a:bodyPr>
          <a:lstStyle/>
          <a:p>
            <a:pPr algn="l">
              <a:lnSpc>
                <a:spcPct val="90000"/>
              </a:lnSpc>
            </a:pPr>
            <a:r>
              <a:rPr lang="en-US" sz="2800" dirty="0">
                <a:solidFill>
                  <a:schemeClr val="bg1"/>
                </a:solidFill>
              </a:rPr>
              <a:t>Train All Agents</a:t>
            </a:r>
          </a:p>
        </p:txBody>
      </p:sp>
      <p:sp>
        <p:nvSpPr>
          <p:cNvPr id="45" name="TextBox 44">
            <a:extLst>
              <a:ext uri="{FF2B5EF4-FFF2-40B4-BE49-F238E27FC236}">
                <a16:creationId xmlns:a16="http://schemas.microsoft.com/office/drawing/2014/main" id="{292F0259-A0C2-4902-8C92-BBE6649738DC}"/>
              </a:ext>
            </a:extLst>
          </p:cNvPr>
          <p:cNvSpPr txBox="1"/>
          <p:nvPr/>
        </p:nvSpPr>
        <p:spPr>
          <a:xfrm>
            <a:off x="4606688" y="5326804"/>
            <a:ext cx="2286237" cy="867930"/>
          </a:xfrm>
          <a:prstGeom prst="rect">
            <a:avLst/>
          </a:prstGeom>
          <a:noFill/>
        </p:spPr>
        <p:txBody>
          <a:bodyPr wrap="square" rtlCol="0">
            <a:spAutoFit/>
          </a:bodyPr>
          <a:lstStyle/>
          <a:p>
            <a:pPr algn="l">
              <a:lnSpc>
                <a:spcPct val="90000"/>
              </a:lnSpc>
            </a:pPr>
            <a:r>
              <a:rPr lang="en-US" sz="2800" dirty="0">
                <a:solidFill>
                  <a:schemeClr val="bg1"/>
                </a:solidFill>
              </a:rPr>
              <a:t>Randomly Select Agents</a:t>
            </a:r>
          </a:p>
        </p:txBody>
      </p:sp>
      <p:sp>
        <p:nvSpPr>
          <p:cNvPr id="46" name="TextBox 45">
            <a:extLst>
              <a:ext uri="{FF2B5EF4-FFF2-40B4-BE49-F238E27FC236}">
                <a16:creationId xmlns:a16="http://schemas.microsoft.com/office/drawing/2014/main" id="{788A42AC-075E-43CC-8817-A9A765253D61}"/>
              </a:ext>
            </a:extLst>
          </p:cNvPr>
          <p:cNvSpPr txBox="1"/>
          <p:nvPr/>
        </p:nvSpPr>
        <p:spPr>
          <a:xfrm>
            <a:off x="7136670" y="5311711"/>
            <a:ext cx="1975664" cy="867930"/>
          </a:xfrm>
          <a:prstGeom prst="rect">
            <a:avLst/>
          </a:prstGeom>
          <a:noFill/>
        </p:spPr>
        <p:txBody>
          <a:bodyPr wrap="square" rtlCol="0">
            <a:spAutoFit/>
          </a:bodyPr>
          <a:lstStyle/>
          <a:p>
            <a:pPr algn="l">
              <a:lnSpc>
                <a:spcPct val="90000"/>
              </a:lnSpc>
            </a:pPr>
            <a:r>
              <a:rPr lang="en-US" sz="2800" dirty="0">
                <a:solidFill>
                  <a:schemeClr val="bg1"/>
                </a:solidFill>
              </a:rPr>
              <a:t>Predictive Modeling</a:t>
            </a:r>
          </a:p>
        </p:txBody>
      </p:sp>
      <p:sp>
        <p:nvSpPr>
          <p:cNvPr id="48" name="TextBox 47">
            <a:extLst>
              <a:ext uri="{FF2B5EF4-FFF2-40B4-BE49-F238E27FC236}">
                <a16:creationId xmlns:a16="http://schemas.microsoft.com/office/drawing/2014/main" id="{6D3FEFF9-24F0-4F57-AFB6-EDDB14CE46EE}"/>
              </a:ext>
            </a:extLst>
          </p:cNvPr>
          <p:cNvSpPr txBox="1"/>
          <p:nvPr/>
        </p:nvSpPr>
        <p:spPr>
          <a:xfrm>
            <a:off x="2341305" y="1600169"/>
            <a:ext cx="2328345" cy="2613023"/>
          </a:xfrm>
          <a:prstGeom prst="rect">
            <a:avLst/>
          </a:prstGeom>
          <a:noFill/>
        </p:spPr>
        <p:txBody>
          <a:bodyPr wrap="square" rtlCol="0">
            <a:spAutoFit/>
          </a:bodyPr>
          <a:lstStyle/>
          <a:p>
            <a:pPr algn="l">
              <a:lnSpc>
                <a:spcPct val="90000"/>
              </a:lnSpc>
            </a:pPr>
            <a:r>
              <a:rPr lang="en-US" sz="1400" b="1" u="sng" dirty="0"/>
              <a:t>Pros</a:t>
            </a:r>
          </a:p>
          <a:p>
            <a:pPr marL="171450" indent="-171450" algn="l">
              <a:lnSpc>
                <a:spcPct val="90000"/>
              </a:lnSpc>
              <a:buFont typeface="Arial" panose="020B0604020202020204" pitchFamily="34" charset="0"/>
              <a:buChar char="•"/>
            </a:pPr>
            <a:r>
              <a:rPr lang="en-US" sz="1400" dirty="0"/>
              <a:t>Every agent receives training for fraud prevention</a:t>
            </a:r>
          </a:p>
          <a:p>
            <a:pPr algn="l">
              <a:lnSpc>
                <a:spcPct val="90000"/>
              </a:lnSpc>
            </a:pPr>
            <a:endParaRPr lang="en-US" sz="1400" dirty="0"/>
          </a:p>
          <a:p>
            <a:pPr marL="171450" indent="-171450" algn="l">
              <a:lnSpc>
                <a:spcPct val="90000"/>
              </a:lnSpc>
              <a:buFont typeface="Arial" panose="020B0604020202020204" pitchFamily="34" charset="0"/>
              <a:buChar char="•"/>
            </a:pPr>
            <a:r>
              <a:rPr lang="en-US" sz="1400" dirty="0"/>
              <a:t>No more fraud! </a:t>
            </a:r>
          </a:p>
          <a:p>
            <a:pPr algn="l">
              <a:lnSpc>
                <a:spcPct val="90000"/>
              </a:lnSpc>
            </a:pPr>
            <a:endParaRPr lang="en-US" sz="1400" dirty="0"/>
          </a:p>
          <a:p>
            <a:pPr algn="l">
              <a:lnSpc>
                <a:spcPct val="90000"/>
              </a:lnSpc>
            </a:pPr>
            <a:r>
              <a:rPr lang="en-US" sz="1400" b="1" u="sng" dirty="0"/>
              <a:t>Cons</a:t>
            </a:r>
          </a:p>
          <a:p>
            <a:pPr marL="171450" indent="-171450" algn="l">
              <a:lnSpc>
                <a:spcPct val="90000"/>
              </a:lnSpc>
              <a:buFont typeface="Arial" panose="020B0604020202020204" pitchFamily="34" charset="0"/>
              <a:buChar char="•"/>
            </a:pPr>
            <a:r>
              <a:rPr lang="en-US" sz="1400" dirty="0"/>
              <a:t>Highest Cost</a:t>
            </a:r>
          </a:p>
          <a:p>
            <a:pPr algn="l">
              <a:lnSpc>
                <a:spcPct val="90000"/>
              </a:lnSpc>
            </a:pPr>
            <a:endParaRPr lang="en-US" sz="1400" dirty="0"/>
          </a:p>
          <a:p>
            <a:pPr marL="171450" indent="-171450" algn="l">
              <a:lnSpc>
                <a:spcPct val="90000"/>
              </a:lnSpc>
              <a:buFont typeface="Arial" panose="020B0604020202020204" pitchFamily="34" charset="0"/>
              <a:buChar char="•"/>
            </a:pPr>
            <a:r>
              <a:rPr lang="en-US" sz="1400" dirty="0"/>
              <a:t>Time consuming</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Unsustainable</a:t>
            </a:r>
          </a:p>
        </p:txBody>
      </p:sp>
      <p:sp>
        <p:nvSpPr>
          <p:cNvPr id="49" name="TextBox 48">
            <a:extLst>
              <a:ext uri="{FF2B5EF4-FFF2-40B4-BE49-F238E27FC236}">
                <a16:creationId xmlns:a16="http://schemas.microsoft.com/office/drawing/2014/main" id="{78927561-EFD6-4E12-8113-04FC25D1D4C3}"/>
              </a:ext>
            </a:extLst>
          </p:cNvPr>
          <p:cNvSpPr txBox="1"/>
          <p:nvPr/>
        </p:nvSpPr>
        <p:spPr>
          <a:xfrm>
            <a:off x="4606688" y="1601586"/>
            <a:ext cx="2277797" cy="2806922"/>
          </a:xfrm>
          <a:prstGeom prst="rect">
            <a:avLst/>
          </a:prstGeom>
          <a:noFill/>
        </p:spPr>
        <p:txBody>
          <a:bodyPr wrap="square" rtlCol="0">
            <a:spAutoFit/>
          </a:bodyPr>
          <a:lstStyle/>
          <a:p>
            <a:pPr algn="l">
              <a:lnSpc>
                <a:spcPct val="90000"/>
              </a:lnSpc>
            </a:pPr>
            <a:r>
              <a:rPr lang="en-US" sz="1400" b="1" u="sng" dirty="0"/>
              <a:t>Pros</a:t>
            </a:r>
          </a:p>
          <a:p>
            <a:pPr marL="171450" indent="-171450" algn="l">
              <a:lnSpc>
                <a:spcPct val="90000"/>
              </a:lnSpc>
              <a:buFont typeface="Arial" panose="020B0604020202020204" pitchFamily="34" charset="0"/>
              <a:buChar char="•"/>
            </a:pPr>
            <a:r>
              <a:rPr lang="en-US" sz="1400" dirty="0"/>
              <a:t>Random sampling, no bias</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Lower training costs</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algn="l">
              <a:lnSpc>
                <a:spcPct val="90000"/>
              </a:lnSpc>
            </a:pPr>
            <a:r>
              <a:rPr lang="en-US" sz="1400" b="1" u="sng" dirty="0"/>
              <a:t>Cons</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Higher costs of fraud</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No way of knowing if we trained the agents who need it</a:t>
            </a:r>
          </a:p>
          <a:p>
            <a:pPr marL="171450" indent="-171450" algn="l">
              <a:lnSpc>
                <a:spcPct val="90000"/>
              </a:lnSpc>
              <a:buFont typeface="Arial" panose="020B0604020202020204" pitchFamily="34" charset="0"/>
              <a:buChar char="•"/>
            </a:pPr>
            <a:endParaRPr lang="en-US" sz="1400" dirty="0"/>
          </a:p>
        </p:txBody>
      </p:sp>
      <p:sp>
        <p:nvSpPr>
          <p:cNvPr id="50" name="TextBox 49">
            <a:extLst>
              <a:ext uri="{FF2B5EF4-FFF2-40B4-BE49-F238E27FC236}">
                <a16:creationId xmlns:a16="http://schemas.microsoft.com/office/drawing/2014/main" id="{92E982B5-5A56-4200-B65B-62C74F6C9340}"/>
              </a:ext>
            </a:extLst>
          </p:cNvPr>
          <p:cNvSpPr txBox="1"/>
          <p:nvPr/>
        </p:nvSpPr>
        <p:spPr>
          <a:xfrm>
            <a:off x="6880232" y="1599748"/>
            <a:ext cx="2232102" cy="2613023"/>
          </a:xfrm>
          <a:prstGeom prst="rect">
            <a:avLst/>
          </a:prstGeom>
          <a:noFill/>
        </p:spPr>
        <p:txBody>
          <a:bodyPr wrap="square" rtlCol="0">
            <a:spAutoFit/>
          </a:bodyPr>
          <a:lstStyle/>
          <a:p>
            <a:pPr algn="l">
              <a:lnSpc>
                <a:spcPct val="90000"/>
              </a:lnSpc>
            </a:pPr>
            <a:r>
              <a:rPr lang="en-US" sz="1400" b="1" u="sng" dirty="0"/>
              <a:t>Pros</a:t>
            </a:r>
          </a:p>
          <a:p>
            <a:pPr marL="171450" indent="-171450" algn="l">
              <a:lnSpc>
                <a:spcPct val="90000"/>
              </a:lnSpc>
              <a:buFont typeface="Arial" panose="020B0604020202020204" pitchFamily="34" charset="0"/>
              <a:buChar char="•"/>
            </a:pPr>
            <a:r>
              <a:rPr lang="en-US" sz="1400" dirty="0"/>
              <a:t>Determines which agents have the highest risk of fraud.</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Lower cost of fraud</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Can fine tune to balance fraud and training costs</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Reusable and sustainable</a:t>
            </a:r>
          </a:p>
          <a:p>
            <a:pPr marL="171450" indent="-171450" algn="l">
              <a:lnSpc>
                <a:spcPct val="90000"/>
              </a:lnSpc>
              <a:buFont typeface="Arial" panose="020B0604020202020204" pitchFamily="34" charset="0"/>
              <a:buChar char="•"/>
            </a:pPr>
            <a:endParaRPr lang="en-US" sz="1400" dirty="0"/>
          </a:p>
          <a:p>
            <a:pPr algn="l">
              <a:lnSpc>
                <a:spcPct val="90000"/>
              </a:lnSpc>
            </a:pPr>
            <a:endParaRPr lang="en-US" sz="1400" dirty="0"/>
          </a:p>
        </p:txBody>
      </p:sp>
      <p:pic>
        <p:nvPicPr>
          <p:cNvPr id="52" name="Graphic 51" descr="Earth Globe Americas">
            <a:extLst>
              <a:ext uri="{FF2B5EF4-FFF2-40B4-BE49-F238E27FC236}">
                <a16:creationId xmlns:a16="http://schemas.microsoft.com/office/drawing/2014/main" id="{9BF07856-C1F6-4FC7-A96D-26630CE175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64288" y="4139814"/>
            <a:ext cx="914400" cy="909734"/>
          </a:xfrm>
          <a:prstGeom prst="rect">
            <a:avLst/>
          </a:prstGeom>
        </p:spPr>
      </p:pic>
      <p:pic>
        <p:nvPicPr>
          <p:cNvPr id="54" name="Graphic 53" descr="Computer">
            <a:extLst>
              <a:ext uri="{FF2B5EF4-FFF2-40B4-BE49-F238E27FC236}">
                <a16:creationId xmlns:a16="http://schemas.microsoft.com/office/drawing/2014/main" id="{D80AFF6E-E691-4821-937A-DF8EE7BB3C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39083" y="4139814"/>
            <a:ext cx="914400" cy="914400"/>
          </a:xfrm>
          <a:prstGeom prst="rect">
            <a:avLst/>
          </a:prstGeom>
        </p:spPr>
      </p:pic>
      <p:pic>
        <p:nvPicPr>
          <p:cNvPr id="56" name="Graphic 55" descr="Drama">
            <a:extLst>
              <a:ext uri="{FF2B5EF4-FFF2-40B4-BE49-F238E27FC236}">
                <a16:creationId xmlns:a16="http://schemas.microsoft.com/office/drawing/2014/main" id="{766F109E-397B-4FBB-97E4-E5A8ECD368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86260" y="4139814"/>
            <a:ext cx="914400" cy="914400"/>
          </a:xfrm>
          <a:prstGeom prst="rect">
            <a:avLst/>
          </a:prstGeom>
        </p:spPr>
      </p:pic>
      <p:sp>
        <p:nvSpPr>
          <p:cNvPr id="24" name="Rectangle 23">
            <a:extLst>
              <a:ext uri="{FF2B5EF4-FFF2-40B4-BE49-F238E27FC236}">
                <a16:creationId xmlns:a16="http://schemas.microsoft.com/office/drawing/2014/main" id="{A4065F0B-313E-47AC-85CD-7D40CDCAEC50}"/>
              </a:ext>
            </a:extLst>
          </p:cNvPr>
          <p:cNvSpPr/>
          <p:nvPr/>
        </p:nvSpPr>
        <p:spPr>
          <a:xfrm>
            <a:off x="70779" y="1599748"/>
            <a:ext cx="2184788" cy="3578087"/>
          </a:xfrm>
          <a:prstGeom prst="rect">
            <a:avLst/>
          </a:prstGeom>
          <a:solidFill>
            <a:schemeClr val="bg1">
              <a:lumMod val="9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Diagonal Corners Rounded 24">
            <a:extLst>
              <a:ext uri="{FF2B5EF4-FFF2-40B4-BE49-F238E27FC236}">
                <a16:creationId xmlns:a16="http://schemas.microsoft.com/office/drawing/2014/main" id="{813D0293-25F9-47EC-A73B-8C4CBC6A8B9B}"/>
              </a:ext>
            </a:extLst>
          </p:cNvPr>
          <p:cNvSpPr/>
          <p:nvPr/>
        </p:nvSpPr>
        <p:spPr>
          <a:xfrm>
            <a:off x="103521" y="5311711"/>
            <a:ext cx="2139563" cy="922578"/>
          </a:xfrm>
          <a:prstGeom prst="round2DiagRect">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C5D6987-A1D8-416E-9D2D-49D34B9C188B}"/>
              </a:ext>
            </a:extLst>
          </p:cNvPr>
          <p:cNvSpPr txBox="1"/>
          <p:nvPr/>
        </p:nvSpPr>
        <p:spPr>
          <a:xfrm>
            <a:off x="314525" y="5333237"/>
            <a:ext cx="2107376" cy="867930"/>
          </a:xfrm>
          <a:prstGeom prst="rect">
            <a:avLst/>
          </a:prstGeom>
          <a:noFill/>
        </p:spPr>
        <p:txBody>
          <a:bodyPr wrap="square" rtlCol="0">
            <a:spAutoFit/>
          </a:bodyPr>
          <a:lstStyle/>
          <a:p>
            <a:pPr algn="l">
              <a:lnSpc>
                <a:spcPct val="90000"/>
              </a:lnSpc>
            </a:pPr>
            <a:r>
              <a:rPr lang="en-US" sz="2800" dirty="0">
                <a:solidFill>
                  <a:schemeClr val="bg1"/>
                </a:solidFill>
              </a:rPr>
              <a:t>Operations As-Is</a:t>
            </a:r>
          </a:p>
        </p:txBody>
      </p:sp>
      <p:sp>
        <p:nvSpPr>
          <p:cNvPr id="3" name="TextBox 2">
            <a:extLst>
              <a:ext uri="{FF2B5EF4-FFF2-40B4-BE49-F238E27FC236}">
                <a16:creationId xmlns:a16="http://schemas.microsoft.com/office/drawing/2014/main" id="{98BA0006-4946-44F5-8017-AAEF3C643535}"/>
              </a:ext>
            </a:extLst>
          </p:cNvPr>
          <p:cNvSpPr txBox="1"/>
          <p:nvPr/>
        </p:nvSpPr>
        <p:spPr>
          <a:xfrm>
            <a:off x="103521" y="1611043"/>
            <a:ext cx="2128393" cy="3194721"/>
          </a:xfrm>
          <a:prstGeom prst="rect">
            <a:avLst/>
          </a:prstGeom>
          <a:noFill/>
        </p:spPr>
        <p:txBody>
          <a:bodyPr wrap="square" rtlCol="0">
            <a:spAutoFit/>
          </a:bodyPr>
          <a:lstStyle/>
          <a:p>
            <a:pPr algn="l">
              <a:lnSpc>
                <a:spcPct val="90000"/>
              </a:lnSpc>
            </a:pPr>
            <a:r>
              <a:rPr lang="en-US" sz="1400" b="1" u="sng" dirty="0"/>
              <a:t>Pros</a:t>
            </a:r>
          </a:p>
          <a:p>
            <a:pPr algn="l">
              <a:lnSpc>
                <a:spcPct val="90000"/>
              </a:lnSpc>
            </a:pPr>
            <a:endParaRPr lang="en-US" sz="1400" b="1" u="sng" dirty="0"/>
          </a:p>
          <a:p>
            <a:pPr marL="285750" indent="-285750" algn="l">
              <a:lnSpc>
                <a:spcPct val="90000"/>
              </a:lnSpc>
              <a:buFont typeface="Arial" panose="020B0604020202020204" pitchFamily="34" charset="0"/>
              <a:buChar char="•"/>
            </a:pPr>
            <a:r>
              <a:rPr lang="en-US" sz="1400" dirty="0"/>
              <a:t>No initial costs or development</a:t>
            </a:r>
          </a:p>
          <a:p>
            <a:pPr marL="285750" indent="-285750" algn="l">
              <a:lnSpc>
                <a:spcPct val="90000"/>
              </a:lnSpc>
              <a:buFont typeface="Arial" panose="020B0604020202020204" pitchFamily="34" charset="0"/>
              <a:buChar char="•"/>
            </a:pPr>
            <a:endParaRPr lang="en-US" sz="1400" dirty="0"/>
          </a:p>
          <a:p>
            <a:pPr marL="285750" indent="-285750" algn="l">
              <a:lnSpc>
                <a:spcPct val="90000"/>
              </a:lnSpc>
              <a:buFont typeface="Arial" panose="020B0604020202020204" pitchFamily="34" charset="0"/>
              <a:buChar char="•"/>
            </a:pPr>
            <a:r>
              <a:rPr lang="en-US" sz="1400" dirty="0"/>
              <a:t>No training costs</a:t>
            </a:r>
          </a:p>
          <a:p>
            <a:pPr algn="l">
              <a:lnSpc>
                <a:spcPct val="90000"/>
              </a:lnSpc>
            </a:pPr>
            <a:endParaRPr lang="en-US" sz="1400" dirty="0"/>
          </a:p>
          <a:p>
            <a:pPr algn="l">
              <a:lnSpc>
                <a:spcPct val="90000"/>
              </a:lnSpc>
            </a:pPr>
            <a:r>
              <a:rPr lang="en-US" sz="1400" b="1" u="sng" dirty="0"/>
              <a:t>Cons</a:t>
            </a:r>
          </a:p>
          <a:p>
            <a:pPr marL="285750" indent="-285750" algn="l">
              <a:lnSpc>
                <a:spcPct val="90000"/>
              </a:lnSpc>
              <a:buFont typeface="Arial" panose="020B0604020202020204" pitchFamily="34" charset="0"/>
              <a:buChar char="•"/>
            </a:pPr>
            <a:r>
              <a:rPr lang="en-US" sz="1400" dirty="0"/>
              <a:t>Vulnerable to increased fraud attacks</a:t>
            </a:r>
          </a:p>
          <a:p>
            <a:pPr marL="285750" indent="-285750" algn="l">
              <a:lnSpc>
                <a:spcPct val="90000"/>
              </a:lnSpc>
              <a:buFont typeface="Arial" panose="020B0604020202020204" pitchFamily="34" charset="0"/>
              <a:buChar char="•"/>
            </a:pPr>
            <a:endParaRPr lang="en-US" sz="1400" dirty="0"/>
          </a:p>
          <a:p>
            <a:pPr marL="285750" indent="-285750" algn="l">
              <a:lnSpc>
                <a:spcPct val="90000"/>
              </a:lnSpc>
              <a:buFont typeface="Arial" panose="020B0604020202020204" pitchFamily="34" charset="0"/>
              <a:buChar char="•"/>
            </a:pPr>
            <a:r>
              <a:rPr lang="en-US" sz="1400" dirty="0"/>
              <a:t>Highest cost of fraud</a:t>
            </a:r>
          </a:p>
          <a:p>
            <a:pPr marL="285750" indent="-285750" algn="l">
              <a:lnSpc>
                <a:spcPct val="90000"/>
              </a:lnSpc>
              <a:buFont typeface="Arial" panose="020B0604020202020204" pitchFamily="34" charset="0"/>
              <a:buChar char="•"/>
            </a:pPr>
            <a:endParaRPr lang="en-US" sz="1400" dirty="0"/>
          </a:p>
          <a:p>
            <a:pPr marL="285750" indent="-285750" algn="l">
              <a:lnSpc>
                <a:spcPct val="90000"/>
              </a:lnSpc>
              <a:buFont typeface="Arial" panose="020B0604020202020204" pitchFamily="34" charset="0"/>
              <a:buChar char="•"/>
            </a:pPr>
            <a:endParaRPr lang="en-US" sz="1400" dirty="0"/>
          </a:p>
          <a:p>
            <a:pPr marL="285750" indent="-285750" algn="l">
              <a:lnSpc>
                <a:spcPct val="90000"/>
              </a:lnSpc>
              <a:buFont typeface="Arial" panose="020B0604020202020204" pitchFamily="34" charset="0"/>
              <a:buChar char="•"/>
            </a:pPr>
            <a:endParaRPr lang="en-US" sz="1400" dirty="0">
              <a:effectLst>
                <a:outerShdw blurRad="38100" dist="38100" dir="2700000" algn="tl">
                  <a:srgbClr val="000000">
                    <a:alpha val="43137"/>
                  </a:srgbClr>
                </a:outerShdw>
              </a:effectLst>
            </a:endParaRPr>
          </a:p>
        </p:txBody>
      </p:sp>
      <p:pic>
        <p:nvPicPr>
          <p:cNvPr id="5" name="Graphic 4" descr="Robber">
            <a:extLst>
              <a:ext uri="{FF2B5EF4-FFF2-40B4-BE49-F238E27FC236}">
                <a16:creationId xmlns:a16="http://schemas.microsoft.com/office/drawing/2014/main" id="{31581692-0D55-4718-A686-F4A5479146E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6556" y="4173510"/>
            <a:ext cx="914400" cy="914400"/>
          </a:xfrm>
          <a:prstGeom prst="rect">
            <a:avLst/>
          </a:prstGeom>
        </p:spPr>
      </p:pic>
    </p:spTree>
    <p:extLst>
      <p:ext uri="{BB962C8B-B14F-4D97-AF65-F5344CB8AC3E}">
        <p14:creationId xmlns:p14="http://schemas.microsoft.com/office/powerpoint/2010/main" val="1755776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EE28C1-3464-4CA2-AB7F-C090ED1D0CBF}"/>
              </a:ext>
            </a:extLst>
          </p:cNvPr>
          <p:cNvSpPr>
            <a:spLocks noGrp="1"/>
          </p:cNvSpPr>
          <p:nvPr>
            <p:ph type="body" sz="quarter" idx="10"/>
          </p:nvPr>
        </p:nvSpPr>
        <p:spPr/>
        <p:txBody>
          <a:bodyPr/>
          <a:lstStyle/>
          <a:p>
            <a:endParaRPr lang="en-US"/>
          </a:p>
        </p:txBody>
      </p:sp>
      <p:graphicFrame>
        <p:nvGraphicFramePr>
          <p:cNvPr id="3" name="Diagram 2">
            <a:extLst>
              <a:ext uri="{FF2B5EF4-FFF2-40B4-BE49-F238E27FC236}">
                <a16:creationId xmlns:a16="http://schemas.microsoft.com/office/drawing/2014/main" id="{32EBE821-F1AF-46FE-A0CB-BD8D2BAAABE8}"/>
              </a:ext>
            </a:extLst>
          </p:cNvPr>
          <p:cNvGraphicFramePr/>
          <p:nvPr>
            <p:extLst>
              <p:ext uri="{D42A27DB-BD31-4B8C-83A1-F6EECF244321}">
                <p14:modId xmlns:p14="http://schemas.microsoft.com/office/powerpoint/2010/main" val="275141882"/>
              </p:ext>
            </p:extLst>
          </p:nvPr>
        </p:nvGraphicFramePr>
        <p:xfrm>
          <a:off x="713065" y="1830686"/>
          <a:ext cx="7805611" cy="37217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 name="Flowchart: Predefined Process 17">
            <a:extLst>
              <a:ext uri="{FF2B5EF4-FFF2-40B4-BE49-F238E27FC236}">
                <a16:creationId xmlns:a16="http://schemas.microsoft.com/office/drawing/2014/main" id="{66649AFA-33AF-4352-A712-92D9E13D17A4}"/>
              </a:ext>
            </a:extLst>
          </p:cNvPr>
          <p:cNvSpPr/>
          <p:nvPr/>
        </p:nvSpPr>
        <p:spPr>
          <a:xfrm>
            <a:off x="713065" y="1291904"/>
            <a:ext cx="7751428" cy="619139"/>
          </a:xfrm>
          <a:prstGeom prst="flowChartPredefinedProcess">
            <a:avLst/>
          </a:prstGeom>
          <a:solidFill>
            <a:schemeClr val="accent2"/>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2218EF1-3062-44A9-A3D3-C39DC0033DEC}"/>
              </a:ext>
            </a:extLst>
          </p:cNvPr>
          <p:cNvSpPr/>
          <p:nvPr/>
        </p:nvSpPr>
        <p:spPr>
          <a:xfrm>
            <a:off x="658882" y="1203158"/>
            <a:ext cx="7859794" cy="707886"/>
          </a:xfrm>
          <a:prstGeom prst="rect">
            <a:avLst/>
          </a:prstGeom>
          <a:noFill/>
        </p:spPr>
        <p:txBody>
          <a:bodyPr wrap="square" lIns="91440" tIns="45720" rIns="91440" bIns="45720">
            <a:spAutoFit/>
          </a:bodyPr>
          <a:lstStyle/>
          <a:p>
            <a:pPr algn="ctr"/>
            <a:r>
              <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Modeling Process Outline</a:t>
            </a:r>
          </a:p>
        </p:txBody>
      </p:sp>
      <p:sp>
        <p:nvSpPr>
          <p:cNvPr id="21" name="TextBox 20">
            <a:extLst>
              <a:ext uri="{FF2B5EF4-FFF2-40B4-BE49-F238E27FC236}">
                <a16:creationId xmlns:a16="http://schemas.microsoft.com/office/drawing/2014/main" id="{872F1797-02E8-4948-9131-206A3DE8DB3F}"/>
              </a:ext>
            </a:extLst>
          </p:cNvPr>
          <p:cNvSpPr txBox="1"/>
          <p:nvPr/>
        </p:nvSpPr>
        <p:spPr>
          <a:xfrm>
            <a:off x="502031" y="5422818"/>
            <a:ext cx="8410049" cy="757130"/>
          </a:xfrm>
          <a:prstGeom prst="rect">
            <a:avLst/>
          </a:prstGeom>
          <a:noFill/>
        </p:spPr>
        <p:txBody>
          <a:bodyPr wrap="square" rtlCol="0">
            <a:spAutoFit/>
          </a:bodyPr>
          <a:lstStyle/>
          <a:p>
            <a:pPr algn="l">
              <a:lnSpc>
                <a:spcPct val="90000"/>
              </a:lnSpc>
            </a:pPr>
            <a:r>
              <a:rPr lang="en-US" sz="1600" b="1" u="sng" dirty="0"/>
              <a:t>Goal:</a:t>
            </a:r>
            <a:r>
              <a:rPr lang="en-US" sz="1600" b="1" dirty="0"/>
              <a:t> </a:t>
            </a:r>
            <a:r>
              <a:rPr lang="en-US" sz="1600" dirty="0"/>
              <a:t>Build a model that will help us identify which agents should receive additional fraud training</a:t>
            </a:r>
          </a:p>
          <a:p>
            <a:pPr algn="l">
              <a:lnSpc>
                <a:spcPct val="90000"/>
              </a:lnSpc>
            </a:pPr>
            <a:endParaRPr lang="en-US" sz="1600" dirty="0"/>
          </a:p>
          <a:p>
            <a:pPr algn="l">
              <a:lnSpc>
                <a:spcPct val="90000"/>
              </a:lnSpc>
            </a:pPr>
            <a:endParaRPr lang="en-US" sz="1600" b="1" u="sng" dirty="0"/>
          </a:p>
        </p:txBody>
      </p:sp>
    </p:spTree>
    <p:extLst>
      <p:ext uri="{BB962C8B-B14F-4D97-AF65-F5344CB8AC3E}">
        <p14:creationId xmlns:p14="http://schemas.microsoft.com/office/powerpoint/2010/main" val="1539080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597911-A641-4DE2-B9CD-D326819D61D1}"/>
              </a:ext>
            </a:extLst>
          </p:cNvPr>
          <p:cNvSpPr>
            <a:spLocks noGrp="1"/>
          </p:cNvSpPr>
          <p:nvPr>
            <p:ph sz="half" idx="1"/>
          </p:nvPr>
        </p:nvSpPr>
        <p:spPr>
          <a:xfrm>
            <a:off x="457200" y="2206255"/>
            <a:ext cx="4038600" cy="4525963"/>
          </a:xfrm>
        </p:spPr>
        <p:txBody>
          <a:bodyPr/>
          <a:lstStyle/>
          <a:p>
            <a:r>
              <a:rPr lang="en-US" dirty="0"/>
              <a:t>MoneyGram Databases</a:t>
            </a:r>
          </a:p>
          <a:p>
            <a:pPr lvl="1"/>
            <a:r>
              <a:rPr lang="en-US" dirty="0"/>
              <a:t>Agent location</a:t>
            </a:r>
          </a:p>
          <a:p>
            <a:pPr lvl="1"/>
            <a:r>
              <a:rPr lang="en-US" dirty="0"/>
              <a:t>Software</a:t>
            </a:r>
          </a:p>
          <a:p>
            <a:pPr lvl="1"/>
            <a:r>
              <a:rPr lang="en-US" dirty="0"/>
              <a:t>Credit</a:t>
            </a:r>
          </a:p>
          <a:p>
            <a:pPr lvl="1"/>
            <a:r>
              <a:rPr lang="en-US" dirty="0"/>
              <a:t>Account blocks</a:t>
            </a:r>
          </a:p>
          <a:p>
            <a:r>
              <a:rPr lang="en-US" dirty="0"/>
              <a:t>External Data</a:t>
            </a:r>
          </a:p>
          <a:p>
            <a:pPr lvl="1"/>
            <a:r>
              <a:rPr lang="en-US" dirty="0"/>
              <a:t>FBI Crime Stats</a:t>
            </a:r>
          </a:p>
          <a:p>
            <a:pPr lvl="1"/>
            <a:r>
              <a:rPr lang="en-US" dirty="0"/>
              <a:t>US Census</a:t>
            </a:r>
          </a:p>
          <a:p>
            <a:pPr lvl="2"/>
            <a:r>
              <a:rPr lang="en-US" dirty="0"/>
              <a:t>Population</a:t>
            </a:r>
          </a:p>
          <a:p>
            <a:pPr lvl="2"/>
            <a:r>
              <a:rPr lang="en-US" dirty="0"/>
              <a:t>Education</a:t>
            </a:r>
          </a:p>
          <a:p>
            <a:pPr lvl="2"/>
            <a:r>
              <a:rPr lang="en-US" dirty="0"/>
              <a:t>Poverty</a:t>
            </a:r>
          </a:p>
          <a:p>
            <a:pPr lvl="2"/>
            <a:endParaRPr lang="en-US" dirty="0"/>
          </a:p>
          <a:p>
            <a:pPr lvl="1"/>
            <a:endParaRPr lang="en-US" dirty="0"/>
          </a:p>
          <a:p>
            <a:pPr lvl="1"/>
            <a:endParaRPr lang="en-US" dirty="0"/>
          </a:p>
          <a:p>
            <a:endParaRPr lang="en-US" dirty="0"/>
          </a:p>
          <a:p>
            <a:endParaRPr lang="en-US" dirty="0"/>
          </a:p>
          <a:p>
            <a:endParaRPr lang="en-US" dirty="0"/>
          </a:p>
        </p:txBody>
      </p:sp>
      <p:sp>
        <p:nvSpPr>
          <p:cNvPr id="5" name="Content Placeholder 4">
            <a:extLst>
              <a:ext uri="{FF2B5EF4-FFF2-40B4-BE49-F238E27FC236}">
                <a16:creationId xmlns:a16="http://schemas.microsoft.com/office/drawing/2014/main" id="{70466D88-10AB-4DF3-9AF9-B67F7AD2BC48}"/>
              </a:ext>
            </a:extLst>
          </p:cNvPr>
          <p:cNvSpPr>
            <a:spLocks noGrp="1"/>
          </p:cNvSpPr>
          <p:nvPr>
            <p:ph sz="half" idx="2"/>
          </p:nvPr>
        </p:nvSpPr>
        <p:spPr>
          <a:xfrm>
            <a:off x="4648200" y="2206255"/>
            <a:ext cx="4038600" cy="4525963"/>
          </a:xfrm>
        </p:spPr>
        <p:txBody>
          <a:bodyPr/>
          <a:lstStyle/>
          <a:p>
            <a:r>
              <a:rPr lang="en-US" dirty="0"/>
              <a:t>United States</a:t>
            </a:r>
          </a:p>
          <a:p>
            <a:r>
              <a:rPr lang="en-US" dirty="0"/>
              <a:t>Social Engineering fraud</a:t>
            </a:r>
          </a:p>
          <a:p>
            <a:r>
              <a:rPr lang="en-US" dirty="0"/>
              <a:t>Thick Client Software</a:t>
            </a:r>
          </a:p>
          <a:p>
            <a:r>
              <a:rPr lang="en-US" dirty="0"/>
              <a:t>Fraud cases from 2014 through 2017</a:t>
            </a:r>
          </a:p>
          <a:p>
            <a:r>
              <a:rPr lang="en-US" dirty="0"/>
              <a:t>Send Transactability</a:t>
            </a:r>
          </a:p>
          <a:p>
            <a:endParaRPr lang="en-US" dirty="0"/>
          </a:p>
        </p:txBody>
      </p:sp>
      <p:sp>
        <p:nvSpPr>
          <p:cNvPr id="3" name="Title 2">
            <a:extLst>
              <a:ext uri="{FF2B5EF4-FFF2-40B4-BE49-F238E27FC236}">
                <a16:creationId xmlns:a16="http://schemas.microsoft.com/office/drawing/2014/main" id="{6E2282A4-C00A-43B7-8CA2-64F210947F3A}"/>
              </a:ext>
            </a:extLst>
          </p:cNvPr>
          <p:cNvSpPr>
            <a:spLocks noGrp="1"/>
          </p:cNvSpPr>
          <p:nvPr>
            <p:ph type="ctrTitle"/>
          </p:nvPr>
        </p:nvSpPr>
        <p:spPr/>
        <p:txBody>
          <a:bodyPr/>
          <a:lstStyle/>
          <a:p>
            <a:r>
              <a:rPr lang="en-US" dirty="0"/>
              <a:t>Data Analysis</a:t>
            </a:r>
          </a:p>
        </p:txBody>
      </p:sp>
      <p:sp>
        <p:nvSpPr>
          <p:cNvPr id="6" name="Text Placeholder 5">
            <a:extLst>
              <a:ext uri="{FF2B5EF4-FFF2-40B4-BE49-F238E27FC236}">
                <a16:creationId xmlns:a16="http://schemas.microsoft.com/office/drawing/2014/main" id="{40DDEAB8-23FE-4B0A-AE1B-27E23726D85F}"/>
              </a:ext>
            </a:extLst>
          </p:cNvPr>
          <p:cNvSpPr>
            <a:spLocks noGrp="1"/>
          </p:cNvSpPr>
          <p:nvPr>
            <p:ph type="body" sz="quarter" idx="10"/>
          </p:nvPr>
        </p:nvSpPr>
        <p:spPr/>
        <p:txBody>
          <a:bodyPr/>
          <a:lstStyle/>
          <a:p>
            <a:endParaRPr lang="en-US"/>
          </a:p>
        </p:txBody>
      </p:sp>
      <p:sp>
        <p:nvSpPr>
          <p:cNvPr id="7" name="TextBox 6">
            <a:extLst>
              <a:ext uri="{FF2B5EF4-FFF2-40B4-BE49-F238E27FC236}">
                <a16:creationId xmlns:a16="http://schemas.microsoft.com/office/drawing/2014/main" id="{2116D266-946A-4414-B938-1C4FA9C25398}"/>
              </a:ext>
            </a:extLst>
          </p:cNvPr>
          <p:cNvSpPr txBox="1"/>
          <p:nvPr/>
        </p:nvSpPr>
        <p:spPr>
          <a:xfrm>
            <a:off x="363809" y="1637414"/>
            <a:ext cx="2453820" cy="480131"/>
          </a:xfrm>
          <a:prstGeom prst="rect">
            <a:avLst/>
          </a:prstGeom>
          <a:noFill/>
        </p:spPr>
        <p:txBody>
          <a:bodyPr wrap="square" rtlCol="0">
            <a:spAutoFit/>
          </a:bodyPr>
          <a:lstStyle/>
          <a:p>
            <a:pPr algn="l">
              <a:lnSpc>
                <a:spcPct val="90000"/>
              </a:lnSpc>
            </a:pPr>
            <a:r>
              <a:rPr lang="en-US" sz="2800" b="1" u="sng" dirty="0"/>
              <a:t>Data Sources</a:t>
            </a:r>
          </a:p>
        </p:txBody>
      </p:sp>
      <p:sp>
        <p:nvSpPr>
          <p:cNvPr id="8" name="Rectangle 7">
            <a:extLst>
              <a:ext uri="{FF2B5EF4-FFF2-40B4-BE49-F238E27FC236}">
                <a16:creationId xmlns:a16="http://schemas.microsoft.com/office/drawing/2014/main" id="{03990ABF-D7CB-4224-8FD7-6850087C06C9}"/>
              </a:ext>
            </a:extLst>
          </p:cNvPr>
          <p:cNvSpPr/>
          <p:nvPr/>
        </p:nvSpPr>
        <p:spPr>
          <a:xfrm>
            <a:off x="4412512" y="1653500"/>
            <a:ext cx="2239139" cy="480131"/>
          </a:xfrm>
          <a:prstGeom prst="rect">
            <a:avLst/>
          </a:prstGeom>
        </p:spPr>
        <p:txBody>
          <a:bodyPr wrap="none">
            <a:spAutoFit/>
          </a:bodyPr>
          <a:lstStyle/>
          <a:p>
            <a:pPr>
              <a:lnSpc>
                <a:spcPct val="90000"/>
              </a:lnSpc>
            </a:pPr>
            <a:r>
              <a:rPr lang="en-US" sz="2800" b="1" u="sng" dirty="0"/>
              <a:t>Scope of Data</a:t>
            </a:r>
          </a:p>
        </p:txBody>
      </p:sp>
      <p:sp>
        <p:nvSpPr>
          <p:cNvPr id="9" name="Arrow: Right 8">
            <a:extLst>
              <a:ext uri="{FF2B5EF4-FFF2-40B4-BE49-F238E27FC236}">
                <a16:creationId xmlns:a16="http://schemas.microsoft.com/office/drawing/2014/main" id="{DC00C8D7-2487-4C75-85FA-4E75B26F6D74}"/>
              </a:ext>
            </a:extLst>
          </p:cNvPr>
          <p:cNvSpPr/>
          <p:nvPr/>
        </p:nvSpPr>
        <p:spPr>
          <a:xfrm>
            <a:off x="3196206" y="5192785"/>
            <a:ext cx="1216306" cy="411061"/>
          </a:xfrm>
          <a:prstGeom prst="rightArrow">
            <a:avLst/>
          </a:prstGeom>
          <a:solidFill>
            <a:schemeClr val="accent2"/>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FCFEB27-8729-490E-8626-D0BFE3207991}"/>
              </a:ext>
            </a:extLst>
          </p:cNvPr>
          <p:cNvSpPr txBox="1"/>
          <p:nvPr/>
        </p:nvSpPr>
        <p:spPr>
          <a:xfrm>
            <a:off x="4720206" y="5130549"/>
            <a:ext cx="4118994" cy="757130"/>
          </a:xfrm>
          <a:prstGeom prst="rect">
            <a:avLst/>
          </a:prstGeom>
          <a:noFill/>
        </p:spPr>
        <p:txBody>
          <a:bodyPr wrap="square" rtlCol="0">
            <a:spAutoFit/>
          </a:bodyPr>
          <a:lstStyle/>
          <a:p>
            <a:pPr algn="l">
              <a:lnSpc>
                <a:spcPct val="90000"/>
              </a:lnSpc>
            </a:pPr>
            <a:r>
              <a:rPr lang="en-US" sz="1600" b="1" u="sng" dirty="0"/>
              <a:t>Hypothesis:</a:t>
            </a:r>
            <a:r>
              <a:rPr lang="en-US" sz="1600" b="1" dirty="0"/>
              <a:t> </a:t>
            </a:r>
            <a:r>
              <a:rPr lang="en-US" sz="1600" dirty="0"/>
              <a:t>Fraudsters target agents based on population, crime, poverty rate, and education of the surrounding area.</a:t>
            </a:r>
          </a:p>
        </p:txBody>
      </p:sp>
    </p:spTree>
    <p:extLst>
      <p:ext uri="{BB962C8B-B14F-4D97-AF65-F5344CB8AC3E}">
        <p14:creationId xmlns:p14="http://schemas.microsoft.com/office/powerpoint/2010/main" val="2828857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9BA2E2E-2BBA-40D8-BE33-9894FCE6583B}"/>
              </a:ext>
            </a:extLst>
          </p:cNvPr>
          <p:cNvGrpSpPr/>
          <p:nvPr/>
        </p:nvGrpSpPr>
        <p:grpSpPr>
          <a:xfrm>
            <a:off x="677024" y="1480164"/>
            <a:ext cx="8305887" cy="4169717"/>
            <a:chOff x="676343" y="1504122"/>
            <a:chExt cx="8305887" cy="4169717"/>
          </a:xfrm>
        </p:grpSpPr>
        <p:sp>
          <p:nvSpPr>
            <p:cNvPr id="10" name="Freeform: Shape 9">
              <a:extLst>
                <a:ext uri="{FF2B5EF4-FFF2-40B4-BE49-F238E27FC236}">
                  <a16:creationId xmlns:a16="http://schemas.microsoft.com/office/drawing/2014/main" id="{255EFD9A-A04B-4603-994E-E53D81A6CB55}"/>
                </a:ext>
              </a:extLst>
            </p:cNvPr>
            <p:cNvSpPr/>
            <p:nvPr/>
          </p:nvSpPr>
          <p:spPr>
            <a:xfrm rot="16200000">
              <a:off x="227082" y="1953383"/>
              <a:ext cx="4164215" cy="3265694"/>
            </a:xfrm>
            <a:custGeom>
              <a:avLst/>
              <a:gdLst>
                <a:gd name="connsiteX0" fmla="*/ 0 w 2928871"/>
                <a:gd name="connsiteY0" fmla="*/ 146444 h 3514646"/>
                <a:gd name="connsiteX1" fmla="*/ 146444 w 2928871"/>
                <a:gd name="connsiteY1" fmla="*/ 0 h 3514646"/>
                <a:gd name="connsiteX2" fmla="*/ 2782427 w 2928871"/>
                <a:gd name="connsiteY2" fmla="*/ 0 h 3514646"/>
                <a:gd name="connsiteX3" fmla="*/ 2928871 w 2928871"/>
                <a:gd name="connsiteY3" fmla="*/ 146444 h 3514646"/>
                <a:gd name="connsiteX4" fmla="*/ 2928871 w 2928871"/>
                <a:gd name="connsiteY4" fmla="*/ 3368202 h 3514646"/>
                <a:gd name="connsiteX5" fmla="*/ 2782427 w 2928871"/>
                <a:gd name="connsiteY5" fmla="*/ 3514646 h 3514646"/>
                <a:gd name="connsiteX6" fmla="*/ 146444 w 2928871"/>
                <a:gd name="connsiteY6" fmla="*/ 3514646 h 3514646"/>
                <a:gd name="connsiteX7" fmla="*/ 0 w 2928871"/>
                <a:gd name="connsiteY7" fmla="*/ 3368202 h 3514646"/>
                <a:gd name="connsiteX8" fmla="*/ 0 w 2928871"/>
                <a:gd name="connsiteY8" fmla="*/ 146444 h 3514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8871" h="3514646">
                  <a:moveTo>
                    <a:pt x="2806834" y="1"/>
                  </a:moveTo>
                  <a:cubicBezTo>
                    <a:pt x="2874233" y="1"/>
                    <a:pt x="2928871" y="78679"/>
                    <a:pt x="2928871" y="175733"/>
                  </a:cubicBezTo>
                  <a:lnTo>
                    <a:pt x="2928871" y="3338913"/>
                  </a:lnTo>
                  <a:cubicBezTo>
                    <a:pt x="2928871" y="3435967"/>
                    <a:pt x="2874233" y="3514645"/>
                    <a:pt x="2806834" y="3514645"/>
                  </a:cubicBezTo>
                  <a:lnTo>
                    <a:pt x="122037" y="3514645"/>
                  </a:lnTo>
                  <a:cubicBezTo>
                    <a:pt x="54638" y="3514645"/>
                    <a:pt x="0" y="3435967"/>
                    <a:pt x="0" y="3338913"/>
                  </a:cubicBezTo>
                  <a:lnTo>
                    <a:pt x="0" y="175733"/>
                  </a:lnTo>
                  <a:cubicBezTo>
                    <a:pt x="0" y="78679"/>
                    <a:pt x="54638" y="1"/>
                    <a:pt x="122037" y="1"/>
                  </a:cubicBezTo>
                  <a:lnTo>
                    <a:pt x="2806834" y="1"/>
                  </a:lnTo>
                  <a:close/>
                </a:path>
              </a:pathLst>
            </a:custGeom>
            <a:solidFill>
              <a:schemeClr val="bg1"/>
            </a:solidFill>
            <a:ln>
              <a:solidFill>
                <a:schemeClr val="accent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32636" tIns="113158" rIns="146686" bIns="2343096" numCol="1" spcCol="1270" anchor="t" anchorCtr="0">
              <a:noAutofit/>
            </a:bodyPr>
            <a:lstStyle/>
            <a:p>
              <a:pPr marL="0" lvl="0" indent="0" algn="r" defTabSz="1466850">
                <a:lnSpc>
                  <a:spcPct val="90000"/>
                </a:lnSpc>
                <a:spcBef>
                  <a:spcPct val="0"/>
                </a:spcBef>
                <a:spcAft>
                  <a:spcPct val="35000"/>
                </a:spcAft>
                <a:buNone/>
              </a:pPr>
              <a:endParaRPr lang="en-US" sz="3300" kern="1200" dirty="0"/>
            </a:p>
          </p:txBody>
        </p:sp>
        <p:sp>
          <p:nvSpPr>
            <p:cNvPr id="11" name="Freeform: Shape 10">
              <a:extLst>
                <a:ext uri="{FF2B5EF4-FFF2-40B4-BE49-F238E27FC236}">
                  <a16:creationId xmlns:a16="http://schemas.microsoft.com/office/drawing/2014/main" id="{82909A6F-F4DA-44C8-8433-3CDCCDF291C8}"/>
                </a:ext>
              </a:extLst>
            </p:cNvPr>
            <p:cNvSpPr/>
            <p:nvPr/>
          </p:nvSpPr>
          <p:spPr>
            <a:xfrm>
              <a:off x="737457" y="1661190"/>
              <a:ext cx="2182009" cy="3514646"/>
            </a:xfrm>
            <a:custGeom>
              <a:avLst/>
              <a:gdLst>
                <a:gd name="connsiteX0" fmla="*/ 0 w 2182009"/>
                <a:gd name="connsiteY0" fmla="*/ 0 h 3514646"/>
                <a:gd name="connsiteX1" fmla="*/ 2182009 w 2182009"/>
                <a:gd name="connsiteY1" fmla="*/ 0 h 3514646"/>
                <a:gd name="connsiteX2" fmla="*/ 2182009 w 2182009"/>
                <a:gd name="connsiteY2" fmla="*/ 3514646 h 3514646"/>
                <a:gd name="connsiteX3" fmla="*/ 0 w 2182009"/>
                <a:gd name="connsiteY3" fmla="*/ 3514646 h 3514646"/>
                <a:gd name="connsiteX4" fmla="*/ 0 w 2182009"/>
                <a:gd name="connsiteY4" fmla="*/ 0 h 3514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2009" h="3514646">
                  <a:moveTo>
                    <a:pt x="0" y="0"/>
                  </a:moveTo>
                  <a:lnTo>
                    <a:pt x="2182009" y="0"/>
                  </a:lnTo>
                  <a:lnTo>
                    <a:pt x="2182009" y="3514646"/>
                  </a:lnTo>
                  <a:lnTo>
                    <a:pt x="0" y="3514646"/>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222885" rIns="0" bIns="0" numCol="1" spcCol="1270" anchor="t" anchorCtr="0">
              <a:noAutofit/>
            </a:bodyPr>
            <a:lstStyle/>
            <a:p>
              <a:pPr marL="0" lvl="0" indent="0" algn="l" defTabSz="2889250">
                <a:lnSpc>
                  <a:spcPct val="90000"/>
                </a:lnSpc>
                <a:spcBef>
                  <a:spcPct val="0"/>
                </a:spcBef>
                <a:spcAft>
                  <a:spcPct val="35000"/>
                </a:spcAft>
                <a:buNone/>
              </a:pPr>
              <a:endParaRPr lang="en-US" sz="6500" kern="1200"/>
            </a:p>
          </p:txBody>
        </p:sp>
        <p:sp>
          <p:nvSpPr>
            <p:cNvPr id="13" name="Flowchart: Extract 12">
              <a:extLst>
                <a:ext uri="{FF2B5EF4-FFF2-40B4-BE49-F238E27FC236}">
                  <a16:creationId xmlns:a16="http://schemas.microsoft.com/office/drawing/2014/main" id="{609975F3-97AD-46BE-A70E-C7F1A750885B}"/>
                </a:ext>
              </a:extLst>
            </p:cNvPr>
            <p:cNvSpPr/>
            <p:nvPr/>
          </p:nvSpPr>
          <p:spPr>
            <a:xfrm rot="5400000">
              <a:off x="4391185" y="3198848"/>
              <a:ext cx="516245" cy="439330"/>
            </a:xfrm>
            <a:prstGeom prst="flowChartExtract">
              <a:avLst/>
            </a:prstGeom>
            <a:ln>
              <a:solidFill>
                <a:schemeClr val="tx1"/>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4" name="Freeform: Shape 13">
              <a:extLst>
                <a:ext uri="{FF2B5EF4-FFF2-40B4-BE49-F238E27FC236}">
                  <a16:creationId xmlns:a16="http://schemas.microsoft.com/office/drawing/2014/main" id="{56D66F7A-9169-4A5E-B516-1E7EEE3A0D0B}"/>
                </a:ext>
              </a:extLst>
            </p:cNvPr>
            <p:cNvSpPr/>
            <p:nvPr/>
          </p:nvSpPr>
          <p:spPr>
            <a:xfrm>
              <a:off x="3768839" y="1661190"/>
              <a:ext cx="2182009" cy="3514646"/>
            </a:xfrm>
            <a:custGeom>
              <a:avLst/>
              <a:gdLst>
                <a:gd name="connsiteX0" fmla="*/ 0 w 2182009"/>
                <a:gd name="connsiteY0" fmla="*/ 0 h 3514646"/>
                <a:gd name="connsiteX1" fmla="*/ 2182009 w 2182009"/>
                <a:gd name="connsiteY1" fmla="*/ 0 h 3514646"/>
                <a:gd name="connsiteX2" fmla="*/ 2182009 w 2182009"/>
                <a:gd name="connsiteY2" fmla="*/ 3514646 h 3514646"/>
                <a:gd name="connsiteX3" fmla="*/ 0 w 2182009"/>
                <a:gd name="connsiteY3" fmla="*/ 3514646 h 3514646"/>
                <a:gd name="connsiteX4" fmla="*/ 0 w 2182009"/>
                <a:gd name="connsiteY4" fmla="*/ 0 h 3514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2009" h="3514646">
                  <a:moveTo>
                    <a:pt x="0" y="0"/>
                  </a:moveTo>
                  <a:lnTo>
                    <a:pt x="2182009" y="0"/>
                  </a:lnTo>
                  <a:lnTo>
                    <a:pt x="2182009" y="3514646"/>
                  </a:lnTo>
                  <a:lnTo>
                    <a:pt x="0" y="3514646"/>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222885" rIns="0" bIns="0" numCol="1" spcCol="1270" anchor="t" anchorCtr="0">
              <a:noAutofit/>
            </a:bodyPr>
            <a:lstStyle/>
            <a:p>
              <a:pPr marL="0" lvl="0" indent="0" algn="l" defTabSz="2889250">
                <a:lnSpc>
                  <a:spcPct val="90000"/>
                </a:lnSpc>
                <a:spcBef>
                  <a:spcPct val="0"/>
                </a:spcBef>
                <a:spcAft>
                  <a:spcPct val="35000"/>
                </a:spcAft>
                <a:buNone/>
              </a:pPr>
              <a:endParaRPr lang="en-US" sz="6500" kern="1200"/>
            </a:p>
          </p:txBody>
        </p:sp>
        <p:sp>
          <p:nvSpPr>
            <p:cNvPr id="15" name="Freeform: Shape 14">
              <a:extLst>
                <a:ext uri="{FF2B5EF4-FFF2-40B4-BE49-F238E27FC236}">
                  <a16:creationId xmlns:a16="http://schemas.microsoft.com/office/drawing/2014/main" id="{CEA138A5-ECFB-4E14-93A2-EED0806ED6E1}"/>
                </a:ext>
              </a:extLst>
            </p:cNvPr>
            <p:cNvSpPr/>
            <p:nvPr/>
          </p:nvSpPr>
          <p:spPr>
            <a:xfrm rot="16200000">
              <a:off x="4866414" y="1936865"/>
              <a:ext cx="4164218" cy="3309730"/>
            </a:xfrm>
            <a:custGeom>
              <a:avLst/>
              <a:gdLst>
                <a:gd name="connsiteX0" fmla="*/ 0 w 2928871"/>
                <a:gd name="connsiteY0" fmla="*/ 146444 h 3514646"/>
                <a:gd name="connsiteX1" fmla="*/ 146444 w 2928871"/>
                <a:gd name="connsiteY1" fmla="*/ 0 h 3514646"/>
                <a:gd name="connsiteX2" fmla="*/ 2782427 w 2928871"/>
                <a:gd name="connsiteY2" fmla="*/ 0 h 3514646"/>
                <a:gd name="connsiteX3" fmla="*/ 2928871 w 2928871"/>
                <a:gd name="connsiteY3" fmla="*/ 146444 h 3514646"/>
                <a:gd name="connsiteX4" fmla="*/ 2928871 w 2928871"/>
                <a:gd name="connsiteY4" fmla="*/ 3368202 h 3514646"/>
                <a:gd name="connsiteX5" fmla="*/ 2782427 w 2928871"/>
                <a:gd name="connsiteY5" fmla="*/ 3514646 h 3514646"/>
                <a:gd name="connsiteX6" fmla="*/ 146444 w 2928871"/>
                <a:gd name="connsiteY6" fmla="*/ 3514646 h 3514646"/>
                <a:gd name="connsiteX7" fmla="*/ 0 w 2928871"/>
                <a:gd name="connsiteY7" fmla="*/ 3368202 h 3514646"/>
                <a:gd name="connsiteX8" fmla="*/ 0 w 2928871"/>
                <a:gd name="connsiteY8" fmla="*/ 146444 h 3514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8871" h="3514646">
                  <a:moveTo>
                    <a:pt x="2806834" y="1"/>
                  </a:moveTo>
                  <a:cubicBezTo>
                    <a:pt x="2874233" y="1"/>
                    <a:pt x="2928871" y="78679"/>
                    <a:pt x="2928871" y="175733"/>
                  </a:cubicBezTo>
                  <a:lnTo>
                    <a:pt x="2928871" y="3338913"/>
                  </a:lnTo>
                  <a:cubicBezTo>
                    <a:pt x="2928871" y="3435967"/>
                    <a:pt x="2874233" y="3514645"/>
                    <a:pt x="2806834" y="3514645"/>
                  </a:cubicBezTo>
                  <a:lnTo>
                    <a:pt x="122037" y="3514645"/>
                  </a:lnTo>
                  <a:cubicBezTo>
                    <a:pt x="54638" y="3514645"/>
                    <a:pt x="0" y="3435967"/>
                    <a:pt x="0" y="3338913"/>
                  </a:cubicBezTo>
                  <a:lnTo>
                    <a:pt x="0" y="175733"/>
                  </a:lnTo>
                  <a:cubicBezTo>
                    <a:pt x="0" y="78679"/>
                    <a:pt x="54638" y="1"/>
                    <a:pt x="122037" y="1"/>
                  </a:cubicBezTo>
                  <a:lnTo>
                    <a:pt x="2806834" y="1"/>
                  </a:lnTo>
                  <a:close/>
                </a:path>
              </a:pathLst>
            </a:custGeom>
            <a:solidFill>
              <a:schemeClr val="bg1"/>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32636" tIns="113157" rIns="146686" bIns="2343097" numCol="1" spcCol="1270" anchor="t" anchorCtr="0">
              <a:noAutofit/>
            </a:bodyPr>
            <a:lstStyle/>
            <a:p>
              <a:pPr marL="0" lvl="0" indent="0" algn="r" defTabSz="1466850">
                <a:lnSpc>
                  <a:spcPct val="90000"/>
                </a:lnSpc>
                <a:spcBef>
                  <a:spcPct val="0"/>
                </a:spcBef>
                <a:spcAft>
                  <a:spcPct val="35000"/>
                </a:spcAft>
                <a:buNone/>
              </a:pPr>
              <a:endParaRPr lang="en-US" sz="3300" kern="1200"/>
            </a:p>
          </p:txBody>
        </p:sp>
        <p:sp>
          <p:nvSpPr>
            <p:cNvPr id="17" name="Freeform: Shape 16">
              <a:extLst>
                <a:ext uri="{FF2B5EF4-FFF2-40B4-BE49-F238E27FC236}">
                  <a16:creationId xmlns:a16="http://schemas.microsoft.com/office/drawing/2014/main" id="{1D53B7B7-82E0-4601-BE66-1585F4C658AF}"/>
                </a:ext>
              </a:extLst>
            </p:cNvPr>
            <p:cNvSpPr/>
            <p:nvPr/>
          </p:nvSpPr>
          <p:spPr>
            <a:xfrm>
              <a:off x="6800221" y="1661190"/>
              <a:ext cx="2182009" cy="3514646"/>
            </a:xfrm>
            <a:custGeom>
              <a:avLst/>
              <a:gdLst>
                <a:gd name="connsiteX0" fmla="*/ 0 w 2182009"/>
                <a:gd name="connsiteY0" fmla="*/ 0 h 3514646"/>
                <a:gd name="connsiteX1" fmla="*/ 2182009 w 2182009"/>
                <a:gd name="connsiteY1" fmla="*/ 0 h 3514646"/>
                <a:gd name="connsiteX2" fmla="*/ 2182009 w 2182009"/>
                <a:gd name="connsiteY2" fmla="*/ 3514646 h 3514646"/>
                <a:gd name="connsiteX3" fmla="*/ 0 w 2182009"/>
                <a:gd name="connsiteY3" fmla="*/ 3514646 h 3514646"/>
                <a:gd name="connsiteX4" fmla="*/ 0 w 2182009"/>
                <a:gd name="connsiteY4" fmla="*/ 0 h 3514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2009" h="3514646">
                  <a:moveTo>
                    <a:pt x="0" y="0"/>
                  </a:moveTo>
                  <a:lnTo>
                    <a:pt x="2182009" y="0"/>
                  </a:lnTo>
                  <a:lnTo>
                    <a:pt x="2182009" y="3514646"/>
                  </a:lnTo>
                  <a:lnTo>
                    <a:pt x="0" y="3514646"/>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222885" rIns="0" bIns="0" numCol="1" spcCol="1270" anchor="t" anchorCtr="0">
              <a:noAutofit/>
            </a:bodyPr>
            <a:lstStyle/>
            <a:p>
              <a:pPr marL="0" lvl="0" indent="0" algn="l" defTabSz="2889250">
                <a:lnSpc>
                  <a:spcPct val="90000"/>
                </a:lnSpc>
                <a:spcBef>
                  <a:spcPct val="0"/>
                </a:spcBef>
                <a:spcAft>
                  <a:spcPct val="35000"/>
                </a:spcAft>
                <a:buNone/>
              </a:pPr>
              <a:endParaRPr lang="en-US" sz="6500" kern="1200"/>
            </a:p>
          </p:txBody>
        </p:sp>
      </p:grpSp>
      <p:sp>
        <p:nvSpPr>
          <p:cNvPr id="18" name="Rectangle: Diagonal Corners Rounded 17">
            <a:extLst>
              <a:ext uri="{FF2B5EF4-FFF2-40B4-BE49-F238E27FC236}">
                <a16:creationId xmlns:a16="http://schemas.microsoft.com/office/drawing/2014/main" id="{EDA06A6A-E739-4D06-AD25-4191FB727A04}"/>
              </a:ext>
            </a:extLst>
          </p:cNvPr>
          <p:cNvSpPr/>
          <p:nvPr/>
        </p:nvSpPr>
        <p:spPr>
          <a:xfrm>
            <a:off x="694854" y="5759898"/>
            <a:ext cx="3247864" cy="461395"/>
          </a:xfrm>
          <a:prstGeom prst="round2Diag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Diagonal Corners Rounded 19">
            <a:extLst>
              <a:ext uri="{FF2B5EF4-FFF2-40B4-BE49-F238E27FC236}">
                <a16:creationId xmlns:a16="http://schemas.microsoft.com/office/drawing/2014/main" id="{2E067F8F-DD44-4028-9C7D-5BABEB02D0D1}"/>
              </a:ext>
            </a:extLst>
          </p:cNvPr>
          <p:cNvSpPr/>
          <p:nvPr/>
        </p:nvSpPr>
        <p:spPr>
          <a:xfrm>
            <a:off x="5294339" y="5759898"/>
            <a:ext cx="3309730" cy="461395"/>
          </a:xfrm>
          <a:prstGeom prst="round2Diag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B6A52FC-4743-4D0F-9EAC-400E45B6157F}"/>
              </a:ext>
            </a:extLst>
          </p:cNvPr>
          <p:cNvSpPr txBox="1"/>
          <p:nvPr/>
        </p:nvSpPr>
        <p:spPr>
          <a:xfrm>
            <a:off x="1007932" y="5805929"/>
            <a:ext cx="2621707" cy="369332"/>
          </a:xfrm>
          <a:prstGeom prst="rect">
            <a:avLst/>
          </a:prstGeom>
          <a:noFill/>
        </p:spPr>
        <p:txBody>
          <a:bodyPr wrap="square" rtlCol="0">
            <a:spAutoFit/>
          </a:bodyPr>
          <a:lstStyle/>
          <a:p>
            <a:pPr algn="l">
              <a:lnSpc>
                <a:spcPct val="90000"/>
              </a:lnSpc>
            </a:pPr>
            <a:r>
              <a:rPr lang="en-US" sz="2000" dirty="0"/>
              <a:t>Data prep challenges</a:t>
            </a:r>
          </a:p>
        </p:txBody>
      </p:sp>
      <p:sp>
        <p:nvSpPr>
          <p:cNvPr id="23" name="TextBox 22">
            <a:extLst>
              <a:ext uri="{FF2B5EF4-FFF2-40B4-BE49-F238E27FC236}">
                <a16:creationId xmlns:a16="http://schemas.microsoft.com/office/drawing/2014/main" id="{B87C9A08-C977-4057-86D0-5B3F901EAA77}"/>
              </a:ext>
            </a:extLst>
          </p:cNvPr>
          <p:cNvSpPr txBox="1"/>
          <p:nvPr/>
        </p:nvSpPr>
        <p:spPr>
          <a:xfrm>
            <a:off x="6306241" y="5814101"/>
            <a:ext cx="1285923" cy="369332"/>
          </a:xfrm>
          <a:prstGeom prst="rect">
            <a:avLst/>
          </a:prstGeom>
          <a:noFill/>
        </p:spPr>
        <p:txBody>
          <a:bodyPr wrap="square" rtlCol="0">
            <a:spAutoFit/>
          </a:bodyPr>
          <a:lstStyle/>
          <a:p>
            <a:pPr algn="l">
              <a:lnSpc>
                <a:spcPct val="90000"/>
              </a:lnSpc>
            </a:pPr>
            <a:r>
              <a:rPr lang="en-US" sz="2000" dirty="0"/>
              <a:t>Solutions</a:t>
            </a:r>
          </a:p>
        </p:txBody>
      </p:sp>
      <p:sp>
        <p:nvSpPr>
          <p:cNvPr id="24" name="Text Placeholder 23">
            <a:extLst>
              <a:ext uri="{FF2B5EF4-FFF2-40B4-BE49-F238E27FC236}">
                <a16:creationId xmlns:a16="http://schemas.microsoft.com/office/drawing/2014/main" id="{992A968B-A02F-4A51-A3E1-A28EF96B7DD5}"/>
              </a:ext>
            </a:extLst>
          </p:cNvPr>
          <p:cNvSpPr>
            <a:spLocks noGrp="1"/>
          </p:cNvSpPr>
          <p:nvPr>
            <p:ph type="body" sz="quarter" idx="10"/>
          </p:nvPr>
        </p:nvSpPr>
        <p:spPr/>
        <p:txBody>
          <a:bodyPr/>
          <a:lstStyle/>
          <a:p>
            <a:endParaRPr lang="en-US" dirty="0"/>
          </a:p>
        </p:txBody>
      </p:sp>
      <p:sp>
        <p:nvSpPr>
          <p:cNvPr id="25" name="TextBox 24">
            <a:extLst>
              <a:ext uri="{FF2B5EF4-FFF2-40B4-BE49-F238E27FC236}">
                <a16:creationId xmlns:a16="http://schemas.microsoft.com/office/drawing/2014/main" id="{17FF0682-03EE-4FD6-99FB-FBDB30959E1C}"/>
              </a:ext>
            </a:extLst>
          </p:cNvPr>
          <p:cNvSpPr txBox="1"/>
          <p:nvPr/>
        </p:nvSpPr>
        <p:spPr>
          <a:xfrm>
            <a:off x="947209" y="1515526"/>
            <a:ext cx="2743151" cy="4122667"/>
          </a:xfrm>
          <a:prstGeom prst="rect">
            <a:avLst/>
          </a:prstGeom>
          <a:noFill/>
        </p:spPr>
        <p:txBody>
          <a:bodyPr wrap="square" rtlCol="0">
            <a:spAutoFit/>
          </a:bodyPr>
          <a:lstStyle/>
          <a:p>
            <a:pPr marL="171450" indent="-171450" algn="l">
              <a:lnSpc>
                <a:spcPct val="90000"/>
              </a:lnSpc>
              <a:buFont typeface="Arial" panose="020B0604020202020204" pitchFamily="34" charset="0"/>
              <a:buChar char="•"/>
            </a:pPr>
            <a:r>
              <a:rPr lang="en-US" sz="1400" dirty="0"/>
              <a:t>Missing data from FBI and Census</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algn="l">
              <a:lnSpc>
                <a:spcPct val="90000"/>
              </a:lnSpc>
            </a:pPr>
            <a:endParaRPr lang="en-US" sz="1400" dirty="0"/>
          </a:p>
          <a:p>
            <a:pPr marL="171450" indent="-171450" algn="l">
              <a:lnSpc>
                <a:spcPct val="90000"/>
              </a:lnSpc>
              <a:buFont typeface="Arial" panose="020B0604020202020204" pitchFamily="34" charset="0"/>
              <a:buChar char="•"/>
            </a:pPr>
            <a:r>
              <a:rPr lang="en-US" sz="1400" dirty="0"/>
              <a:t>Inconsistent data</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Data formatting</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No fraud data prior to 2014</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Grouping and joining data on different keys/IDs</a:t>
            </a:r>
          </a:p>
          <a:p>
            <a:pPr marL="171450" indent="-171450" algn="l">
              <a:lnSpc>
                <a:spcPct val="90000"/>
              </a:lnSpc>
              <a:buFont typeface="Arial" panose="020B0604020202020204" pitchFamily="34" charset="0"/>
              <a:buChar char="•"/>
            </a:pPr>
            <a:endParaRPr lang="en-US" sz="1100" dirty="0"/>
          </a:p>
        </p:txBody>
      </p:sp>
      <p:sp>
        <p:nvSpPr>
          <p:cNvPr id="27" name="TextBox 26">
            <a:extLst>
              <a:ext uri="{FF2B5EF4-FFF2-40B4-BE49-F238E27FC236}">
                <a16:creationId xmlns:a16="http://schemas.microsoft.com/office/drawing/2014/main" id="{B34E6BC8-FC35-4AA3-A8A2-F8D0A3CE9416}"/>
              </a:ext>
            </a:extLst>
          </p:cNvPr>
          <p:cNvSpPr txBox="1"/>
          <p:nvPr/>
        </p:nvSpPr>
        <p:spPr>
          <a:xfrm>
            <a:off x="5581798" y="1483149"/>
            <a:ext cx="2734811" cy="3970318"/>
          </a:xfrm>
          <a:prstGeom prst="rect">
            <a:avLst/>
          </a:prstGeom>
          <a:noFill/>
        </p:spPr>
        <p:txBody>
          <a:bodyPr wrap="square" rtlCol="0">
            <a:spAutoFit/>
          </a:bodyPr>
          <a:lstStyle/>
          <a:p>
            <a:pPr marL="171450" indent="-171450" algn="l">
              <a:lnSpc>
                <a:spcPct val="90000"/>
              </a:lnSpc>
              <a:buFont typeface="Arial" panose="020B0604020202020204" pitchFamily="34" charset="0"/>
              <a:buChar char="•"/>
            </a:pPr>
            <a:r>
              <a:rPr lang="en-US" sz="1400" dirty="0"/>
              <a:t>Created algorithm to approximate missing values for FBI and Census data</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Used credit and fraud fields to infer send status for agents</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Formatted data so that fields were consistent across all data sources</a:t>
            </a:r>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The goal isn’t perfection</a:t>
            </a:r>
          </a:p>
          <a:p>
            <a:pPr algn="l">
              <a:lnSpc>
                <a:spcPct val="90000"/>
              </a:lnSpc>
            </a:pPr>
            <a:endParaRPr lang="en-US" sz="1400" dirty="0"/>
          </a:p>
          <a:p>
            <a:pPr marL="171450" indent="-171450" algn="l">
              <a:lnSpc>
                <a:spcPct val="90000"/>
              </a:lnSpc>
              <a:buFont typeface="Arial" panose="020B0604020202020204" pitchFamily="34" charset="0"/>
              <a:buChar char="•"/>
            </a:pPr>
            <a:endParaRPr lang="en-US" sz="1400" dirty="0"/>
          </a:p>
          <a:p>
            <a:pPr marL="171450" indent="-171450" algn="l">
              <a:lnSpc>
                <a:spcPct val="90000"/>
              </a:lnSpc>
              <a:buFont typeface="Arial" panose="020B0604020202020204" pitchFamily="34" charset="0"/>
              <a:buChar char="•"/>
            </a:pPr>
            <a:r>
              <a:rPr lang="en-US" sz="1400" dirty="0"/>
              <a:t>Gathered data from each source and grouped them separately before joining them together</a:t>
            </a:r>
          </a:p>
        </p:txBody>
      </p:sp>
      <p:sp>
        <p:nvSpPr>
          <p:cNvPr id="28" name="Rectangle: Diagonal Corners Rounded 27">
            <a:extLst>
              <a:ext uri="{FF2B5EF4-FFF2-40B4-BE49-F238E27FC236}">
                <a16:creationId xmlns:a16="http://schemas.microsoft.com/office/drawing/2014/main" id="{5BB84BDC-DE10-4604-A573-6CED5FFDE8C8}"/>
              </a:ext>
            </a:extLst>
          </p:cNvPr>
          <p:cNvSpPr/>
          <p:nvPr/>
        </p:nvSpPr>
        <p:spPr>
          <a:xfrm>
            <a:off x="738138" y="889233"/>
            <a:ext cx="7865932" cy="508843"/>
          </a:xfrm>
          <a:prstGeom prst="round2DiagRect">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B73E0F5-873D-441D-91F2-DCE24CDD35D1}"/>
              </a:ext>
            </a:extLst>
          </p:cNvPr>
          <p:cNvSpPr txBox="1"/>
          <p:nvPr/>
        </p:nvSpPr>
        <p:spPr>
          <a:xfrm>
            <a:off x="2929402" y="853177"/>
            <a:ext cx="3441171" cy="590931"/>
          </a:xfrm>
          <a:prstGeom prst="rect">
            <a:avLst/>
          </a:prstGeom>
          <a:noFill/>
        </p:spPr>
        <p:txBody>
          <a:bodyPr wrap="square" rtlCol="0">
            <a:spAutoFit/>
          </a:bodyPr>
          <a:lstStyle/>
          <a:p>
            <a:pPr algn="l">
              <a:lnSpc>
                <a:spcPct val="90000"/>
              </a:lnSpc>
            </a:pPr>
            <a:r>
              <a:rPr lang="en-US" sz="3600" b="1" dirty="0">
                <a:ln w="10160">
                  <a:solidFill>
                    <a:schemeClr val="tx1"/>
                  </a:solidFill>
                  <a:prstDash val="solid"/>
                </a:ln>
                <a:solidFill>
                  <a:srgbClr val="FFFFFF"/>
                </a:solidFill>
                <a:effectLst>
                  <a:outerShdw blurRad="38100" dist="22860" dir="5400000" algn="tl" rotWithShape="0">
                    <a:srgbClr val="000000">
                      <a:alpha val="30000"/>
                    </a:srgbClr>
                  </a:outerShdw>
                </a:effectLst>
              </a:rPr>
              <a:t>Data Preparation</a:t>
            </a:r>
          </a:p>
        </p:txBody>
      </p:sp>
    </p:spTree>
    <p:extLst>
      <p:ext uri="{BB962C8B-B14F-4D97-AF65-F5344CB8AC3E}">
        <p14:creationId xmlns:p14="http://schemas.microsoft.com/office/powerpoint/2010/main" val="1022802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0602557A-3750-48F9-967C-C661C7A294BE}"/>
              </a:ext>
            </a:extLst>
          </p:cNvPr>
          <p:cNvPicPr>
            <a:picLocks noGrp="1" noChangeAspect="1"/>
          </p:cNvPicPr>
          <p:nvPr>
            <p:ph idx="1"/>
          </p:nvPr>
        </p:nvPicPr>
        <p:blipFill rotWithShape="1">
          <a:blip r:embed="rId3"/>
          <a:srcRect t="12853" r="13747" b="11677"/>
          <a:stretch/>
        </p:blipFill>
        <p:spPr>
          <a:xfrm>
            <a:off x="0" y="2389481"/>
            <a:ext cx="6803472" cy="3970969"/>
          </a:xfrm>
          <a:prstGeom prst="rect">
            <a:avLst/>
          </a:prstGeom>
        </p:spPr>
      </p:pic>
      <p:sp>
        <p:nvSpPr>
          <p:cNvPr id="4" name="Title 3">
            <a:extLst>
              <a:ext uri="{FF2B5EF4-FFF2-40B4-BE49-F238E27FC236}">
                <a16:creationId xmlns:a16="http://schemas.microsoft.com/office/drawing/2014/main" id="{AF2A69AF-C284-4495-A91F-BCA2C383F9CF}"/>
              </a:ext>
            </a:extLst>
          </p:cNvPr>
          <p:cNvSpPr>
            <a:spLocks noGrp="1"/>
          </p:cNvSpPr>
          <p:nvPr>
            <p:ph type="ctrTitle"/>
          </p:nvPr>
        </p:nvSpPr>
        <p:spPr/>
        <p:txBody>
          <a:bodyPr/>
          <a:lstStyle/>
          <a:p>
            <a:r>
              <a:rPr lang="en-US" dirty="0"/>
              <a:t>Where is the fraud happening?</a:t>
            </a:r>
          </a:p>
        </p:txBody>
      </p:sp>
      <p:sp>
        <p:nvSpPr>
          <p:cNvPr id="6" name="Text Placeholder 5">
            <a:extLst>
              <a:ext uri="{FF2B5EF4-FFF2-40B4-BE49-F238E27FC236}">
                <a16:creationId xmlns:a16="http://schemas.microsoft.com/office/drawing/2014/main" id="{E4253486-C4B5-4C8E-9DCA-0E05D0923F32}"/>
              </a:ext>
            </a:extLst>
          </p:cNvPr>
          <p:cNvSpPr>
            <a:spLocks noGrp="1"/>
          </p:cNvSpPr>
          <p:nvPr>
            <p:ph type="body" sz="quarter" idx="10"/>
          </p:nvPr>
        </p:nvSpPr>
        <p:spPr/>
        <p:txBody>
          <a:bodyPr/>
          <a:lstStyle/>
          <a:p>
            <a:endParaRPr lang="en-US"/>
          </a:p>
        </p:txBody>
      </p:sp>
      <p:sp>
        <p:nvSpPr>
          <p:cNvPr id="10" name="TextBox 9">
            <a:extLst>
              <a:ext uri="{FF2B5EF4-FFF2-40B4-BE49-F238E27FC236}">
                <a16:creationId xmlns:a16="http://schemas.microsoft.com/office/drawing/2014/main" id="{C30654FD-265D-4E25-A0D9-0D70F071696F}"/>
              </a:ext>
            </a:extLst>
          </p:cNvPr>
          <p:cNvSpPr txBox="1"/>
          <p:nvPr/>
        </p:nvSpPr>
        <p:spPr>
          <a:xfrm>
            <a:off x="6803472" y="2413266"/>
            <a:ext cx="2164360" cy="1865126"/>
          </a:xfrm>
          <a:prstGeom prst="rect">
            <a:avLst/>
          </a:prstGeom>
          <a:noFill/>
        </p:spPr>
        <p:txBody>
          <a:bodyPr wrap="square" rtlCol="0">
            <a:spAutoFit/>
          </a:bodyPr>
          <a:lstStyle/>
          <a:p>
            <a:pPr marL="171450" indent="-171450" algn="l">
              <a:lnSpc>
                <a:spcPct val="90000"/>
              </a:lnSpc>
              <a:buFont typeface="Arial" panose="020B0604020202020204" pitchFamily="34" charset="0"/>
              <a:buChar char="•"/>
            </a:pPr>
            <a:r>
              <a:rPr lang="en-US" sz="1600" dirty="0"/>
              <a:t>Most agents with fraud (red dots) are located near areas with other agents (black dots) therefore there is not a preferred location that fraudsters attack</a:t>
            </a:r>
          </a:p>
        </p:txBody>
      </p:sp>
      <p:pic>
        <p:nvPicPr>
          <p:cNvPr id="12" name="Picture 11">
            <a:extLst>
              <a:ext uri="{FF2B5EF4-FFF2-40B4-BE49-F238E27FC236}">
                <a16:creationId xmlns:a16="http://schemas.microsoft.com/office/drawing/2014/main" id="{5B129621-BD30-47D0-BC9E-8E9355DED345}"/>
              </a:ext>
            </a:extLst>
          </p:cNvPr>
          <p:cNvPicPr>
            <a:picLocks noChangeAspect="1"/>
          </p:cNvPicPr>
          <p:nvPr/>
        </p:nvPicPr>
        <p:blipFill>
          <a:blip r:embed="rId4"/>
          <a:stretch>
            <a:fillRect/>
          </a:stretch>
        </p:blipFill>
        <p:spPr>
          <a:xfrm>
            <a:off x="6980426" y="4498592"/>
            <a:ext cx="1191841" cy="1063309"/>
          </a:xfrm>
          <a:prstGeom prst="rect">
            <a:avLst/>
          </a:prstGeom>
        </p:spPr>
      </p:pic>
    </p:spTree>
    <p:extLst>
      <p:ext uri="{BB962C8B-B14F-4D97-AF65-F5344CB8AC3E}">
        <p14:creationId xmlns:p14="http://schemas.microsoft.com/office/powerpoint/2010/main" val="1273232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480199-0681-4787-B517-59B764B7F1B8}"/>
              </a:ext>
            </a:extLst>
          </p:cNvPr>
          <p:cNvSpPr>
            <a:spLocks noGrp="1"/>
          </p:cNvSpPr>
          <p:nvPr>
            <p:ph type="ctrTitle"/>
          </p:nvPr>
        </p:nvSpPr>
        <p:spPr/>
        <p:txBody>
          <a:bodyPr/>
          <a:lstStyle/>
          <a:p>
            <a:r>
              <a:rPr lang="en-US" dirty="0"/>
              <a:t>Exploratory  Data Analysis</a:t>
            </a:r>
          </a:p>
        </p:txBody>
      </p:sp>
      <p:sp>
        <p:nvSpPr>
          <p:cNvPr id="4" name="Text Placeholder 3">
            <a:extLst>
              <a:ext uri="{FF2B5EF4-FFF2-40B4-BE49-F238E27FC236}">
                <a16:creationId xmlns:a16="http://schemas.microsoft.com/office/drawing/2014/main" id="{E048638F-CDF4-486B-BCB2-88803855BA4B}"/>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FDD64D76-7A5C-4C11-B2AE-099F28110F2E}"/>
              </a:ext>
            </a:extLst>
          </p:cNvPr>
          <p:cNvGraphicFramePr>
            <a:graphicFrameLocks noGrp="1"/>
          </p:cNvGraphicFramePr>
          <p:nvPr>
            <p:extLst>
              <p:ext uri="{D42A27DB-BD31-4B8C-83A1-F6EECF244321}">
                <p14:modId xmlns:p14="http://schemas.microsoft.com/office/powerpoint/2010/main" val="4101883343"/>
              </p:ext>
            </p:extLst>
          </p:nvPr>
        </p:nvGraphicFramePr>
        <p:xfrm>
          <a:off x="258417" y="1515678"/>
          <a:ext cx="5106123" cy="4824017"/>
        </p:xfrm>
        <a:graphic>
          <a:graphicData uri="http://schemas.openxmlformats.org/drawingml/2006/table">
            <a:tbl>
              <a:tblPr firstRow="1" bandRow="1">
                <a:tableStyleId>{21E4AEA4-8DFA-4A89-87EB-49C32662AFE0}</a:tableStyleId>
              </a:tblPr>
              <a:tblGrid>
                <a:gridCol w="2385392">
                  <a:extLst>
                    <a:ext uri="{9D8B030D-6E8A-4147-A177-3AD203B41FA5}">
                      <a16:colId xmlns:a16="http://schemas.microsoft.com/office/drawing/2014/main" val="2053141408"/>
                    </a:ext>
                  </a:extLst>
                </a:gridCol>
                <a:gridCol w="2720731">
                  <a:extLst>
                    <a:ext uri="{9D8B030D-6E8A-4147-A177-3AD203B41FA5}">
                      <a16:colId xmlns:a16="http://schemas.microsoft.com/office/drawing/2014/main" val="2344824214"/>
                    </a:ext>
                  </a:extLst>
                </a:gridCol>
              </a:tblGrid>
              <a:tr h="344345">
                <a:tc>
                  <a:txBody>
                    <a:bodyPr/>
                    <a:lstStyle/>
                    <a:p>
                      <a:r>
                        <a:rPr lang="en-US" dirty="0"/>
                        <a:t>Attribute</a:t>
                      </a:r>
                    </a:p>
                  </a:txBody>
                  <a:tcPr/>
                </a:tc>
                <a:tc>
                  <a:txBody>
                    <a:bodyPr/>
                    <a:lstStyle/>
                    <a:p>
                      <a:r>
                        <a:rPr lang="en-US" dirty="0"/>
                        <a:t>Significant*?</a:t>
                      </a:r>
                    </a:p>
                  </a:txBody>
                  <a:tcPr/>
                </a:tc>
                <a:extLst>
                  <a:ext uri="{0D108BD9-81ED-4DB2-BD59-A6C34878D82A}">
                    <a16:rowId xmlns:a16="http://schemas.microsoft.com/office/drawing/2014/main" val="553702602"/>
                  </a:ext>
                </a:extLst>
              </a:tr>
              <a:tr h="344345">
                <a:tc>
                  <a:txBody>
                    <a:bodyPr/>
                    <a:lstStyle/>
                    <a:p>
                      <a:r>
                        <a:rPr lang="en-US" dirty="0"/>
                        <a:t>Credit Amount</a:t>
                      </a:r>
                    </a:p>
                  </a:txBody>
                  <a:tcPr/>
                </a:tc>
                <a:tc>
                  <a:txBody>
                    <a:bodyPr/>
                    <a:lstStyle/>
                    <a:p>
                      <a:r>
                        <a:rPr lang="en-US" dirty="0"/>
                        <a:t>Yes</a:t>
                      </a:r>
                    </a:p>
                  </a:txBody>
                  <a:tcPr/>
                </a:tc>
                <a:extLst>
                  <a:ext uri="{0D108BD9-81ED-4DB2-BD59-A6C34878D82A}">
                    <a16:rowId xmlns:a16="http://schemas.microsoft.com/office/drawing/2014/main" val="2391134484"/>
                  </a:ext>
                </a:extLst>
              </a:tr>
              <a:tr h="344345">
                <a:tc>
                  <a:txBody>
                    <a:bodyPr/>
                    <a:lstStyle/>
                    <a:p>
                      <a:r>
                        <a:rPr lang="en-US" dirty="0"/>
                        <a:t>Account Blocks</a:t>
                      </a:r>
                    </a:p>
                  </a:txBody>
                  <a:tcPr/>
                </a:tc>
                <a:tc>
                  <a:txBody>
                    <a:bodyPr/>
                    <a:lstStyle/>
                    <a:p>
                      <a:r>
                        <a:rPr lang="en-US" dirty="0"/>
                        <a:t>Yes</a:t>
                      </a:r>
                    </a:p>
                  </a:txBody>
                  <a:tcPr/>
                </a:tc>
                <a:extLst>
                  <a:ext uri="{0D108BD9-81ED-4DB2-BD59-A6C34878D82A}">
                    <a16:rowId xmlns:a16="http://schemas.microsoft.com/office/drawing/2014/main" val="502653932"/>
                  </a:ext>
                </a:extLst>
              </a:tr>
              <a:tr h="344345">
                <a:tc>
                  <a:txBody>
                    <a:bodyPr/>
                    <a:lstStyle/>
                    <a:p>
                      <a:r>
                        <a:rPr lang="en-US" dirty="0"/>
                        <a:t>Poverty</a:t>
                      </a:r>
                    </a:p>
                  </a:txBody>
                  <a:tcPr/>
                </a:tc>
                <a:tc>
                  <a:txBody>
                    <a:bodyPr/>
                    <a:lstStyle/>
                    <a:p>
                      <a:r>
                        <a:rPr lang="en-US" dirty="0"/>
                        <a:t>Yes</a:t>
                      </a:r>
                    </a:p>
                  </a:txBody>
                  <a:tcPr/>
                </a:tc>
                <a:extLst>
                  <a:ext uri="{0D108BD9-81ED-4DB2-BD59-A6C34878D82A}">
                    <a16:rowId xmlns:a16="http://schemas.microsoft.com/office/drawing/2014/main" val="449673678"/>
                  </a:ext>
                </a:extLst>
              </a:tr>
              <a:tr h="344345">
                <a:tc>
                  <a:txBody>
                    <a:bodyPr/>
                    <a:lstStyle/>
                    <a:p>
                      <a:r>
                        <a:rPr lang="en-US" dirty="0"/>
                        <a:t>County Population</a:t>
                      </a:r>
                    </a:p>
                  </a:txBody>
                  <a:tcPr/>
                </a:tc>
                <a:tc>
                  <a:txBody>
                    <a:bodyPr/>
                    <a:lstStyle/>
                    <a:p>
                      <a:r>
                        <a:rPr lang="en-US" dirty="0"/>
                        <a:t>Yes</a:t>
                      </a:r>
                    </a:p>
                  </a:txBody>
                  <a:tcPr/>
                </a:tc>
                <a:extLst>
                  <a:ext uri="{0D108BD9-81ED-4DB2-BD59-A6C34878D82A}">
                    <a16:rowId xmlns:a16="http://schemas.microsoft.com/office/drawing/2014/main" val="2900113799"/>
                  </a:ext>
                </a:extLst>
              </a:tr>
              <a:tr h="34434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Bachelor’s Degree</a:t>
                      </a:r>
                    </a:p>
                  </a:txBody>
                  <a:tcPr/>
                </a:tc>
                <a:tc>
                  <a:txBody>
                    <a:bodyPr/>
                    <a:lstStyle/>
                    <a:p>
                      <a:r>
                        <a:rPr lang="en-US" dirty="0"/>
                        <a:t>No</a:t>
                      </a:r>
                    </a:p>
                  </a:txBody>
                  <a:tcPr/>
                </a:tc>
                <a:extLst>
                  <a:ext uri="{0D108BD9-81ED-4DB2-BD59-A6C34878D82A}">
                    <a16:rowId xmlns:a16="http://schemas.microsoft.com/office/drawing/2014/main" val="718389536"/>
                  </a:ext>
                </a:extLst>
              </a:tr>
              <a:tr h="344345">
                <a:tc>
                  <a:txBody>
                    <a:bodyPr/>
                    <a:lstStyle/>
                    <a:p>
                      <a:r>
                        <a:rPr lang="en-US" dirty="0"/>
                        <a:t>City Population</a:t>
                      </a:r>
                    </a:p>
                  </a:txBody>
                  <a:tcPr/>
                </a:tc>
                <a:tc>
                  <a:txBody>
                    <a:bodyPr/>
                    <a:lstStyle/>
                    <a:p>
                      <a:r>
                        <a:rPr lang="en-US" dirty="0"/>
                        <a:t>No</a:t>
                      </a:r>
                    </a:p>
                  </a:txBody>
                  <a:tcPr/>
                </a:tc>
                <a:extLst>
                  <a:ext uri="{0D108BD9-81ED-4DB2-BD59-A6C34878D82A}">
                    <a16:rowId xmlns:a16="http://schemas.microsoft.com/office/drawing/2014/main" val="1625381793"/>
                  </a:ext>
                </a:extLst>
              </a:tr>
              <a:tr h="344345">
                <a:tc>
                  <a:txBody>
                    <a:bodyPr/>
                    <a:lstStyle/>
                    <a:p>
                      <a:r>
                        <a:rPr lang="en-US" dirty="0"/>
                        <a:t>City Crime per Capita</a:t>
                      </a:r>
                    </a:p>
                  </a:txBody>
                  <a:tcPr/>
                </a:tc>
                <a:tc>
                  <a:txBody>
                    <a:bodyPr/>
                    <a:lstStyle/>
                    <a:p>
                      <a:r>
                        <a:rPr lang="en-US" dirty="0"/>
                        <a:t>No</a:t>
                      </a:r>
                    </a:p>
                  </a:txBody>
                  <a:tcPr/>
                </a:tc>
                <a:extLst>
                  <a:ext uri="{0D108BD9-81ED-4DB2-BD59-A6C34878D82A}">
                    <a16:rowId xmlns:a16="http://schemas.microsoft.com/office/drawing/2014/main" val="1333985429"/>
                  </a:ext>
                </a:extLst>
              </a:tr>
              <a:tr h="34434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Graduate Degree</a:t>
                      </a:r>
                    </a:p>
                  </a:txBody>
                  <a:tcPr/>
                </a:tc>
                <a:tc>
                  <a:txBody>
                    <a:bodyPr/>
                    <a:lstStyle/>
                    <a:p>
                      <a:r>
                        <a:rPr lang="en-US" dirty="0"/>
                        <a:t>No</a:t>
                      </a:r>
                    </a:p>
                  </a:txBody>
                  <a:tcPr/>
                </a:tc>
                <a:extLst>
                  <a:ext uri="{0D108BD9-81ED-4DB2-BD59-A6C34878D82A}">
                    <a16:rowId xmlns:a16="http://schemas.microsoft.com/office/drawing/2014/main" val="4283346092"/>
                  </a:ext>
                </a:extLst>
              </a:tr>
              <a:tr h="344345">
                <a:tc>
                  <a:txBody>
                    <a:bodyPr/>
                    <a:lstStyle/>
                    <a:p>
                      <a:r>
                        <a:rPr lang="en-US" dirty="0"/>
                        <a:t>Zip Code Population</a:t>
                      </a:r>
                    </a:p>
                  </a:txBody>
                  <a:tcPr/>
                </a:tc>
                <a:tc>
                  <a:txBody>
                    <a:bodyPr/>
                    <a:lstStyle/>
                    <a:p>
                      <a:r>
                        <a:rPr lang="en-US" dirty="0"/>
                        <a:t>No</a:t>
                      </a:r>
                    </a:p>
                  </a:txBody>
                  <a:tcPr/>
                </a:tc>
                <a:extLst>
                  <a:ext uri="{0D108BD9-81ED-4DB2-BD59-A6C34878D82A}">
                    <a16:rowId xmlns:a16="http://schemas.microsoft.com/office/drawing/2014/main" val="1574765980"/>
                  </a:ext>
                </a:extLst>
              </a:tr>
              <a:tr h="344345">
                <a:tc>
                  <a:txBody>
                    <a:bodyPr/>
                    <a:lstStyle/>
                    <a:p>
                      <a:r>
                        <a:rPr lang="en-US" dirty="0"/>
                        <a:t>Median Age in City</a:t>
                      </a:r>
                    </a:p>
                  </a:txBody>
                  <a:tcPr/>
                </a:tc>
                <a:tc>
                  <a:txBody>
                    <a:bodyPr/>
                    <a:lstStyle/>
                    <a:p>
                      <a:r>
                        <a:rPr lang="en-US" dirty="0"/>
                        <a:t>No</a:t>
                      </a:r>
                    </a:p>
                  </a:txBody>
                  <a:tcPr/>
                </a:tc>
                <a:extLst>
                  <a:ext uri="{0D108BD9-81ED-4DB2-BD59-A6C34878D82A}">
                    <a16:rowId xmlns:a16="http://schemas.microsoft.com/office/drawing/2014/main" val="3943830435"/>
                  </a:ext>
                </a:extLst>
              </a:tr>
              <a:tr h="43489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 of Agents in Zip Code</a:t>
                      </a:r>
                    </a:p>
                  </a:txBody>
                  <a:tcPr/>
                </a:tc>
                <a:tc>
                  <a:txBody>
                    <a:bodyPr/>
                    <a:lstStyle/>
                    <a:p>
                      <a:r>
                        <a:rPr lang="en-US" dirty="0"/>
                        <a:t>No</a:t>
                      </a:r>
                    </a:p>
                  </a:txBody>
                  <a:tcPr/>
                </a:tc>
                <a:extLst>
                  <a:ext uri="{0D108BD9-81ED-4DB2-BD59-A6C34878D82A}">
                    <a16:rowId xmlns:a16="http://schemas.microsoft.com/office/drawing/2014/main" val="1999287921"/>
                  </a:ext>
                </a:extLst>
              </a:tr>
              <a:tr h="34434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High School Graduate</a:t>
                      </a:r>
                    </a:p>
                  </a:txBody>
                  <a:tcPr/>
                </a:tc>
                <a:tc>
                  <a:txBody>
                    <a:bodyPr/>
                    <a:lstStyle/>
                    <a:p>
                      <a:r>
                        <a:rPr lang="en-US" dirty="0"/>
                        <a:t>No</a:t>
                      </a:r>
                    </a:p>
                  </a:txBody>
                  <a:tcPr/>
                </a:tc>
                <a:extLst>
                  <a:ext uri="{0D108BD9-81ED-4DB2-BD59-A6C34878D82A}">
                    <a16:rowId xmlns:a16="http://schemas.microsoft.com/office/drawing/2014/main" val="4138748994"/>
                  </a:ext>
                </a:extLst>
              </a:tr>
            </a:tbl>
          </a:graphicData>
        </a:graphic>
      </p:graphicFrame>
      <p:sp>
        <p:nvSpPr>
          <p:cNvPr id="10" name="Arrow: Down 9">
            <a:extLst>
              <a:ext uri="{FF2B5EF4-FFF2-40B4-BE49-F238E27FC236}">
                <a16:creationId xmlns:a16="http://schemas.microsoft.com/office/drawing/2014/main" id="{659B15E6-8FFB-45E3-9961-4F8D7F541748}"/>
              </a:ext>
            </a:extLst>
          </p:cNvPr>
          <p:cNvSpPr/>
          <p:nvPr/>
        </p:nvSpPr>
        <p:spPr>
          <a:xfrm rot="10800000">
            <a:off x="5486401" y="1928086"/>
            <a:ext cx="294198" cy="42986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AC11FC6-7388-4FDB-AEBC-D12DAC62D762}"/>
              </a:ext>
            </a:extLst>
          </p:cNvPr>
          <p:cNvSpPr txBox="1"/>
          <p:nvPr/>
        </p:nvSpPr>
        <p:spPr>
          <a:xfrm>
            <a:off x="5643926" y="2572247"/>
            <a:ext cx="517065" cy="4285753"/>
          </a:xfrm>
          <a:prstGeom prst="rect">
            <a:avLst/>
          </a:prstGeom>
          <a:noFill/>
        </p:spPr>
        <p:txBody>
          <a:bodyPr vert="vert" wrap="square" rtlCol="0">
            <a:spAutoFit/>
          </a:bodyPr>
          <a:lstStyle/>
          <a:p>
            <a:pPr algn="l">
              <a:lnSpc>
                <a:spcPct val="90000"/>
              </a:lnSpc>
            </a:pPr>
            <a:r>
              <a:rPr lang="en-US" sz="2400" dirty="0"/>
              <a:t>Level of Significance</a:t>
            </a:r>
          </a:p>
        </p:txBody>
      </p:sp>
      <p:sp>
        <p:nvSpPr>
          <p:cNvPr id="2" name="TextBox 1">
            <a:extLst>
              <a:ext uri="{FF2B5EF4-FFF2-40B4-BE49-F238E27FC236}">
                <a16:creationId xmlns:a16="http://schemas.microsoft.com/office/drawing/2014/main" id="{5B72F109-8B0D-4985-9400-9003C41F299E}"/>
              </a:ext>
            </a:extLst>
          </p:cNvPr>
          <p:cNvSpPr txBox="1"/>
          <p:nvPr/>
        </p:nvSpPr>
        <p:spPr>
          <a:xfrm>
            <a:off x="6531631" y="5106856"/>
            <a:ext cx="2375452" cy="1089529"/>
          </a:xfrm>
          <a:prstGeom prst="rect">
            <a:avLst/>
          </a:prstGeom>
          <a:noFill/>
        </p:spPr>
        <p:txBody>
          <a:bodyPr wrap="square" rtlCol="0">
            <a:spAutoFit/>
          </a:bodyPr>
          <a:lstStyle/>
          <a:p>
            <a:pPr marL="171450" indent="-171450" algn="l">
              <a:lnSpc>
                <a:spcPct val="90000"/>
              </a:lnSpc>
              <a:buFont typeface="Arial" panose="020B0604020202020204" pitchFamily="34" charset="0"/>
              <a:buChar char="•"/>
            </a:pPr>
            <a:r>
              <a:rPr lang="en-US" dirty="0"/>
              <a:t>*Significance is determined using a two tailed T-Test for P-value&lt;0.05</a:t>
            </a:r>
          </a:p>
        </p:txBody>
      </p:sp>
    </p:spTree>
    <p:extLst>
      <p:ext uri="{BB962C8B-B14F-4D97-AF65-F5344CB8AC3E}">
        <p14:creationId xmlns:p14="http://schemas.microsoft.com/office/powerpoint/2010/main" val="3655173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B226083-078D-4886-A0B2-D8C886A49901}"/>
              </a:ext>
            </a:extLst>
          </p:cNvPr>
          <p:cNvSpPr>
            <a:spLocks noGrp="1"/>
          </p:cNvSpPr>
          <p:nvPr>
            <p:ph type="ctrTitle"/>
          </p:nvPr>
        </p:nvSpPr>
        <p:spPr/>
        <p:txBody>
          <a:bodyPr/>
          <a:lstStyle/>
          <a:p>
            <a:r>
              <a:rPr lang="en-US" dirty="0"/>
              <a:t>Exploratory Data Analysis (cont.)</a:t>
            </a:r>
          </a:p>
        </p:txBody>
      </p:sp>
      <p:sp>
        <p:nvSpPr>
          <p:cNvPr id="10" name="Text Placeholder 9">
            <a:extLst>
              <a:ext uri="{FF2B5EF4-FFF2-40B4-BE49-F238E27FC236}">
                <a16:creationId xmlns:a16="http://schemas.microsoft.com/office/drawing/2014/main" id="{A49F5AEB-F540-4393-9F78-4D7EAD5C3327}"/>
              </a:ext>
            </a:extLst>
          </p:cNvPr>
          <p:cNvSpPr>
            <a:spLocks noGrp="1"/>
          </p:cNvSpPr>
          <p:nvPr>
            <p:ph type="body" sz="quarter" idx="10"/>
          </p:nvPr>
        </p:nvSpPr>
        <p:spPr/>
        <p:txBody>
          <a:bodyPr/>
          <a:lstStyle/>
          <a:p>
            <a:endParaRPr lang="en-US"/>
          </a:p>
        </p:txBody>
      </p:sp>
      <p:graphicFrame>
        <p:nvGraphicFramePr>
          <p:cNvPr id="11" name="Table 10">
            <a:extLst>
              <a:ext uri="{FF2B5EF4-FFF2-40B4-BE49-F238E27FC236}">
                <a16:creationId xmlns:a16="http://schemas.microsoft.com/office/drawing/2014/main" id="{57B6B0E6-B768-453F-8E21-255B11273138}"/>
              </a:ext>
            </a:extLst>
          </p:cNvPr>
          <p:cNvGraphicFramePr>
            <a:graphicFrameLocks noGrp="1"/>
          </p:cNvGraphicFramePr>
          <p:nvPr>
            <p:extLst>
              <p:ext uri="{D42A27DB-BD31-4B8C-83A1-F6EECF244321}">
                <p14:modId xmlns:p14="http://schemas.microsoft.com/office/powerpoint/2010/main" val="615145727"/>
              </p:ext>
            </p:extLst>
          </p:nvPr>
        </p:nvGraphicFramePr>
        <p:xfrm>
          <a:off x="209724" y="1515678"/>
          <a:ext cx="4071007" cy="5181876"/>
        </p:xfrm>
        <a:graphic>
          <a:graphicData uri="http://schemas.openxmlformats.org/drawingml/2006/table">
            <a:tbl>
              <a:tblPr firstRow="1" bandRow="1">
                <a:tableStyleId>{21E4AEA4-8DFA-4A89-87EB-49C32662AFE0}</a:tableStyleId>
              </a:tblPr>
              <a:tblGrid>
                <a:gridCol w="2368042">
                  <a:extLst>
                    <a:ext uri="{9D8B030D-6E8A-4147-A177-3AD203B41FA5}">
                      <a16:colId xmlns:a16="http://schemas.microsoft.com/office/drawing/2014/main" val="2053141408"/>
                    </a:ext>
                  </a:extLst>
                </a:gridCol>
                <a:gridCol w="1702965">
                  <a:extLst>
                    <a:ext uri="{9D8B030D-6E8A-4147-A177-3AD203B41FA5}">
                      <a16:colId xmlns:a16="http://schemas.microsoft.com/office/drawing/2014/main" val="2401220194"/>
                    </a:ext>
                  </a:extLst>
                </a:gridCol>
              </a:tblGrid>
              <a:tr h="426996">
                <a:tc>
                  <a:txBody>
                    <a:bodyPr/>
                    <a:lstStyle/>
                    <a:p>
                      <a:r>
                        <a:rPr lang="en-US" dirty="0"/>
                        <a:t>Attribute</a:t>
                      </a:r>
                    </a:p>
                  </a:txBody>
                  <a:tcPr/>
                </a:tc>
                <a:tc>
                  <a:txBody>
                    <a:bodyPr/>
                    <a:lstStyle/>
                    <a:p>
                      <a:r>
                        <a:rPr lang="en-US" dirty="0"/>
                        <a:t>Missing Values</a:t>
                      </a:r>
                    </a:p>
                  </a:txBody>
                  <a:tcPr/>
                </a:tc>
                <a:extLst>
                  <a:ext uri="{0D108BD9-81ED-4DB2-BD59-A6C34878D82A}">
                    <a16:rowId xmlns:a16="http://schemas.microsoft.com/office/drawing/2014/main" val="553702602"/>
                  </a:ext>
                </a:extLst>
              </a:tr>
              <a:tr h="347111">
                <a:tc>
                  <a:txBody>
                    <a:bodyPr/>
                    <a:lstStyle/>
                    <a:p>
                      <a:r>
                        <a:rPr lang="en-US" dirty="0"/>
                        <a:t>Credit Amount</a:t>
                      </a:r>
                    </a:p>
                  </a:txBody>
                  <a:tcPr/>
                </a:tc>
                <a:tc>
                  <a:txBody>
                    <a:bodyPr/>
                    <a:lstStyle/>
                    <a:p>
                      <a:r>
                        <a:rPr lang="en-US" dirty="0"/>
                        <a:t>0%</a:t>
                      </a:r>
                    </a:p>
                  </a:txBody>
                  <a:tcPr/>
                </a:tc>
                <a:extLst>
                  <a:ext uri="{0D108BD9-81ED-4DB2-BD59-A6C34878D82A}">
                    <a16:rowId xmlns:a16="http://schemas.microsoft.com/office/drawing/2014/main" val="2391134484"/>
                  </a:ext>
                </a:extLst>
              </a:tr>
              <a:tr h="347111">
                <a:tc>
                  <a:txBody>
                    <a:bodyPr/>
                    <a:lstStyle/>
                    <a:p>
                      <a:r>
                        <a:rPr lang="en-US" dirty="0"/>
                        <a:t>Credit Changes</a:t>
                      </a:r>
                    </a:p>
                  </a:txBody>
                  <a:tcPr/>
                </a:tc>
                <a:tc>
                  <a:txBody>
                    <a:bodyPr/>
                    <a:lstStyle/>
                    <a:p>
                      <a:r>
                        <a:rPr lang="en-US" dirty="0"/>
                        <a:t>0%</a:t>
                      </a:r>
                    </a:p>
                  </a:txBody>
                  <a:tcPr/>
                </a:tc>
                <a:extLst>
                  <a:ext uri="{0D108BD9-81ED-4DB2-BD59-A6C34878D82A}">
                    <a16:rowId xmlns:a16="http://schemas.microsoft.com/office/drawing/2014/main" val="596520011"/>
                  </a:ext>
                </a:extLst>
              </a:tr>
              <a:tr h="347111">
                <a:tc>
                  <a:txBody>
                    <a:bodyPr/>
                    <a:lstStyle/>
                    <a:p>
                      <a:r>
                        <a:rPr lang="en-US" dirty="0"/>
                        <a:t>Account Blocks</a:t>
                      </a:r>
                    </a:p>
                  </a:txBody>
                  <a:tcPr/>
                </a:tc>
                <a:tc>
                  <a:txBody>
                    <a:bodyPr/>
                    <a:lstStyle/>
                    <a:p>
                      <a:r>
                        <a:rPr lang="en-US" dirty="0"/>
                        <a:t>0%</a:t>
                      </a:r>
                    </a:p>
                  </a:txBody>
                  <a:tcPr/>
                </a:tc>
                <a:extLst>
                  <a:ext uri="{0D108BD9-81ED-4DB2-BD59-A6C34878D82A}">
                    <a16:rowId xmlns:a16="http://schemas.microsoft.com/office/drawing/2014/main" val="502653932"/>
                  </a:ext>
                </a:extLst>
              </a:tr>
              <a:tr h="34711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 of Agents in Zip Code</a:t>
                      </a:r>
                    </a:p>
                  </a:txBody>
                  <a:tcPr/>
                </a:tc>
                <a:tc>
                  <a:txBody>
                    <a:bodyPr/>
                    <a:lstStyle/>
                    <a:p>
                      <a:r>
                        <a:rPr lang="en-US" dirty="0"/>
                        <a:t>0%</a:t>
                      </a:r>
                    </a:p>
                  </a:txBody>
                  <a:tcPr/>
                </a:tc>
                <a:extLst>
                  <a:ext uri="{0D108BD9-81ED-4DB2-BD59-A6C34878D82A}">
                    <a16:rowId xmlns:a16="http://schemas.microsoft.com/office/drawing/2014/main" val="3988304536"/>
                  </a:ext>
                </a:extLst>
              </a:tr>
              <a:tr h="347111">
                <a:tc>
                  <a:txBody>
                    <a:bodyPr/>
                    <a:lstStyle/>
                    <a:p>
                      <a:r>
                        <a:rPr lang="en-US" dirty="0"/>
                        <a:t>Poverty</a:t>
                      </a:r>
                    </a:p>
                  </a:txBody>
                  <a:tcPr/>
                </a:tc>
                <a:tc>
                  <a:txBody>
                    <a:bodyPr/>
                    <a:lstStyle/>
                    <a:p>
                      <a:r>
                        <a:rPr lang="en-US" dirty="0"/>
                        <a:t>2.0%</a:t>
                      </a:r>
                    </a:p>
                  </a:txBody>
                  <a:tcPr/>
                </a:tc>
                <a:extLst>
                  <a:ext uri="{0D108BD9-81ED-4DB2-BD59-A6C34878D82A}">
                    <a16:rowId xmlns:a16="http://schemas.microsoft.com/office/drawing/2014/main" val="449673678"/>
                  </a:ext>
                </a:extLst>
              </a:tr>
              <a:tr h="347111">
                <a:tc>
                  <a:txBody>
                    <a:bodyPr/>
                    <a:lstStyle/>
                    <a:p>
                      <a:r>
                        <a:rPr lang="en-US" dirty="0"/>
                        <a:t>County Population</a:t>
                      </a:r>
                    </a:p>
                  </a:txBody>
                  <a:tcPr/>
                </a:tc>
                <a:tc>
                  <a:txBody>
                    <a:bodyPr/>
                    <a:lstStyle/>
                    <a:p>
                      <a:r>
                        <a:rPr lang="en-US" dirty="0"/>
                        <a:t>4.9%</a:t>
                      </a:r>
                    </a:p>
                  </a:txBody>
                  <a:tcPr/>
                </a:tc>
                <a:extLst>
                  <a:ext uri="{0D108BD9-81ED-4DB2-BD59-A6C34878D82A}">
                    <a16:rowId xmlns:a16="http://schemas.microsoft.com/office/drawing/2014/main" val="2900113799"/>
                  </a:ext>
                </a:extLst>
              </a:tr>
              <a:tr h="34711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Bachelor’s Degree</a:t>
                      </a:r>
                    </a:p>
                  </a:txBody>
                  <a:tcPr/>
                </a:tc>
                <a:tc>
                  <a:txBody>
                    <a:bodyPr/>
                    <a:lstStyle/>
                    <a:p>
                      <a:r>
                        <a:rPr lang="en-US" dirty="0"/>
                        <a:t>1.9%</a:t>
                      </a:r>
                    </a:p>
                  </a:txBody>
                  <a:tcPr/>
                </a:tc>
                <a:extLst>
                  <a:ext uri="{0D108BD9-81ED-4DB2-BD59-A6C34878D82A}">
                    <a16:rowId xmlns:a16="http://schemas.microsoft.com/office/drawing/2014/main" val="718389536"/>
                  </a:ext>
                </a:extLst>
              </a:tr>
              <a:tr h="347111">
                <a:tc>
                  <a:txBody>
                    <a:bodyPr/>
                    <a:lstStyle/>
                    <a:p>
                      <a:r>
                        <a:rPr lang="en-US" dirty="0"/>
                        <a:t>City Population</a:t>
                      </a:r>
                    </a:p>
                  </a:txBody>
                  <a:tcPr/>
                </a:tc>
                <a:tc>
                  <a:txBody>
                    <a:bodyPr/>
                    <a:lstStyle/>
                    <a:p>
                      <a:r>
                        <a:rPr lang="en-US" dirty="0"/>
                        <a:t>18%</a:t>
                      </a:r>
                    </a:p>
                  </a:txBody>
                  <a:tcPr/>
                </a:tc>
                <a:extLst>
                  <a:ext uri="{0D108BD9-81ED-4DB2-BD59-A6C34878D82A}">
                    <a16:rowId xmlns:a16="http://schemas.microsoft.com/office/drawing/2014/main" val="1625381793"/>
                  </a:ext>
                </a:extLst>
              </a:tr>
              <a:tr h="347111">
                <a:tc>
                  <a:txBody>
                    <a:bodyPr/>
                    <a:lstStyle/>
                    <a:p>
                      <a:r>
                        <a:rPr lang="en-US" dirty="0"/>
                        <a:t>City Crime per Capita</a:t>
                      </a:r>
                    </a:p>
                  </a:txBody>
                  <a:tcPr/>
                </a:tc>
                <a:tc>
                  <a:txBody>
                    <a:bodyPr/>
                    <a:lstStyle/>
                    <a:p>
                      <a:r>
                        <a:rPr lang="en-US" dirty="0"/>
                        <a:t>1.6%</a:t>
                      </a:r>
                    </a:p>
                  </a:txBody>
                  <a:tcPr/>
                </a:tc>
                <a:extLst>
                  <a:ext uri="{0D108BD9-81ED-4DB2-BD59-A6C34878D82A}">
                    <a16:rowId xmlns:a16="http://schemas.microsoft.com/office/drawing/2014/main" val="1333985429"/>
                  </a:ext>
                </a:extLst>
              </a:tr>
              <a:tr h="34711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Graduate Degree</a:t>
                      </a:r>
                    </a:p>
                  </a:txBody>
                  <a:tcPr/>
                </a:tc>
                <a:tc>
                  <a:txBody>
                    <a:bodyPr/>
                    <a:lstStyle/>
                    <a:p>
                      <a:r>
                        <a:rPr lang="en-US" dirty="0"/>
                        <a:t>1.9%</a:t>
                      </a:r>
                    </a:p>
                  </a:txBody>
                  <a:tcPr/>
                </a:tc>
                <a:extLst>
                  <a:ext uri="{0D108BD9-81ED-4DB2-BD59-A6C34878D82A}">
                    <a16:rowId xmlns:a16="http://schemas.microsoft.com/office/drawing/2014/main" val="4283346092"/>
                  </a:ext>
                </a:extLst>
              </a:tr>
              <a:tr h="347111">
                <a:tc>
                  <a:txBody>
                    <a:bodyPr/>
                    <a:lstStyle/>
                    <a:p>
                      <a:r>
                        <a:rPr lang="en-US" dirty="0"/>
                        <a:t>Zip Code Population</a:t>
                      </a:r>
                    </a:p>
                  </a:txBody>
                  <a:tcPr/>
                </a:tc>
                <a:tc>
                  <a:txBody>
                    <a:bodyPr/>
                    <a:lstStyle/>
                    <a:p>
                      <a:r>
                        <a:rPr lang="en-US" dirty="0"/>
                        <a:t>0.25%</a:t>
                      </a:r>
                    </a:p>
                  </a:txBody>
                  <a:tcPr/>
                </a:tc>
                <a:extLst>
                  <a:ext uri="{0D108BD9-81ED-4DB2-BD59-A6C34878D82A}">
                    <a16:rowId xmlns:a16="http://schemas.microsoft.com/office/drawing/2014/main" val="1574765980"/>
                  </a:ext>
                </a:extLst>
              </a:tr>
              <a:tr h="347111">
                <a:tc>
                  <a:txBody>
                    <a:bodyPr/>
                    <a:lstStyle/>
                    <a:p>
                      <a:r>
                        <a:rPr lang="en-US" dirty="0"/>
                        <a:t>Median Age in City</a:t>
                      </a:r>
                    </a:p>
                  </a:txBody>
                  <a:tcPr/>
                </a:tc>
                <a:tc>
                  <a:txBody>
                    <a:bodyPr/>
                    <a:lstStyle/>
                    <a:p>
                      <a:r>
                        <a:rPr lang="en-US" dirty="0"/>
                        <a:t>0.25%</a:t>
                      </a:r>
                    </a:p>
                  </a:txBody>
                  <a:tcPr/>
                </a:tc>
                <a:extLst>
                  <a:ext uri="{0D108BD9-81ED-4DB2-BD59-A6C34878D82A}">
                    <a16:rowId xmlns:a16="http://schemas.microsoft.com/office/drawing/2014/main" val="3943830435"/>
                  </a:ext>
                </a:extLst>
              </a:tr>
              <a:tr h="34711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High School Graduate</a:t>
                      </a:r>
                    </a:p>
                  </a:txBody>
                  <a:tcPr/>
                </a:tc>
                <a:tc>
                  <a:txBody>
                    <a:bodyPr/>
                    <a:lstStyle/>
                    <a:p>
                      <a:r>
                        <a:rPr lang="en-US" dirty="0"/>
                        <a:t>1.9%</a:t>
                      </a:r>
                    </a:p>
                  </a:txBody>
                  <a:tcPr/>
                </a:tc>
                <a:extLst>
                  <a:ext uri="{0D108BD9-81ED-4DB2-BD59-A6C34878D82A}">
                    <a16:rowId xmlns:a16="http://schemas.microsoft.com/office/drawing/2014/main" val="4138748994"/>
                  </a:ext>
                </a:extLst>
              </a:tr>
            </a:tbl>
          </a:graphicData>
        </a:graphic>
      </p:graphicFrame>
      <p:sp>
        <p:nvSpPr>
          <p:cNvPr id="12" name="Rectangle 11">
            <a:extLst>
              <a:ext uri="{FF2B5EF4-FFF2-40B4-BE49-F238E27FC236}">
                <a16:creationId xmlns:a16="http://schemas.microsoft.com/office/drawing/2014/main" id="{68F5BAEB-3E05-488B-B710-9BDFDAC42BEF}"/>
              </a:ext>
            </a:extLst>
          </p:cNvPr>
          <p:cNvSpPr/>
          <p:nvPr/>
        </p:nvSpPr>
        <p:spPr>
          <a:xfrm>
            <a:off x="4865615" y="2013357"/>
            <a:ext cx="4093827" cy="3221373"/>
          </a:xfrm>
          <a:prstGeom prst="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66DDCE9-53DA-4373-B9D5-116899593CA7}"/>
              </a:ext>
            </a:extLst>
          </p:cNvPr>
          <p:cNvSpPr txBox="1"/>
          <p:nvPr/>
        </p:nvSpPr>
        <p:spPr>
          <a:xfrm>
            <a:off x="4932727" y="2114026"/>
            <a:ext cx="4026715" cy="3513269"/>
          </a:xfrm>
          <a:prstGeom prst="rect">
            <a:avLst/>
          </a:prstGeom>
          <a:noFill/>
        </p:spPr>
        <p:txBody>
          <a:bodyPr wrap="square" rtlCol="0">
            <a:spAutoFit/>
          </a:bodyPr>
          <a:lstStyle/>
          <a:p>
            <a:pPr algn="l">
              <a:lnSpc>
                <a:spcPct val="90000"/>
              </a:lnSpc>
            </a:pPr>
            <a:r>
              <a:rPr lang="en-US" b="1" u="sng" dirty="0"/>
              <a:t>Correlations</a:t>
            </a:r>
          </a:p>
          <a:p>
            <a:pPr algn="l">
              <a:lnSpc>
                <a:spcPct val="90000"/>
              </a:lnSpc>
            </a:pPr>
            <a:endParaRPr lang="en-US" sz="1100" dirty="0">
              <a:solidFill>
                <a:schemeClr val="bg1">
                  <a:lumMod val="75000"/>
                </a:schemeClr>
              </a:solidFill>
            </a:endParaRPr>
          </a:p>
          <a:p>
            <a:pPr marL="285750" indent="-285750" algn="l">
              <a:lnSpc>
                <a:spcPct val="90000"/>
              </a:lnSpc>
              <a:buFont typeface="Arial" panose="020B0604020202020204" pitchFamily="34" charset="0"/>
              <a:buChar char="•"/>
            </a:pPr>
            <a:r>
              <a:rPr lang="en-US" sz="1400" dirty="0"/>
              <a:t>Zip Code Pop., County Pop., and City Pop.</a:t>
            </a:r>
          </a:p>
          <a:p>
            <a:pPr algn="l">
              <a:lnSpc>
                <a:spcPct val="90000"/>
              </a:lnSpc>
            </a:pPr>
            <a:endParaRPr lang="en-US" sz="1400" dirty="0"/>
          </a:p>
          <a:p>
            <a:pPr marL="285750" indent="-285750" algn="l">
              <a:lnSpc>
                <a:spcPct val="90000"/>
              </a:lnSpc>
              <a:buFont typeface="Arial" panose="020B0604020202020204" pitchFamily="34" charset="0"/>
              <a:buChar char="•"/>
            </a:pPr>
            <a:r>
              <a:rPr lang="en-US" sz="1400" dirty="0"/>
              <a:t>High School,  Bachelor’s, and Graduate degree</a:t>
            </a:r>
          </a:p>
          <a:p>
            <a:pPr algn="l">
              <a:lnSpc>
                <a:spcPct val="90000"/>
              </a:lnSpc>
            </a:pPr>
            <a:endParaRPr lang="en-US" sz="1400" dirty="0"/>
          </a:p>
          <a:p>
            <a:pPr marL="285750" indent="-285750" algn="l">
              <a:lnSpc>
                <a:spcPct val="90000"/>
              </a:lnSpc>
              <a:buFont typeface="Arial" panose="020B0604020202020204" pitchFamily="34" charset="0"/>
              <a:buChar char="•"/>
            </a:pPr>
            <a:r>
              <a:rPr lang="en-US" sz="1400" dirty="0"/>
              <a:t>Agents in Zip Code and Zip Code Population</a:t>
            </a:r>
          </a:p>
          <a:p>
            <a:pPr algn="l">
              <a:lnSpc>
                <a:spcPct val="90000"/>
              </a:lnSpc>
            </a:pPr>
            <a:endParaRPr lang="en-US" sz="1400" dirty="0"/>
          </a:p>
          <a:p>
            <a:pPr marL="285750" indent="-285750" algn="l">
              <a:lnSpc>
                <a:spcPct val="90000"/>
              </a:lnSpc>
              <a:buFont typeface="Arial" panose="020B0604020202020204" pitchFamily="34" charset="0"/>
              <a:buChar char="•"/>
            </a:pPr>
            <a:r>
              <a:rPr lang="en-US" sz="1400" dirty="0"/>
              <a:t>Crime and Poverty</a:t>
            </a:r>
          </a:p>
          <a:p>
            <a:pPr marL="285750" indent="-285750" algn="l">
              <a:lnSpc>
                <a:spcPct val="90000"/>
              </a:lnSpc>
              <a:buFont typeface="Arial" panose="020B0604020202020204" pitchFamily="34" charset="0"/>
              <a:buChar char="•"/>
            </a:pPr>
            <a:endParaRPr lang="en-US" sz="1400" dirty="0"/>
          </a:p>
          <a:p>
            <a:pPr marL="285750" indent="-285750" algn="l">
              <a:lnSpc>
                <a:spcPct val="90000"/>
              </a:lnSpc>
              <a:buFont typeface="Arial" panose="020B0604020202020204" pitchFamily="34" charset="0"/>
              <a:buChar char="•"/>
            </a:pPr>
            <a:r>
              <a:rPr lang="en-US" sz="1400" dirty="0"/>
              <a:t>Zip Code Pop. and Median Age</a:t>
            </a:r>
          </a:p>
          <a:p>
            <a:pPr algn="l">
              <a:lnSpc>
                <a:spcPct val="90000"/>
              </a:lnSpc>
            </a:pPr>
            <a:endParaRPr lang="en-US" sz="1400" dirty="0"/>
          </a:p>
          <a:p>
            <a:pPr marL="285750" indent="-285750" algn="l">
              <a:lnSpc>
                <a:spcPct val="90000"/>
              </a:lnSpc>
              <a:buFont typeface="Arial" panose="020B0604020202020204" pitchFamily="34" charset="0"/>
              <a:buChar char="•"/>
            </a:pPr>
            <a:r>
              <a:rPr lang="en-US" sz="1400" dirty="0"/>
              <a:t>Poverty and low education</a:t>
            </a:r>
          </a:p>
          <a:p>
            <a:pPr marL="285750" indent="-285750" algn="l">
              <a:lnSpc>
                <a:spcPct val="90000"/>
              </a:lnSpc>
              <a:buFont typeface="Arial" panose="020B0604020202020204" pitchFamily="34" charset="0"/>
              <a:buChar char="•"/>
            </a:pPr>
            <a:endParaRPr lang="en-US" sz="1400" dirty="0"/>
          </a:p>
          <a:p>
            <a:pPr marL="285750" indent="-285750" algn="l">
              <a:lnSpc>
                <a:spcPct val="90000"/>
              </a:lnSpc>
              <a:buFont typeface="Arial" panose="020B0604020202020204" pitchFamily="34" charset="0"/>
              <a:buChar char="•"/>
            </a:pPr>
            <a:r>
              <a:rPr lang="en-US" sz="1400" dirty="0"/>
              <a:t>Population and low high school grads</a:t>
            </a:r>
          </a:p>
          <a:p>
            <a:pPr marL="285750" indent="-285750" algn="l">
              <a:lnSpc>
                <a:spcPct val="90000"/>
              </a:lnSpc>
              <a:buFont typeface="Arial" panose="020B0604020202020204" pitchFamily="34" charset="0"/>
              <a:buChar char="•"/>
            </a:pPr>
            <a:endParaRPr lang="en-US" sz="1400" dirty="0"/>
          </a:p>
          <a:p>
            <a:pPr algn="l">
              <a:lnSpc>
                <a:spcPct val="90000"/>
              </a:lnSpc>
            </a:pPr>
            <a:endParaRPr lang="en-US" sz="1100" dirty="0">
              <a:solidFill>
                <a:schemeClr val="bg1">
                  <a:lumMod val="75000"/>
                </a:schemeClr>
              </a:solidFill>
            </a:endParaRPr>
          </a:p>
          <a:p>
            <a:pPr algn="l">
              <a:lnSpc>
                <a:spcPct val="90000"/>
              </a:lnSpc>
            </a:pPr>
            <a:endParaRPr lang="en-US" sz="1100" dirty="0">
              <a:solidFill>
                <a:schemeClr val="bg1">
                  <a:lumMod val="75000"/>
                </a:schemeClr>
              </a:solidFill>
            </a:endParaRPr>
          </a:p>
        </p:txBody>
      </p:sp>
      <p:sp>
        <p:nvSpPr>
          <p:cNvPr id="14" name="TextBox 13">
            <a:extLst>
              <a:ext uri="{FF2B5EF4-FFF2-40B4-BE49-F238E27FC236}">
                <a16:creationId xmlns:a16="http://schemas.microsoft.com/office/drawing/2014/main" id="{64D1098A-BC41-4325-8C07-0D2FC4E890FA}"/>
              </a:ext>
            </a:extLst>
          </p:cNvPr>
          <p:cNvSpPr txBox="1"/>
          <p:nvPr/>
        </p:nvSpPr>
        <p:spPr>
          <a:xfrm>
            <a:off x="4932726" y="5436066"/>
            <a:ext cx="4026715" cy="840230"/>
          </a:xfrm>
          <a:prstGeom prst="rect">
            <a:avLst/>
          </a:prstGeom>
          <a:noFill/>
        </p:spPr>
        <p:txBody>
          <a:bodyPr wrap="square" rtlCol="0">
            <a:spAutoFit/>
          </a:bodyPr>
          <a:lstStyle/>
          <a:p>
            <a:pPr marL="171450" indent="-171450" algn="l">
              <a:lnSpc>
                <a:spcPct val="90000"/>
              </a:lnSpc>
              <a:buFont typeface="Arial" panose="020B0604020202020204" pitchFamily="34" charset="0"/>
              <a:buChar char="•"/>
            </a:pPr>
            <a:r>
              <a:rPr lang="en-US" dirty="0">
                <a:solidFill>
                  <a:schemeClr val="accent2"/>
                </a:solidFill>
              </a:rPr>
              <a:t>Correlations and missing values will reduce the effectiveness of a predictive model </a:t>
            </a:r>
          </a:p>
        </p:txBody>
      </p:sp>
    </p:spTree>
    <p:extLst>
      <p:ext uri="{BB962C8B-B14F-4D97-AF65-F5344CB8AC3E}">
        <p14:creationId xmlns:p14="http://schemas.microsoft.com/office/powerpoint/2010/main" val="2143295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223B6E-A281-4090-8D03-10D7A20100A0}"/>
              </a:ext>
            </a:extLst>
          </p:cNvPr>
          <p:cNvSpPr>
            <a:spLocks noGrp="1"/>
          </p:cNvSpPr>
          <p:nvPr>
            <p:ph idx="1"/>
          </p:nvPr>
        </p:nvSpPr>
        <p:spPr/>
        <p:txBody>
          <a:bodyPr/>
          <a:lstStyle/>
          <a:p>
            <a:r>
              <a:rPr lang="en-US" dirty="0"/>
              <a:t>After some analysis and experimentation, the following fields were used to create three types of models</a:t>
            </a:r>
          </a:p>
        </p:txBody>
      </p:sp>
      <p:sp>
        <p:nvSpPr>
          <p:cNvPr id="3" name="Title 2">
            <a:extLst>
              <a:ext uri="{FF2B5EF4-FFF2-40B4-BE49-F238E27FC236}">
                <a16:creationId xmlns:a16="http://schemas.microsoft.com/office/drawing/2014/main" id="{C55E53FB-0421-4D2D-874C-8149CB54E8AD}"/>
              </a:ext>
            </a:extLst>
          </p:cNvPr>
          <p:cNvSpPr>
            <a:spLocks noGrp="1"/>
          </p:cNvSpPr>
          <p:nvPr>
            <p:ph type="ctrTitle"/>
          </p:nvPr>
        </p:nvSpPr>
        <p:spPr/>
        <p:txBody>
          <a:bodyPr/>
          <a:lstStyle/>
          <a:p>
            <a:r>
              <a:rPr lang="en-US" dirty="0"/>
              <a:t>Predictive Modeling</a:t>
            </a:r>
          </a:p>
        </p:txBody>
      </p:sp>
      <p:sp>
        <p:nvSpPr>
          <p:cNvPr id="4" name="Text Placeholder 3">
            <a:extLst>
              <a:ext uri="{FF2B5EF4-FFF2-40B4-BE49-F238E27FC236}">
                <a16:creationId xmlns:a16="http://schemas.microsoft.com/office/drawing/2014/main" id="{9EEBBBFC-583C-4F22-A393-D7DF40D2D0D2}"/>
              </a:ext>
            </a:extLst>
          </p:cNvPr>
          <p:cNvSpPr>
            <a:spLocks noGrp="1"/>
          </p:cNvSpPr>
          <p:nvPr>
            <p:ph type="body" sz="quarter" idx="10"/>
          </p:nvPr>
        </p:nvSpPr>
        <p:spPr/>
        <p:txBody>
          <a:bodyPr/>
          <a:lstStyle/>
          <a:p>
            <a:endParaRPr lang="en-US"/>
          </a:p>
        </p:txBody>
      </p:sp>
      <p:sp>
        <p:nvSpPr>
          <p:cNvPr id="5" name="Rectangle: Rounded Corners 4">
            <a:extLst>
              <a:ext uri="{FF2B5EF4-FFF2-40B4-BE49-F238E27FC236}">
                <a16:creationId xmlns:a16="http://schemas.microsoft.com/office/drawing/2014/main" id="{A4DD9DDB-AE28-498A-A081-E9D65E597BE0}"/>
              </a:ext>
            </a:extLst>
          </p:cNvPr>
          <p:cNvSpPr/>
          <p:nvPr/>
        </p:nvSpPr>
        <p:spPr>
          <a:xfrm>
            <a:off x="1278207" y="3192128"/>
            <a:ext cx="1971413" cy="2432145"/>
          </a:xfrm>
          <a:prstGeom prst="roundRect">
            <a:avLst/>
          </a:prstGeom>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111F53E5-5FAE-4716-83FD-13BB36A05E65}"/>
              </a:ext>
            </a:extLst>
          </p:cNvPr>
          <p:cNvSpPr/>
          <p:nvPr/>
        </p:nvSpPr>
        <p:spPr>
          <a:xfrm>
            <a:off x="4817875" y="2700829"/>
            <a:ext cx="2430213" cy="647675"/>
          </a:xfrm>
          <a:prstGeom prst="roundRect">
            <a:avLst/>
          </a:prstGeom>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58326D14-5BE3-478E-BA99-D61B5BDCBBC6}"/>
              </a:ext>
            </a:extLst>
          </p:cNvPr>
          <p:cNvSpPr/>
          <p:nvPr/>
        </p:nvSpPr>
        <p:spPr>
          <a:xfrm>
            <a:off x="4817875" y="4092966"/>
            <a:ext cx="2430213" cy="647675"/>
          </a:xfrm>
          <a:prstGeom prst="roundRect">
            <a:avLst/>
          </a:prstGeom>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EFBD3D19-EACC-4767-B320-1477D0C8AE0C}"/>
              </a:ext>
            </a:extLst>
          </p:cNvPr>
          <p:cNvSpPr/>
          <p:nvPr/>
        </p:nvSpPr>
        <p:spPr>
          <a:xfrm>
            <a:off x="4817874" y="5485103"/>
            <a:ext cx="2430213" cy="647675"/>
          </a:xfrm>
          <a:prstGeom prst="roundRect">
            <a:avLst/>
          </a:prstGeom>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1A71C68-97FB-469E-871E-C15850AD8DA8}"/>
              </a:ext>
            </a:extLst>
          </p:cNvPr>
          <p:cNvSpPr txBox="1"/>
          <p:nvPr/>
        </p:nvSpPr>
        <p:spPr>
          <a:xfrm>
            <a:off x="1434517" y="3397541"/>
            <a:ext cx="1677798" cy="2086725"/>
          </a:xfrm>
          <a:prstGeom prst="rect">
            <a:avLst/>
          </a:prstGeom>
          <a:noFill/>
        </p:spPr>
        <p:txBody>
          <a:bodyPr wrap="square" rtlCol="0">
            <a:spAutoFit/>
          </a:bodyPr>
          <a:lstStyle/>
          <a:p>
            <a:pPr marL="171450" indent="-171450" algn="l">
              <a:lnSpc>
                <a:spcPct val="90000"/>
              </a:lnSpc>
              <a:buFont typeface="Arial" panose="020B0604020202020204" pitchFamily="34" charset="0"/>
              <a:buChar char="•"/>
            </a:pPr>
            <a:r>
              <a:rPr lang="en-US" dirty="0">
                <a:solidFill>
                  <a:schemeClr val="bg1"/>
                </a:solidFill>
              </a:rPr>
              <a:t>Poverty Rate</a:t>
            </a:r>
          </a:p>
          <a:p>
            <a:pPr marL="171450" indent="-171450" algn="l">
              <a:lnSpc>
                <a:spcPct val="90000"/>
              </a:lnSpc>
              <a:buFont typeface="Arial" panose="020B0604020202020204" pitchFamily="34" charset="0"/>
              <a:buChar char="•"/>
            </a:pPr>
            <a:endParaRPr lang="en-US" dirty="0">
              <a:solidFill>
                <a:schemeClr val="bg1"/>
              </a:solidFill>
            </a:endParaRPr>
          </a:p>
          <a:p>
            <a:pPr marL="171450" indent="-171450" algn="l">
              <a:lnSpc>
                <a:spcPct val="90000"/>
              </a:lnSpc>
              <a:buFont typeface="Arial" panose="020B0604020202020204" pitchFamily="34" charset="0"/>
              <a:buChar char="•"/>
            </a:pPr>
            <a:r>
              <a:rPr lang="en-US" dirty="0">
                <a:solidFill>
                  <a:schemeClr val="bg1"/>
                </a:solidFill>
              </a:rPr>
              <a:t>Agent’s Credit</a:t>
            </a:r>
          </a:p>
          <a:p>
            <a:pPr marL="171450" indent="-171450" algn="l">
              <a:lnSpc>
                <a:spcPct val="90000"/>
              </a:lnSpc>
              <a:buFont typeface="Arial" panose="020B0604020202020204" pitchFamily="34" charset="0"/>
              <a:buChar char="•"/>
            </a:pPr>
            <a:endParaRPr lang="en-US" dirty="0">
              <a:solidFill>
                <a:schemeClr val="bg1"/>
              </a:solidFill>
            </a:endParaRPr>
          </a:p>
          <a:p>
            <a:pPr marL="171450" indent="-171450" algn="l">
              <a:lnSpc>
                <a:spcPct val="90000"/>
              </a:lnSpc>
              <a:buFont typeface="Arial" panose="020B0604020202020204" pitchFamily="34" charset="0"/>
              <a:buChar char="•"/>
            </a:pPr>
            <a:r>
              <a:rPr lang="en-US" dirty="0">
                <a:solidFill>
                  <a:schemeClr val="bg1"/>
                </a:solidFill>
              </a:rPr>
              <a:t>Account Blocks</a:t>
            </a:r>
          </a:p>
          <a:p>
            <a:pPr marL="171450" indent="-171450" algn="l">
              <a:lnSpc>
                <a:spcPct val="90000"/>
              </a:lnSpc>
              <a:buFont typeface="Arial" panose="020B0604020202020204" pitchFamily="34" charset="0"/>
              <a:buChar char="•"/>
            </a:pPr>
            <a:endParaRPr lang="en-US" dirty="0">
              <a:solidFill>
                <a:schemeClr val="bg1"/>
              </a:solidFill>
            </a:endParaRPr>
          </a:p>
          <a:p>
            <a:pPr marL="171450" indent="-171450" algn="l">
              <a:lnSpc>
                <a:spcPct val="90000"/>
              </a:lnSpc>
              <a:buFont typeface="Arial" panose="020B0604020202020204" pitchFamily="34" charset="0"/>
              <a:buChar char="•"/>
            </a:pPr>
            <a:r>
              <a:rPr lang="en-US" dirty="0">
                <a:solidFill>
                  <a:schemeClr val="bg1"/>
                </a:solidFill>
              </a:rPr>
              <a:t>Median Age</a:t>
            </a:r>
          </a:p>
        </p:txBody>
      </p:sp>
      <p:sp>
        <p:nvSpPr>
          <p:cNvPr id="13" name="TextBox 12">
            <a:extLst>
              <a:ext uri="{FF2B5EF4-FFF2-40B4-BE49-F238E27FC236}">
                <a16:creationId xmlns:a16="http://schemas.microsoft.com/office/drawing/2014/main" id="{5DE8C051-DBED-4B56-BA5B-C54614A1A59A}"/>
              </a:ext>
            </a:extLst>
          </p:cNvPr>
          <p:cNvSpPr txBox="1"/>
          <p:nvPr/>
        </p:nvSpPr>
        <p:spPr>
          <a:xfrm>
            <a:off x="4963383" y="2822797"/>
            <a:ext cx="2139194" cy="369332"/>
          </a:xfrm>
          <a:prstGeom prst="rect">
            <a:avLst/>
          </a:prstGeom>
          <a:noFill/>
        </p:spPr>
        <p:txBody>
          <a:bodyPr wrap="square" rtlCol="0">
            <a:spAutoFit/>
          </a:bodyPr>
          <a:lstStyle/>
          <a:p>
            <a:pPr algn="l">
              <a:lnSpc>
                <a:spcPct val="90000"/>
              </a:lnSpc>
            </a:pPr>
            <a:r>
              <a:rPr lang="en-US" sz="2000" dirty="0">
                <a:solidFill>
                  <a:schemeClr val="bg1"/>
                </a:solidFill>
              </a:rPr>
              <a:t>Logistic Regression</a:t>
            </a:r>
          </a:p>
        </p:txBody>
      </p:sp>
      <p:sp>
        <p:nvSpPr>
          <p:cNvPr id="14" name="TextBox 13">
            <a:extLst>
              <a:ext uri="{FF2B5EF4-FFF2-40B4-BE49-F238E27FC236}">
                <a16:creationId xmlns:a16="http://schemas.microsoft.com/office/drawing/2014/main" id="{6F831648-9D3D-4D41-B9E0-A60D78504ED3}"/>
              </a:ext>
            </a:extLst>
          </p:cNvPr>
          <p:cNvSpPr txBox="1"/>
          <p:nvPr/>
        </p:nvSpPr>
        <p:spPr>
          <a:xfrm>
            <a:off x="4963383" y="4232137"/>
            <a:ext cx="2139194" cy="369332"/>
          </a:xfrm>
          <a:prstGeom prst="rect">
            <a:avLst/>
          </a:prstGeom>
          <a:noFill/>
        </p:spPr>
        <p:txBody>
          <a:bodyPr wrap="square" rtlCol="0">
            <a:spAutoFit/>
          </a:bodyPr>
          <a:lstStyle/>
          <a:p>
            <a:pPr algn="l">
              <a:lnSpc>
                <a:spcPct val="90000"/>
              </a:lnSpc>
            </a:pPr>
            <a:r>
              <a:rPr lang="en-US" sz="2000" dirty="0">
                <a:solidFill>
                  <a:schemeClr val="bg1"/>
                </a:solidFill>
              </a:rPr>
              <a:t>Regression Tree</a:t>
            </a:r>
          </a:p>
        </p:txBody>
      </p:sp>
      <p:sp>
        <p:nvSpPr>
          <p:cNvPr id="15" name="TextBox 14">
            <a:extLst>
              <a:ext uri="{FF2B5EF4-FFF2-40B4-BE49-F238E27FC236}">
                <a16:creationId xmlns:a16="http://schemas.microsoft.com/office/drawing/2014/main" id="{6D4BB1B3-D183-42A5-B3FB-91D510505991}"/>
              </a:ext>
            </a:extLst>
          </p:cNvPr>
          <p:cNvSpPr txBox="1"/>
          <p:nvPr/>
        </p:nvSpPr>
        <p:spPr>
          <a:xfrm>
            <a:off x="4963383" y="5624274"/>
            <a:ext cx="2139194" cy="369332"/>
          </a:xfrm>
          <a:prstGeom prst="rect">
            <a:avLst/>
          </a:prstGeom>
          <a:noFill/>
        </p:spPr>
        <p:txBody>
          <a:bodyPr wrap="square" rtlCol="0">
            <a:spAutoFit/>
          </a:bodyPr>
          <a:lstStyle/>
          <a:p>
            <a:pPr algn="l">
              <a:lnSpc>
                <a:spcPct val="90000"/>
              </a:lnSpc>
            </a:pPr>
            <a:r>
              <a:rPr lang="en-US" sz="2000" dirty="0">
                <a:solidFill>
                  <a:schemeClr val="bg1"/>
                </a:solidFill>
              </a:rPr>
              <a:t>Random Forest</a:t>
            </a:r>
          </a:p>
        </p:txBody>
      </p:sp>
      <p:cxnSp>
        <p:nvCxnSpPr>
          <p:cNvPr id="21" name="Straight Arrow Connector 20">
            <a:extLst>
              <a:ext uri="{FF2B5EF4-FFF2-40B4-BE49-F238E27FC236}">
                <a16:creationId xmlns:a16="http://schemas.microsoft.com/office/drawing/2014/main" id="{6FD4C36A-AD86-4C36-B8A7-0101F23F6050}"/>
              </a:ext>
            </a:extLst>
          </p:cNvPr>
          <p:cNvCxnSpPr/>
          <p:nvPr/>
        </p:nvCxnSpPr>
        <p:spPr>
          <a:xfrm flipV="1">
            <a:off x="3313651" y="3045204"/>
            <a:ext cx="1434517" cy="135062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3" name="Straight Arrow Connector 22">
            <a:extLst>
              <a:ext uri="{FF2B5EF4-FFF2-40B4-BE49-F238E27FC236}">
                <a16:creationId xmlns:a16="http://schemas.microsoft.com/office/drawing/2014/main" id="{80C92300-BE27-4202-9767-540EE9B878ED}"/>
              </a:ext>
            </a:extLst>
          </p:cNvPr>
          <p:cNvCxnSpPr/>
          <p:nvPr/>
        </p:nvCxnSpPr>
        <p:spPr>
          <a:xfrm>
            <a:off x="3313651" y="4395831"/>
            <a:ext cx="1434517" cy="138418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5" name="Straight Arrow Connector 24">
            <a:extLst>
              <a:ext uri="{FF2B5EF4-FFF2-40B4-BE49-F238E27FC236}">
                <a16:creationId xmlns:a16="http://schemas.microsoft.com/office/drawing/2014/main" id="{C5ABE80D-6E1B-472D-860E-6895A4F220DA}"/>
              </a:ext>
            </a:extLst>
          </p:cNvPr>
          <p:cNvCxnSpPr/>
          <p:nvPr/>
        </p:nvCxnSpPr>
        <p:spPr>
          <a:xfrm>
            <a:off x="3313651" y="4395831"/>
            <a:ext cx="1434517"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78699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E3B114-D365-48A8-B311-DCD00AAB33BD}"/>
              </a:ext>
            </a:extLst>
          </p:cNvPr>
          <p:cNvSpPr>
            <a:spLocks noGrp="1"/>
          </p:cNvSpPr>
          <p:nvPr>
            <p:ph idx="1"/>
          </p:nvPr>
        </p:nvSpPr>
        <p:spPr/>
        <p:txBody>
          <a:bodyPr/>
          <a:lstStyle/>
          <a:p>
            <a:r>
              <a:rPr lang="en-US" sz="2000" dirty="0"/>
              <a:t>Credit Amount</a:t>
            </a:r>
          </a:p>
          <a:p>
            <a:pPr lvl="1"/>
            <a:r>
              <a:rPr lang="en-US" sz="1600" dirty="0"/>
              <a:t>Agents with a lower credit allowance likely do not transact as often and are not as familiar with MoneyGram’s processes thus more susceptible to social engineering.</a:t>
            </a:r>
          </a:p>
          <a:p>
            <a:r>
              <a:rPr lang="en-US" sz="2000" dirty="0"/>
              <a:t>Account Blocks</a:t>
            </a:r>
          </a:p>
          <a:p>
            <a:pPr lvl="1"/>
            <a:r>
              <a:rPr lang="en-US" sz="1600" dirty="0"/>
              <a:t>Agents with multiple account blocks are more likely to have a technical problem that a fraudster can use to convince the agent he/she is from Tech Support.</a:t>
            </a:r>
          </a:p>
          <a:p>
            <a:r>
              <a:rPr lang="en-US" sz="2000" dirty="0"/>
              <a:t>Median Age</a:t>
            </a:r>
          </a:p>
          <a:p>
            <a:pPr lvl="1"/>
            <a:r>
              <a:rPr lang="en-US" sz="1600" dirty="0"/>
              <a:t>Older populations are more susceptible to social engineering attacks and may be where fraudsters are more successful.</a:t>
            </a:r>
          </a:p>
          <a:p>
            <a:r>
              <a:rPr lang="en-US" sz="2000" dirty="0"/>
              <a:t>Poverty Rate</a:t>
            </a:r>
          </a:p>
          <a:p>
            <a:pPr lvl="1"/>
            <a:r>
              <a:rPr lang="en-US" sz="1600" dirty="0"/>
              <a:t>A higher poverty rate might increase the number of un-educated employees or employee turnover. In either case, employees may not be educated or trained enough to protect themselves from social engineering attacks</a:t>
            </a:r>
            <a:endParaRPr lang="en-US" dirty="0"/>
          </a:p>
        </p:txBody>
      </p:sp>
      <p:sp>
        <p:nvSpPr>
          <p:cNvPr id="3" name="Title 2">
            <a:extLst>
              <a:ext uri="{FF2B5EF4-FFF2-40B4-BE49-F238E27FC236}">
                <a16:creationId xmlns:a16="http://schemas.microsoft.com/office/drawing/2014/main" id="{F7266D61-CFA9-4E37-80DF-D6147AB6AB48}"/>
              </a:ext>
            </a:extLst>
          </p:cNvPr>
          <p:cNvSpPr>
            <a:spLocks noGrp="1"/>
          </p:cNvSpPr>
          <p:nvPr>
            <p:ph type="ctrTitle"/>
          </p:nvPr>
        </p:nvSpPr>
        <p:spPr/>
        <p:txBody>
          <a:bodyPr>
            <a:normAutofit/>
          </a:bodyPr>
          <a:lstStyle/>
          <a:p>
            <a:r>
              <a:rPr lang="en-US" dirty="0"/>
              <a:t>The Data Story</a:t>
            </a:r>
          </a:p>
        </p:txBody>
      </p:sp>
      <p:sp>
        <p:nvSpPr>
          <p:cNvPr id="4" name="Text Placeholder 3">
            <a:extLst>
              <a:ext uri="{FF2B5EF4-FFF2-40B4-BE49-F238E27FC236}">
                <a16:creationId xmlns:a16="http://schemas.microsoft.com/office/drawing/2014/main" id="{88148A29-35F5-47DB-8CBF-9DA833077E6B}"/>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063401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C185D68-653F-4528-B568-9BBD4B6B9297}"/>
              </a:ext>
            </a:extLst>
          </p:cNvPr>
          <p:cNvSpPr>
            <a:spLocks noGrp="1"/>
          </p:cNvSpPr>
          <p:nvPr>
            <p:ph type="body" sz="quarter" idx="10"/>
          </p:nvPr>
        </p:nvSpPr>
        <p:spPr/>
        <p:txBody>
          <a:bodyPr/>
          <a:lstStyle/>
          <a:p>
            <a:endParaRPr lang="en-US"/>
          </a:p>
        </p:txBody>
      </p:sp>
      <p:graphicFrame>
        <p:nvGraphicFramePr>
          <p:cNvPr id="3" name="Diagram 2">
            <a:extLst>
              <a:ext uri="{FF2B5EF4-FFF2-40B4-BE49-F238E27FC236}">
                <a16:creationId xmlns:a16="http://schemas.microsoft.com/office/drawing/2014/main" id="{E2CF9ED8-EE60-44D0-AB53-7BB69E9EB45D}"/>
              </a:ext>
            </a:extLst>
          </p:cNvPr>
          <p:cNvGraphicFramePr/>
          <p:nvPr>
            <p:extLst>
              <p:ext uri="{D42A27DB-BD31-4B8C-83A1-F6EECF244321}">
                <p14:modId xmlns:p14="http://schemas.microsoft.com/office/powerpoint/2010/main" val="4059718297"/>
              </p:ext>
            </p:extLst>
          </p:nvPr>
        </p:nvGraphicFramePr>
        <p:xfrm>
          <a:off x="0" y="1669409"/>
          <a:ext cx="9085277" cy="37834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Rounded Corners 3">
            <a:extLst>
              <a:ext uri="{FF2B5EF4-FFF2-40B4-BE49-F238E27FC236}">
                <a16:creationId xmlns:a16="http://schemas.microsoft.com/office/drawing/2014/main" id="{2A39D639-5AC7-44C6-9868-A2FB45E9E6D5}"/>
              </a:ext>
            </a:extLst>
          </p:cNvPr>
          <p:cNvSpPr/>
          <p:nvPr/>
        </p:nvSpPr>
        <p:spPr>
          <a:xfrm>
            <a:off x="2214695" y="1115310"/>
            <a:ext cx="4513276" cy="755435"/>
          </a:xfrm>
          <a:prstGeom prst="roundRect">
            <a:avLst/>
          </a:prstGeom>
          <a:gradFill>
            <a:gsLst>
              <a:gs pos="91000">
                <a:schemeClr val="accent2">
                  <a:tint val="100000"/>
                  <a:shade val="100000"/>
                  <a:satMod val="130000"/>
                  <a:alpha val="67000"/>
                </a:schemeClr>
              </a:gs>
              <a:gs pos="99000">
                <a:schemeClr val="accent2">
                  <a:tint val="50000"/>
                  <a:shade val="100000"/>
                  <a:satMod val="350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DEF5032-67DB-44A1-A486-C7254D60BB04}"/>
              </a:ext>
            </a:extLst>
          </p:cNvPr>
          <p:cNvSpPr txBox="1"/>
          <p:nvPr/>
        </p:nvSpPr>
        <p:spPr>
          <a:xfrm>
            <a:off x="2286000" y="1300077"/>
            <a:ext cx="4513276" cy="369332"/>
          </a:xfrm>
          <a:prstGeom prst="rect">
            <a:avLst/>
          </a:prstGeom>
          <a:noFill/>
        </p:spPr>
        <p:txBody>
          <a:bodyPr wrap="square" rtlCol="0">
            <a:spAutoFit/>
          </a:bodyPr>
          <a:lstStyle/>
          <a:p>
            <a:pPr algn="l">
              <a:lnSpc>
                <a:spcPct val="90000"/>
              </a:lnSpc>
            </a:pPr>
            <a:r>
              <a:rPr lang="en-US" sz="2000" dirty="0">
                <a:solidFill>
                  <a:schemeClr val="bg1"/>
                </a:solidFill>
              </a:rPr>
              <a:t>Predictive Model: Data Input and Output</a:t>
            </a:r>
          </a:p>
        </p:txBody>
      </p:sp>
    </p:spTree>
    <p:extLst>
      <p:ext uri="{BB962C8B-B14F-4D97-AF65-F5344CB8AC3E}">
        <p14:creationId xmlns:p14="http://schemas.microsoft.com/office/powerpoint/2010/main" val="2411249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ABF79BC-BE21-4DE9-9D9C-E0F9CF6AF956}"/>
              </a:ext>
            </a:extLst>
          </p:cNvPr>
          <p:cNvGraphicFramePr>
            <a:graphicFrameLocks noGrp="1"/>
          </p:cNvGraphicFramePr>
          <p:nvPr>
            <p:ph idx="1"/>
            <p:extLst>
              <p:ext uri="{D42A27DB-BD31-4B8C-83A1-F6EECF244321}">
                <p14:modId xmlns:p14="http://schemas.microsoft.com/office/powerpoint/2010/main" val="2773059833"/>
              </p:ext>
            </p:extLst>
          </p:nvPr>
        </p:nvGraphicFramePr>
        <p:xfrm>
          <a:off x="0" y="1928085"/>
          <a:ext cx="9144004" cy="4144921"/>
        </p:xfrm>
        <a:graphic>
          <a:graphicData uri="http://schemas.openxmlformats.org/drawingml/2006/table">
            <a:tbl>
              <a:tblPr firstRow="1" bandRow="1">
                <a:tableStyleId>{21E4AEA4-8DFA-4A89-87EB-49C32662AFE0}</a:tableStyleId>
              </a:tblPr>
              <a:tblGrid>
                <a:gridCol w="1612677">
                  <a:extLst>
                    <a:ext uri="{9D8B030D-6E8A-4147-A177-3AD203B41FA5}">
                      <a16:colId xmlns:a16="http://schemas.microsoft.com/office/drawing/2014/main" val="2297116609"/>
                    </a:ext>
                  </a:extLst>
                </a:gridCol>
                <a:gridCol w="1435323">
                  <a:extLst>
                    <a:ext uri="{9D8B030D-6E8A-4147-A177-3AD203B41FA5}">
                      <a16:colId xmlns:a16="http://schemas.microsoft.com/office/drawing/2014/main" val="1867808062"/>
                    </a:ext>
                  </a:extLst>
                </a:gridCol>
                <a:gridCol w="1524001">
                  <a:extLst>
                    <a:ext uri="{9D8B030D-6E8A-4147-A177-3AD203B41FA5}">
                      <a16:colId xmlns:a16="http://schemas.microsoft.com/office/drawing/2014/main" val="2782316391"/>
                    </a:ext>
                  </a:extLst>
                </a:gridCol>
                <a:gridCol w="1524001">
                  <a:extLst>
                    <a:ext uri="{9D8B030D-6E8A-4147-A177-3AD203B41FA5}">
                      <a16:colId xmlns:a16="http://schemas.microsoft.com/office/drawing/2014/main" val="484037265"/>
                    </a:ext>
                  </a:extLst>
                </a:gridCol>
                <a:gridCol w="1314614">
                  <a:extLst>
                    <a:ext uri="{9D8B030D-6E8A-4147-A177-3AD203B41FA5}">
                      <a16:colId xmlns:a16="http://schemas.microsoft.com/office/drawing/2014/main" val="3688794637"/>
                    </a:ext>
                  </a:extLst>
                </a:gridCol>
                <a:gridCol w="1733388">
                  <a:extLst>
                    <a:ext uri="{9D8B030D-6E8A-4147-A177-3AD203B41FA5}">
                      <a16:colId xmlns:a16="http://schemas.microsoft.com/office/drawing/2014/main" val="2851381760"/>
                    </a:ext>
                  </a:extLst>
                </a:gridCol>
              </a:tblGrid>
              <a:tr h="654943">
                <a:tc>
                  <a:txBody>
                    <a:bodyPr/>
                    <a:lstStyle/>
                    <a:p>
                      <a:r>
                        <a:rPr lang="en-US" dirty="0"/>
                        <a:t>Model</a:t>
                      </a:r>
                    </a:p>
                  </a:txBody>
                  <a:tcPr/>
                </a:tc>
                <a:tc>
                  <a:txBody>
                    <a:bodyPr/>
                    <a:lstStyle/>
                    <a:p>
                      <a:r>
                        <a:rPr lang="en-US" dirty="0"/>
                        <a:t>True Positives</a:t>
                      </a:r>
                    </a:p>
                  </a:txBody>
                  <a:tcPr/>
                </a:tc>
                <a:tc>
                  <a:txBody>
                    <a:bodyPr/>
                    <a:lstStyle/>
                    <a:p>
                      <a:r>
                        <a:rPr lang="en-US" dirty="0"/>
                        <a:t>True Negatives</a:t>
                      </a:r>
                    </a:p>
                  </a:txBody>
                  <a:tcPr/>
                </a:tc>
                <a:tc>
                  <a:txBody>
                    <a:bodyPr/>
                    <a:lstStyle/>
                    <a:p>
                      <a:r>
                        <a:rPr lang="en-US" dirty="0"/>
                        <a:t>False Positives</a:t>
                      </a:r>
                    </a:p>
                  </a:txBody>
                  <a:tcPr/>
                </a:tc>
                <a:tc>
                  <a:txBody>
                    <a:bodyPr/>
                    <a:lstStyle/>
                    <a:p>
                      <a:r>
                        <a:rPr lang="en-US" dirty="0"/>
                        <a:t>False Negatives</a:t>
                      </a:r>
                    </a:p>
                  </a:txBody>
                  <a:tcPr/>
                </a:tc>
                <a:tc>
                  <a:txBody>
                    <a:bodyPr/>
                    <a:lstStyle/>
                    <a:p>
                      <a:r>
                        <a:rPr lang="en-US" dirty="0"/>
                        <a:t>Metric Ranks</a:t>
                      </a:r>
                    </a:p>
                  </a:txBody>
                  <a:tcPr/>
                </a:tc>
                <a:extLst>
                  <a:ext uri="{0D108BD9-81ED-4DB2-BD59-A6C34878D82A}">
                    <a16:rowId xmlns:a16="http://schemas.microsoft.com/office/drawing/2014/main" val="4164316758"/>
                  </a:ext>
                </a:extLst>
              </a:tr>
              <a:tr h="454370">
                <a:tc>
                  <a:txBody>
                    <a:bodyPr/>
                    <a:lstStyle/>
                    <a:p>
                      <a:r>
                        <a:rPr lang="en-US" dirty="0"/>
                        <a:t>Log. Reg. 1</a:t>
                      </a:r>
                    </a:p>
                  </a:txBody>
                  <a:tcPr/>
                </a:tc>
                <a:tc>
                  <a:txBody>
                    <a:bodyPr/>
                    <a:lstStyle/>
                    <a:p>
                      <a:pPr algn="ctr"/>
                      <a:r>
                        <a:rPr lang="en-US" dirty="0"/>
                        <a:t>102</a:t>
                      </a:r>
                    </a:p>
                  </a:txBody>
                  <a:tcPr/>
                </a:tc>
                <a:tc>
                  <a:txBody>
                    <a:bodyPr/>
                    <a:lstStyle/>
                    <a:p>
                      <a:pPr algn="ctr"/>
                      <a:r>
                        <a:rPr lang="en-US" dirty="0"/>
                        <a:t>595</a:t>
                      </a:r>
                    </a:p>
                  </a:txBody>
                  <a:tcPr/>
                </a:tc>
                <a:tc>
                  <a:txBody>
                    <a:bodyPr/>
                    <a:lstStyle/>
                    <a:p>
                      <a:pPr algn="ctr"/>
                      <a:r>
                        <a:rPr lang="en-US" dirty="0"/>
                        <a:t>1338</a:t>
                      </a:r>
                    </a:p>
                  </a:txBody>
                  <a:tcPr/>
                </a:tc>
                <a:tc>
                  <a:txBody>
                    <a:bodyPr/>
                    <a:lstStyle/>
                    <a:p>
                      <a:pPr algn="ctr"/>
                      <a:r>
                        <a:rPr lang="en-US" dirty="0"/>
                        <a:t>9</a:t>
                      </a:r>
                    </a:p>
                  </a:txBody>
                  <a:tcPr/>
                </a:tc>
                <a:tc>
                  <a:txBody>
                    <a:bodyPr/>
                    <a:lstStyle/>
                    <a:p>
                      <a:pPr algn="ctr"/>
                      <a:r>
                        <a:rPr lang="en-US" dirty="0"/>
                        <a:t>Most Sensitive*</a:t>
                      </a:r>
                    </a:p>
                  </a:txBody>
                  <a:tcPr/>
                </a:tc>
                <a:extLst>
                  <a:ext uri="{0D108BD9-81ED-4DB2-BD59-A6C34878D82A}">
                    <a16:rowId xmlns:a16="http://schemas.microsoft.com/office/drawing/2014/main" val="700686220"/>
                  </a:ext>
                </a:extLst>
              </a:tr>
              <a:tr h="379451">
                <a:tc>
                  <a:txBody>
                    <a:bodyPr/>
                    <a:lstStyle/>
                    <a:p>
                      <a:r>
                        <a:rPr lang="en-US" dirty="0"/>
                        <a:t>Log. Reg. 2</a:t>
                      </a:r>
                    </a:p>
                  </a:txBody>
                  <a:tcPr/>
                </a:tc>
                <a:tc>
                  <a:txBody>
                    <a:bodyPr/>
                    <a:lstStyle/>
                    <a:p>
                      <a:pPr algn="ctr"/>
                      <a:r>
                        <a:rPr lang="en-US" dirty="0"/>
                        <a:t>87</a:t>
                      </a:r>
                    </a:p>
                  </a:txBody>
                  <a:tcPr/>
                </a:tc>
                <a:tc>
                  <a:txBody>
                    <a:bodyPr/>
                    <a:lstStyle/>
                    <a:p>
                      <a:pPr algn="ctr"/>
                      <a:r>
                        <a:rPr lang="en-US" dirty="0"/>
                        <a:t>914</a:t>
                      </a:r>
                    </a:p>
                  </a:txBody>
                  <a:tcPr/>
                </a:tc>
                <a:tc>
                  <a:txBody>
                    <a:bodyPr/>
                    <a:lstStyle/>
                    <a:p>
                      <a:pPr algn="ctr"/>
                      <a:r>
                        <a:rPr lang="en-US" dirty="0"/>
                        <a:t>1019</a:t>
                      </a:r>
                    </a:p>
                  </a:txBody>
                  <a:tcPr/>
                </a:tc>
                <a:tc>
                  <a:txBody>
                    <a:bodyPr/>
                    <a:lstStyle/>
                    <a:p>
                      <a:pPr algn="ctr"/>
                      <a:r>
                        <a:rPr lang="en-US" dirty="0"/>
                        <a:t>24</a:t>
                      </a:r>
                    </a:p>
                  </a:txBody>
                  <a:tcPr/>
                </a:tc>
                <a:tc>
                  <a:txBody>
                    <a:bodyPr/>
                    <a:lstStyle/>
                    <a:p>
                      <a:pPr algn="ctr"/>
                      <a:endParaRPr lang="en-US" dirty="0"/>
                    </a:p>
                  </a:txBody>
                  <a:tcPr/>
                </a:tc>
                <a:extLst>
                  <a:ext uri="{0D108BD9-81ED-4DB2-BD59-A6C34878D82A}">
                    <a16:rowId xmlns:a16="http://schemas.microsoft.com/office/drawing/2014/main" val="1579613270"/>
                  </a:ext>
                </a:extLst>
              </a:tr>
              <a:tr h="379451">
                <a:tc>
                  <a:txBody>
                    <a:bodyPr/>
                    <a:lstStyle/>
                    <a:p>
                      <a:r>
                        <a:rPr lang="en-US" dirty="0"/>
                        <a:t>Log. Reg. 3</a:t>
                      </a:r>
                    </a:p>
                  </a:txBody>
                  <a:tcPr/>
                </a:tc>
                <a:tc>
                  <a:txBody>
                    <a:bodyPr/>
                    <a:lstStyle/>
                    <a:p>
                      <a:pPr algn="ctr" fontAlgn="b"/>
                      <a:r>
                        <a:rPr lang="en-US" sz="1800" b="0" i="0" u="none" strike="noStrike">
                          <a:solidFill>
                            <a:srgbClr val="000000"/>
                          </a:solidFill>
                          <a:effectLst/>
                          <a:latin typeface="Calibri" panose="020F0502020204030204" pitchFamily="34" charset="0"/>
                        </a:rPr>
                        <a:t>77</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1132</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801</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34</a:t>
                      </a:r>
                    </a:p>
                  </a:txBody>
                  <a:tcPr marL="9525" marR="9525" marT="9525" marB="0" anchor="b"/>
                </a:tc>
                <a:tc>
                  <a:txBody>
                    <a:bodyPr/>
                    <a:lstStyle/>
                    <a:p>
                      <a:pPr algn="ctr" fontAlgn="b"/>
                      <a:endParaRPr lang="en-US"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97672604"/>
                  </a:ext>
                </a:extLst>
              </a:tr>
              <a:tr h="379451">
                <a:tc>
                  <a:txBody>
                    <a:bodyPr/>
                    <a:lstStyle/>
                    <a:p>
                      <a:r>
                        <a:rPr lang="en-US" dirty="0"/>
                        <a:t>Rand. Forest 1</a:t>
                      </a:r>
                    </a:p>
                  </a:txBody>
                  <a:tcPr/>
                </a:tc>
                <a:tc>
                  <a:txBody>
                    <a:bodyPr/>
                    <a:lstStyle/>
                    <a:p>
                      <a:pPr algn="ctr" fontAlgn="b"/>
                      <a:r>
                        <a:rPr lang="en-US" sz="1800" b="0" i="0" u="none" strike="noStrike">
                          <a:solidFill>
                            <a:srgbClr val="000000"/>
                          </a:solidFill>
                          <a:effectLst/>
                          <a:latin typeface="Calibri" panose="020F0502020204030204" pitchFamily="34" charset="0"/>
                        </a:rPr>
                        <a:t>101</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622</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1311</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10</a:t>
                      </a: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33840882"/>
                  </a:ext>
                </a:extLst>
              </a:tr>
              <a:tr h="379451">
                <a:tc>
                  <a:txBody>
                    <a:bodyPr/>
                    <a:lstStyle/>
                    <a:p>
                      <a:r>
                        <a:rPr lang="en-US" dirty="0"/>
                        <a:t>Rand. Forest 2</a:t>
                      </a:r>
                    </a:p>
                  </a:txBody>
                  <a:tcPr/>
                </a:tc>
                <a:tc>
                  <a:txBody>
                    <a:bodyPr/>
                    <a:lstStyle/>
                    <a:p>
                      <a:pPr algn="ctr" fontAlgn="b"/>
                      <a:r>
                        <a:rPr lang="en-US" sz="1800" b="0" i="0" u="none" strike="noStrike">
                          <a:solidFill>
                            <a:srgbClr val="000000"/>
                          </a:solidFill>
                          <a:effectLst/>
                          <a:latin typeface="Calibri" panose="020F0502020204030204" pitchFamily="34" charset="0"/>
                        </a:rPr>
                        <a:t>82</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1040</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893</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29</a:t>
                      </a:r>
                    </a:p>
                  </a:txBody>
                  <a:tcPr marL="9525" marR="9525" marT="9525" marB="0" anchor="b"/>
                </a:tc>
                <a:tc>
                  <a:txBody>
                    <a:bodyPr/>
                    <a:lstStyle/>
                    <a:p>
                      <a:pPr algn="ctr" fontAlgn="b"/>
                      <a:endParaRPr lang="en-US"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40654179"/>
                  </a:ext>
                </a:extLst>
              </a:tr>
              <a:tr h="379451">
                <a:tc>
                  <a:txBody>
                    <a:bodyPr/>
                    <a:lstStyle/>
                    <a:p>
                      <a:r>
                        <a:rPr lang="en-US" dirty="0"/>
                        <a:t>Rand. Forest 3</a:t>
                      </a:r>
                    </a:p>
                  </a:txBody>
                  <a:tcPr/>
                </a:tc>
                <a:tc>
                  <a:txBody>
                    <a:bodyPr/>
                    <a:lstStyle/>
                    <a:p>
                      <a:pPr algn="ctr" fontAlgn="b"/>
                      <a:r>
                        <a:rPr lang="en-US" sz="1800" b="0" i="0" u="none" strike="noStrike">
                          <a:solidFill>
                            <a:srgbClr val="000000"/>
                          </a:solidFill>
                          <a:effectLst/>
                          <a:latin typeface="Calibri" panose="020F0502020204030204" pitchFamily="34" charset="0"/>
                        </a:rPr>
                        <a:t>77</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1151</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782</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34</a:t>
                      </a:r>
                    </a:p>
                  </a:txBody>
                  <a:tcPr marL="9525" marR="9525" marT="9525" marB="0" anchor="b"/>
                </a:tc>
                <a:tc>
                  <a:txBody>
                    <a:bodyPr/>
                    <a:lstStyle/>
                    <a:p>
                      <a:pPr algn="ctr" fontAlgn="b"/>
                      <a:r>
                        <a:rPr lang="en-US" sz="1800" b="0" i="0" u="none" strike="noStrike" dirty="0">
                          <a:solidFill>
                            <a:srgbClr val="000000"/>
                          </a:solidFill>
                          <a:effectLst/>
                          <a:latin typeface="Calibri" panose="020F0502020204030204" pitchFamily="34" charset="0"/>
                        </a:rPr>
                        <a:t>Most Accurate</a:t>
                      </a:r>
                    </a:p>
                  </a:txBody>
                  <a:tcPr marL="9525" marR="9525" marT="9525" marB="0" anchor="b"/>
                </a:tc>
                <a:extLst>
                  <a:ext uri="{0D108BD9-81ED-4DB2-BD59-A6C34878D82A}">
                    <a16:rowId xmlns:a16="http://schemas.microsoft.com/office/drawing/2014/main" val="2274943469"/>
                  </a:ext>
                </a:extLst>
              </a:tr>
              <a:tr h="379451">
                <a:tc>
                  <a:txBody>
                    <a:bodyPr/>
                    <a:lstStyle/>
                    <a:p>
                      <a:r>
                        <a:rPr lang="en-US" dirty="0"/>
                        <a:t>Reg. Tree 1</a:t>
                      </a:r>
                    </a:p>
                  </a:txBody>
                  <a:tcPr/>
                </a:tc>
                <a:tc>
                  <a:txBody>
                    <a:bodyPr/>
                    <a:lstStyle/>
                    <a:p>
                      <a:pPr algn="ctr" fontAlgn="b"/>
                      <a:r>
                        <a:rPr lang="en-US" sz="1800" b="0" i="0" u="none" strike="noStrike" dirty="0">
                          <a:solidFill>
                            <a:srgbClr val="000000"/>
                          </a:solidFill>
                          <a:effectLst/>
                          <a:latin typeface="Calibri" panose="020F0502020204030204" pitchFamily="34" charset="0"/>
                        </a:rPr>
                        <a:t>102</a:t>
                      </a:r>
                    </a:p>
                  </a:txBody>
                  <a:tcPr marL="9525" marR="9525" marT="9525" marB="0" anchor="b"/>
                </a:tc>
                <a:tc>
                  <a:txBody>
                    <a:bodyPr/>
                    <a:lstStyle/>
                    <a:p>
                      <a:pPr algn="ctr" fontAlgn="b"/>
                      <a:r>
                        <a:rPr lang="en-US" sz="1800" b="0" i="0" u="none" strike="noStrike" dirty="0">
                          <a:solidFill>
                            <a:srgbClr val="000000"/>
                          </a:solidFill>
                          <a:effectLst/>
                          <a:latin typeface="Calibri" panose="020F0502020204030204" pitchFamily="34" charset="0"/>
                        </a:rPr>
                        <a:t>604</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1329</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9</a:t>
                      </a:r>
                    </a:p>
                  </a:txBody>
                  <a:tcPr marL="9525" marR="9525" marT="9525" marB="0" anchor="b"/>
                </a:tc>
                <a:tc>
                  <a:txBody>
                    <a:bodyPr/>
                    <a:lstStyle/>
                    <a:p>
                      <a:pPr algn="ctr" fontAlgn="b"/>
                      <a:r>
                        <a:rPr lang="en-US" sz="1800" b="0" i="0" u="none" strike="noStrike" dirty="0">
                          <a:solidFill>
                            <a:srgbClr val="000000"/>
                          </a:solidFill>
                          <a:effectLst/>
                          <a:latin typeface="Calibri" panose="020F0502020204030204" pitchFamily="34" charset="0"/>
                        </a:rPr>
                        <a:t>Most Sensitive*</a:t>
                      </a:r>
                    </a:p>
                  </a:txBody>
                  <a:tcPr marL="9525" marR="9525" marT="9525" marB="0" anchor="b"/>
                </a:tc>
                <a:extLst>
                  <a:ext uri="{0D108BD9-81ED-4DB2-BD59-A6C34878D82A}">
                    <a16:rowId xmlns:a16="http://schemas.microsoft.com/office/drawing/2014/main" val="2654960771"/>
                  </a:ext>
                </a:extLst>
              </a:tr>
              <a:tr h="37945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Reg. Tree 2</a:t>
                      </a:r>
                    </a:p>
                  </a:txBody>
                  <a:tcPr/>
                </a:tc>
                <a:tc>
                  <a:txBody>
                    <a:bodyPr/>
                    <a:lstStyle/>
                    <a:p>
                      <a:pPr algn="ctr" fontAlgn="b"/>
                      <a:r>
                        <a:rPr lang="en-US" sz="1800" b="0" i="0" u="none" strike="noStrike">
                          <a:solidFill>
                            <a:srgbClr val="000000"/>
                          </a:solidFill>
                          <a:effectLst/>
                          <a:latin typeface="Calibri" panose="020F0502020204030204" pitchFamily="34" charset="0"/>
                        </a:rPr>
                        <a:t>79</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1082</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851</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32</a:t>
                      </a: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05326845"/>
                  </a:ext>
                </a:extLst>
              </a:tr>
              <a:tr h="37945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Reg. Tree 3</a:t>
                      </a:r>
                    </a:p>
                  </a:txBody>
                  <a:tcPr/>
                </a:tc>
                <a:tc>
                  <a:txBody>
                    <a:bodyPr/>
                    <a:lstStyle/>
                    <a:p>
                      <a:pPr algn="ctr" fontAlgn="b"/>
                      <a:r>
                        <a:rPr lang="en-US" sz="1800" b="0" i="0" u="none" strike="noStrike">
                          <a:solidFill>
                            <a:srgbClr val="000000"/>
                          </a:solidFill>
                          <a:effectLst/>
                          <a:latin typeface="Calibri" panose="020F0502020204030204" pitchFamily="34" charset="0"/>
                        </a:rPr>
                        <a:t>69</a:t>
                      </a:r>
                    </a:p>
                  </a:txBody>
                  <a:tcPr marL="9525" marR="9525" marT="9525" marB="0" anchor="b"/>
                </a:tc>
                <a:tc>
                  <a:txBody>
                    <a:bodyPr/>
                    <a:lstStyle/>
                    <a:p>
                      <a:pPr algn="ctr" fontAlgn="b"/>
                      <a:r>
                        <a:rPr lang="en-US" sz="1800" b="0" i="0" u="none" strike="noStrike" dirty="0">
                          <a:solidFill>
                            <a:srgbClr val="000000"/>
                          </a:solidFill>
                          <a:effectLst/>
                          <a:latin typeface="Calibri" panose="020F0502020204030204" pitchFamily="34" charset="0"/>
                        </a:rPr>
                        <a:t>1227</a:t>
                      </a:r>
                    </a:p>
                  </a:txBody>
                  <a:tcPr marL="9525" marR="9525" marT="9525" marB="0" anchor="b"/>
                </a:tc>
                <a:tc>
                  <a:txBody>
                    <a:bodyPr/>
                    <a:lstStyle/>
                    <a:p>
                      <a:pPr algn="ctr" fontAlgn="b"/>
                      <a:r>
                        <a:rPr lang="en-US" sz="1800" b="0" i="0" u="none" strike="noStrike">
                          <a:solidFill>
                            <a:srgbClr val="000000"/>
                          </a:solidFill>
                          <a:effectLst/>
                          <a:latin typeface="Calibri" panose="020F0502020204030204" pitchFamily="34" charset="0"/>
                        </a:rPr>
                        <a:t>706</a:t>
                      </a:r>
                    </a:p>
                  </a:txBody>
                  <a:tcPr marL="9525" marR="9525" marT="9525" marB="0" anchor="b"/>
                </a:tc>
                <a:tc>
                  <a:txBody>
                    <a:bodyPr/>
                    <a:lstStyle/>
                    <a:p>
                      <a:pPr algn="ctr" fontAlgn="b"/>
                      <a:r>
                        <a:rPr lang="en-US" sz="1800" b="0" i="0" u="none" strike="noStrike" dirty="0">
                          <a:solidFill>
                            <a:srgbClr val="000000"/>
                          </a:solidFill>
                          <a:effectLst/>
                          <a:latin typeface="Calibri" panose="020F0502020204030204" pitchFamily="34" charset="0"/>
                        </a:rPr>
                        <a:t>42</a:t>
                      </a:r>
                    </a:p>
                  </a:txBody>
                  <a:tcPr marL="9525" marR="9525" marT="9525" marB="0" anchor="b"/>
                </a:tc>
                <a:tc>
                  <a:txBody>
                    <a:bodyPr/>
                    <a:lstStyle/>
                    <a:p>
                      <a:pPr algn="ctr" fontAlgn="b"/>
                      <a:r>
                        <a:rPr lang="en-US" sz="1800" b="0" i="0" u="none" strike="noStrike" dirty="0">
                          <a:solidFill>
                            <a:srgbClr val="000000"/>
                          </a:solidFill>
                          <a:effectLst/>
                          <a:latin typeface="Calibri" panose="020F0502020204030204" pitchFamily="34" charset="0"/>
                        </a:rPr>
                        <a:t>Most Specific</a:t>
                      </a:r>
                    </a:p>
                  </a:txBody>
                  <a:tcPr marL="9525" marR="9525" marT="9525" marB="0" anchor="b"/>
                </a:tc>
                <a:extLst>
                  <a:ext uri="{0D108BD9-81ED-4DB2-BD59-A6C34878D82A}">
                    <a16:rowId xmlns:a16="http://schemas.microsoft.com/office/drawing/2014/main" val="3495819515"/>
                  </a:ext>
                </a:extLst>
              </a:tr>
            </a:tbl>
          </a:graphicData>
        </a:graphic>
      </p:graphicFrame>
      <p:sp>
        <p:nvSpPr>
          <p:cNvPr id="3" name="Title 2">
            <a:extLst>
              <a:ext uri="{FF2B5EF4-FFF2-40B4-BE49-F238E27FC236}">
                <a16:creationId xmlns:a16="http://schemas.microsoft.com/office/drawing/2014/main" id="{5BD3A521-EE76-403B-9D65-4B925C57E4F0}"/>
              </a:ext>
            </a:extLst>
          </p:cNvPr>
          <p:cNvSpPr>
            <a:spLocks noGrp="1"/>
          </p:cNvSpPr>
          <p:nvPr>
            <p:ph type="ctrTitle"/>
          </p:nvPr>
        </p:nvSpPr>
        <p:spPr/>
        <p:txBody>
          <a:bodyPr/>
          <a:lstStyle/>
          <a:p>
            <a:r>
              <a:rPr lang="en-US" dirty="0"/>
              <a:t>Model Results using Testing Data Set</a:t>
            </a:r>
          </a:p>
        </p:txBody>
      </p:sp>
      <p:sp>
        <p:nvSpPr>
          <p:cNvPr id="4" name="Text Placeholder 3">
            <a:extLst>
              <a:ext uri="{FF2B5EF4-FFF2-40B4-BE49-F238E27FC236}">
                <a16:creationId xmlns:a16="http://schemas.microsoft.com/office/drawing/2014/main" id="{BE0D713D-D102-44B1-B94B-6CDF8626DBC0}"/>
              </a:ext>
            </a:extLst>
          </p:cNvPr>
          <p:cNvSpPr>
            <a:spLocks noGrp="1"/>
          </p:cNvSpPr>
          <p:nvPr>
            <p:ph type="body" sz="quarter" idx="10"/>
          </p:nvPr>
        </p:nvSpPr>
        <p:spPr/>
        <p:txBody>
          <a:bodyPr/>
          <a:lstStyle/>
          <a:p>
            <a:endParaRPr lang="en-US"/>
          </a:p>
        </p:txBody>
      </p:sp>
      <p:sp>
        <p:nvSpPr>
          <p:cNvPr id="2" name="TextBox 1">
            <a:extLst>
              <a:ext uri="{FF2B5EF4-FFF2-40B4-BE49-F238E27FC236}">
                <a16:creationId xmlns:a16="http://schemas.microsoft.com/office/drawing/2014/main" id="{A6B3B3DD-7D14-408A-BD2D-B9C7F8B2CC1D}"/>
              </a:ext>
            </a:extLst>
          </p:cNvPr>
          <p:cNvSpPr txBox="1"/>
          <p:nvPr/>
        </p:nvSpPr>
        <p:spPr>
          <a:xfrm>
            <a:off x="4471331" y="6451234"/>
            <a:ext cx="6308522" cy="313932"/>
          </a:xfrm>
          <a:prstGeom prst="rect">
            <a:avLst/>
          </a:prstGeom>
          <a:noFill/>
        </p:spPr>
        <p:txBody>
          <a:bodyPr wrap="square" rtlCol="0">
            <a:spAutoFit/>
          </a:bodyPr>
          <a:lstStyle/>
          <a:p>
            <a:pPr algn="l">
              <a:lnSpc>
                <a:spcPct val="90000"/>
              </a:lnSpc>
            </a:pPr>
            <a:r>
              <a:rPr lang="en-US" sz="1600" dirty="0"/>
              <a:t>* Tie for most sensitive model at 0.919</a:t>
            </a:r>
          </a:p>
        </p:txBody>
      </p:sp>
    </p:spTree>
    <p:extLst>
      <p:ext uri="{BB962C8B-B14F-4D97-AF65-F5344CB8AC3E}">
        <p14:creationId xmlns:p14="http://schemas.microsoft.com/office/powerpoint/2010/main" val="1127075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AB8E26-D650-4841-9881-FB99867658FD}"/>
              </a:ext>
            </a:extLst>
          </p:cNvPr>
          <p:cNvSpPr>
            <a:spLocks noGrp="1"/>
          </p:cNvSpPr>
          <p:nvPr>
            <p:ph idx="1"/>
          </p:nvPr>
        </p:nvSpPr>
        <p:spPr/>
        <p:txBody>
          <a:bodyPr/>
          <a:lstStyle/>
          <a:p>
            <a:r>
              <a:rPr lang="en-US" b="1" dirty="0"/>
              <a:t>Sensitive models </a:t>
            </a:r>
            <a:r>
              <a:rPr lang="en-US" dirty="0"/>
              <a:t>are great at detecting fraud but come with more false positives (more training cost)</a:t>
            </a:r>
          </a:p>
          <a:p>
            <a:endParaRPr lang="en-US" dirty="0"/>
          </a:p>
          <a:p>
            <a:r>
              <a:rPr lang="en-US" b="1" dirty="0"/>
              <a:t>Specific Models </a:t>
            </a:r>
            <a:r>
              <a:rPr lang="en-US" dirty="0"/>
              <a:t>are great at reducing overall training costs but will be less likely to catch the fraud (higher fraud cost)</a:t>
            </a:r>
          </a:p>
          <a:p>
            <a:endParaRPr lang="en-US" dirty="0"/>
          </a:p>
          <a:p>
            <a:r>
              <a:rPr lang="en-US" dirty="0"/>
              <a:t>An </a:t>
            </a:r>
            <a:r>
              <a:rPr lang="en-US" b="1" dirty="0"/>
              <a:t>accurate model </a:t>
            </a:r>
            <a:r>
              <a:rPr lang="en-US" dirty="0"/>
              <a:t>may be misleading due to the low number of fraud cases in the sample. i.e. You can miss all the fraud and still be very accurate</a:t>
            </a:r>
          </a:p>
        </p:txBody>
      </p:sp>
      <p:sp>
        <p:nvSpPr>
          <p:cNvPr id="3" name="Title 2">
            <a:extLst>
              <a:ext uri="{FF2B5EF4-FFF2-40B4-BE49-F238E27FC236}">
                <a16:creationId xmlns:a16="http://schemas.microsoft.com/office/drawing/2014/main" id="{C778E7D1-8D6F-45F6-B4C9-A1396C479E47}"/>
              </a:ext>
            </a:extLst>
          </p:cNvPr>
          <p:cNvSpPr>
            <a:spLocks noGrp="1"/>
          </p:cNvSpPr>
          <p:nvPr>
            <p:ph type="ctrTitle"/>
          </p:nvPr>
        </p:nvSpPr>
        <p:spPr/>
        <p:txBody>
          <a:bodyPr/>
          <a:lstStyle/>
          <a:p>
            <a:r>
              <a:rPr lang="en-US" dirty="0"/>
              <a:t>Choosing the Right Model</a:t>
            </a:r>
          </a:p>
        </p:txBody>
      </p:sp>
      <p:sp>
        <p:nvSpPr>
          <p:cNvPr id="4" name="Text Placeholder 3">
            <a:extLst>
              <a:ext uri="{FF2B5EF4-FFF2-40B4-BE49-F238E27FC236}">
                <a16:creationId xmlns:a16="http://schemas.microsoft.com/office/drawing/2014/main" id="{6362692E-7D6B-412D-A7B5-A9BFF51E3E6D}"/>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47105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D8CE1A-2633-4A97-99BC-6C976B7303A6}"/>
              </a:ext>
            </a:extLst>
          </p:cNvPr>
          <p:cNvSpPr>
            <a:spLocks noGrp="1"/>
          </p:cNvSpPr>
          <p:nvPr>
            <p:ph idx="1"/>
          </p:nvPr>
        </p:nvSpPr>
        <p:spPr>
          <a:xfrm>
            <a:off x="457200" y="2110156"/>
            <a:ext cx="8229600" cy="1955368"/>
          </a:xfrm>
        </p:spPr>
        <p:txBody>
          <a:bodyPr/>
          <a:lstStyle/>
          <a:p>
            <a:r>
              <a:rPr lang="en-US" dirty="0"/>
              <a:t>We will assess the financial impact of each model using  an example situation</a:t>
            </a:r>
          </a:p>
          <a:p>
            <a:pPr lvl="1"/>
            <a:r>
              <a:rPr lang="en-US" dirty="0"/>
              <a:t>Number of Agents in Scope: 2044 (from testing data set)</a:t>
            </a:r>
          </a:p>
          <a:p>
            <a:pPr lvl="1"/>
            <a:r>
              <a:rPr lang="en-US" dirty="0"/>
              <a:t>Fraud Loss per Case: $3,000</a:t>
            </a:r>
          </a:p>
          <a:p>
            <a:pPr lvl="1"/>
            <a:r>
              <a:rPr lang="en-US" dirty="0"/>
              <a:t>Training Cost per Agent: $200</a:t>
            </a:r>
          </a:p>
          <a:p>
            <a:pPr lvl="1"/>
            <a:endParaRPr lang="en-US" dirty="0"/>
          </a:p>
          <a:p>
            <a:pPr marL="457200" lvl="1" indent="0">
              <a:buNone/>
            </a:pPr>
            <a:endParaRPr lang="en-US" dirty="0"/>
          </a:p>
          <a:p>
            <a:pPr marL="457200" lvl="1" indent="0">
              <a:buNone/>
            </a:pPr>
            <a:endParaRPr lang="en-US" dirty="0"/>
          </a:p>
          <a:p>
            <a:pPr marL="457200" lvl="1" indent="0">
              <a:buNone/>
            </a:pPr>
            <a:endParaRPr lang="en-US" dirty="0"/>
          </a:p>
        </p:txBody>
      </p:sp>
      <p:sp>
        <p:nvSpPr>
          <p:cNvPr id="3" name="Title 2">
            <a:extLst>
              <a:ext uri="{FF2B5EF4-FFF2-40B4-BE49-F238E27FC236}">
                <a16:creationId xmlns:a16="http://schemas.microsoft.com/office/drawing/2014/main" id="{1B62FCD5-14CD-4A99-A60E-CE9358B2C0D2}"/>
              </a:ext>
            </a:extLst>
          </p:cNvPr>
          <p:cNvSpPr>
            <a:spLocks noGrp="1"/>
          </p:cNvSpPr>
          <p:nvPr>
            <p:ph type="ctrTitle"/>
          </p:nvPr>
        </p:nvSpPr>
        <p:spPr/>
        <p:txBody>
          <a:bodyPr/>
          <a:lstStyle/>
          <a:p>
            <a:r>
              <a:rPr lang="en-US" dirty="0"/>
              <a:t>Financial Impact of Model</a:t>
            </a:r>
          </a:p>
        </p:txBody>
      </p:sp>
      <p:sp>
        <p:nvSpPr>
          <p:cNvPr id="4" name="Text Placeholder 3">
            <a:extLst>
              <a:ext uri="{FF2B5EF4-FFF2-40B4-BE49-F238E27FC236}">
                <a16:creationId xmlns:a16="http://schemas.microsoft.com/office/drawing/2014/main" id="{99493B83-7F85-476E-81A2-A1A551E606CE}"/>
              </a:ext>
            </a:extLst>
          </p:cNvPr>
          <p:cNvSpPr>
            <a:spLocks noGrp="1"/>
          </p:cNvSpPr>
          <p:nvPr>
            <p:ph type="body" sz="quarter" idx="10"/>
          </p:nvPr>
        </p:nvSpPr>
        <p:spPr/>
        <p:txBody>
          <a:bodyPr/>
          <a:lstStyle/>
          <a:p>
            <a:endParaRPr lang="en-US"/>
          </a:p>
        </p:txBody>
      </p:sp>
      <p:pic>
        <p:nvPicPr>
          <p:cNvPr id="8" name="Graphic 7" descr="Money">
            <a:extLst>
              <a:ext uri="{FF2B5EF4-FFF2-40B4-BE49-F238E27FC236}">
                <a16:creationId xmlns:a16="http://schemas.microsoft.com/office/drawing/2014/main" id="{E2664A8B-3B90-4B9B-9B65-DFF20F2D2C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92799" y="4978784"/>
            <a:ext cx="1428225" cy="1428225"/>
          </a:xfrm>
          <a:prstGeom prst="rect">
            <a:avLst/>
          </a:prstGeom>
        </p:spPr>
      </p:pic>
    </p:spTree>
    <p:extLst>
      <p:ext uri="{BB962C8B-B14F-4D97-AF65-F5344CB8AC3E}">
        <p14:creationId xmlns:p14="http://schemas.microsoft.com/office/powerpoint/2010/main" val="980094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BF1884-1A49-4020-B89C-A36E8E5AA513}"/>
              </a:ext>
            </a:extLst>
          </p:cNvPr>
          <p:cNvSpPr>
            <a:spLocks noGrp="1"/>
          </p:cNvSpPr>
          <p:nvPr>
            <p:ph type="ctrTitle"/>
          </p:nvPr>
        </p:nvSpPr>
        <p:spPr/>
        <p:txBody>
          <a:bodyPr/>
          <a:lstStyle/>
          <a:p>
            <a:r>
              <a:rPr lang="en-US" dirty="0"/>
              <a:t>Financial Impact of Model (cont.)</a:t>
            </a:r>
          </a:p>
        </p:txBody>
      </p:sp>
      <p:sp>
        <p:nvSpPr>
          <p:cNvPr id="4" name="Text Placeholder 3">
            <a:extLst>
              <a:ext uri="{FF2B5EF4-FFF2-40B4-BE49-F238E27FC236}">
                <a16:creationId xmlns:a16="http://schemas.microsoft.com/office/drawing/2014/main" id="{1A64007D-C7D8-4F60-AC60-9FA16B398ECD}"/>
              </a:ext>
            </a:extLst>
          </p:cNvPr>
          <p:cNvSpPr>
            <a:spLocks noGrp="1"/>
          </p:cNvSpPr>
          <p:nvPr>
            <p:ph type="body" sz="quarter" idx="10"/>
          </p:nvPr>
        </p:nvSpPr>
        <p:spPr/>
        <p:txBody>
          <a:bodyPr/>
          <a:lstStyle/>
          <a:p>
            <a:endParaRPr lang="en-US"/>
          </a:p>
        </p:txBody>
      </p:sp>
      <p:sp>
        <p:nvSpPr>
          <p:cNvPr id="6" name="Rectangle: Rounded Corners 5">
            <a:extLst>
              <a:ext uri="{FF2B5EF4-FFF2-40B4-BE49-F238E27FC236}">
                <a16:creationId xmlns:a16="http://schemas.microsoft.com/office/drawing/2014/main" id="{2D317508-09D4-4EAF-B06F-68706602A0CF}"/>
              </a:ext>
            </a:extLst>
          </p:cNvPr>
          <p:cNvSpPr/>
          <p:nvPr/>
        </p:nvSpPr>
        <p:spPr>
          <a:xfrm>
            <a:off x="4850296" y="1828290"/>
            <a:ext cx="3969027" cy="2107606"/>
          </a:xfrm>
          <a:prstGeom prst="roundRect">
            <a:avLst/>
          </a:prstGeom>
          <a:gradFill>
            <a:gsLst>
              <a:gs pos="0">
                <a:schemeClr val="accent2">
                  <a:tint val="100000"/>
                  <a:shade val="100000"/>
                  <a:satMod val="130000"/>
                  <a:alpha val="56000"/>
                </a:schemeClr>
              </a:gs>
              <a:gs pos="100000">
                <a:schemeClr val="accent2">
                  <a:tint val="50000"/>
                  <a:shade val="100000"/>
                  <a:satMod val="350000"/>
                </a:schemeClr>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5193B6D3-4569-4C6A-A058-C55608F96BAE}"/>
              </a:ext>
            </a:extLst>
          </p:cNvPr>
          <p:cNvSpPr/>
          <p:nvPr/>
        </p:nvSpPr>
        <p:spPr>
          <a:xfrm>
            <a:off x="4850296" y="4090541"/>
            <a:ext cx="3969027" cy="2182738"/>
          </a:xfrm>
          <a:prstGeom prst="roundRect">
            <a:avLst/>
          </a:prstGeom>
          <a:gradFill>
            <a:gsLst>
              <a:gs pos="0">
                <a:schemeClr val="accent2">
                  <a:tint val="100000"/>
                  <a:shade val="100000"/>
                  <a:satMod val="130000"/>
                  <a:alpha val="56000"/>
                </a:schemeClr>
              </a:gs>
              <a:gs pos="100000">
                <a:schemeClr val="accent2">
                  <a:tint val="50000"/>
                  <a:shade val="100000"/>
                  <a:satMod val="350000"/>
                </a:schemeClr>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92E14E55-F3E8-4348-B500-DD48774742B2}"/>
              </a:ext>
            </a:extLst>
          </p:cNvPr>
          <p:cNvSpPr/>
          <p:nvPr/>
        </p:nvSpPr>
        <p:spPr>
          <a:xfrm>
            <a:off x="487680" y="4128107"/>
            <a:ext cx="3969027" cy="2107606"/>
          </a:xfrm>
          <a:prstGeom prst="roundRect">
            <a:avLst/>
          </a:prstGeom>
          <a:solidFill>
            <a:schemeClr val="bg1">
              <a:lumMod val="95000"/>
            </a:schemeClr>
          </a:solidFill>
          <a:ln w="12700">
            <a:solidFill>
              <a:schemeClr val="accent2"/>
            </a:solidFill>
          </a:ln>
        </p:spPr>
        <p:style>
          <a:lnRef idx="1">
            <a:schemeClr val="accent2"/>
          </a:lnRef>
          <a:fillRef idx="3">
            <a:schemeClr val="accent2"/>
          </a:fillRef>
          <a:effectRef idx="2">
            <a:schemeClr val="accent2"/>
          </a:effectRef>
          <a:fontRef idx="minor">
            <a:schemeClr val="lt1"/>
          </a:fontRef>
        </p:style>
        <p:txBody>
          <a:bodyPr rtlCol="0" anchor="ctr"/>
          <a:lstStyle/>
          <a:p>
            <a:r>
              <a:rPr lang="en-US" b="1" u="sng" dirty="0">
                <a:solidFill>
                  <a:schemeClr val="tx1"/>
                </a:solidFill>
              </a:rPr>
              <a:t>Case 3: Train Random Agents</a:t>
            </a:r>
          </a:p>
          <a:p>
            <a:pPr marL="285750" indent="-285750">
              <a:buFont typeface="Arial" panose="020B0604020202020204" pitchFamily="34" charset="0"/>
              <a:buChar char="•"/>
            </a:pPr>
            <a:r>
              <a:rPr lang="en-US" dirty="0">
                <a:solidFill>
                  <a:schemeClr val="tx1"/>
                </a:solidFill>
              </a:rPr>
              <a:t>Train half of agents: 1022</a:t>
            </a:r>
          </a:p>
          <a:p>
            <a:pPr marL="285750" indent="-285750">
              <a:buFont typeface="Arial" panose="020B0604020202020204" pitchFamily="34" charset="0"/>
              <a:buChar char="•"/>
            </a:pPr>
            <a:r>
              <a:rPr lang="en-US" dirty="0">
                <a:solidFill>
                  <a:schemeClr val="tx1"/>
                </a:solidFill>
              </a:rPr>
              <a:t>55 fraud cases missed</a:t>
            </a:r>
          </a:p>
          <a:p>
            <a:pPr marL="285750" indent="-285750">
              <a:buFont typeface="Arial" panose="020B0604020202020204" pitchFamily="34" charset="0"/>
              <a:buChar char="•"/>
            </a:pPr>
            <a:r>
              <a:rPr lang="en-US" dirty="0">
                <a:solidFill>
                  <a:schemeClr val="tx1"/>
                </a:solidFill>
              </a:rPr>
              <a:t>Total Cost = $3000 * 55 + $200 *1022 = </a:t>
            </a:r>
            <a:r>
              <a:rPr lang="en-US" b="1" dirty="0">
                <a:solidFill>
                  <a:schemeClr val="tx1"/>
                </a:solidFill>
              </a:rPr>
              <a:t>$369,400</a:t>
            </a:r>
          </a:p>
        </p:txBody>
      </p:sp>
      <p:sp>
        <p:nvSpPr>
          <p:cNvPr id="10" name="Rectangle: Rounded Corners 9">
            <a:extLst>
              <a:ext uri="{FF2B5EF4-FFF2-40B4-BE49-F238E27FC236}">
                <a16:creationId xmlns:a16="http://schemas.microsoft.com/office/drawing/2014/main" id="{29402C06-B828-440B-A11D-09F1A33CA68E}"/>
              </a:ext>
            </a:extLst>
          </p:cNvPr>
          <p:cNvSpPr/>
          <p:nvPr/>
        </p:nvSpPr>
        <p:spPr>
          <a:xfrm>
            <a:off x="487681" y="1828290"/>
            <a:ext cx="3969027" cy="2107606"/>
          </a:xfrm>
          <a:prstGeom prst="roundRect">
            <a:avLst/>
          </a:prstGeom>
          <a:gradFill>
            <a:gsLst>
              <a:gs pos="0">
                <a:schemeClr val="accent2">
                  <a:tint val="100000"/>
                  <a:shade val="100000"/>
                  <a:satMod val="130000"/>
                  <a:alpha val="56000"/>
                </a:schemeClr>
              </a:gs>
              <a:gs pos="100000">
                <a:schemeClr val="accent2">
                  <a:tint val="50000"/>
                  <a:shade val="100000"/>
                  <a:satMod val="350000"/>
                </a:schemeClr>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11" name="Rectangle: Rounded Corners 10">
            <a:extLst>
              <a:ext uri="{FF2B5EF4-FFF2-40B4-BE49-F238E27FC236}">
                <a16:creationId xmlns:a16="http://schemas.microsoft.com/office/drawing/2014/main" id="{F2237505-C5D8-45F5-A386-7DCCC193C19A}"/>
              </a:ext>
            </a:extLst>
          </p:cNvPr>
          <p:cNvSpPr/>
          <p:nvPr/>
        </p:nvSpPr>
        <p:spPr>
          <a:xfrm>
            <a:off x="4850295" y="1828290"/>
            <a:ext cx="3969027" cy="2107606"/>
          </a:xfrm>
          <a:prstGeom prst="roundRect">
            <a:avLst/>
          </a:prstGeom>
          <a:solidFill>
            <a:schemeClr val="bg1">
              <a:lumMod val="95000"/>
            </a:schemeClr>
          </a:solidFill>
          <a:ln w="12700">
            <a:solidFill>
              <a:schemeClr val="accent2"/>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518B87FC-FA7D-403D-B350-0CB0C2CEEA67}"/>
              </a:ext>
            </a:extLst>
          </p:cNvPr>
          <p:cNvSpPr/>
          <p:nvPr/>
        </p:nvSpPr>
        <p:spPr>
          <a:xfrm>
            <a:off x="4850295" y="4090541"/>
            <a:ext cx="4079020" cy="2182738"/>
          </a:xfrm>
          <a:prstGeom prst="roundRect">
            <a:avLst/>
          </a:prstGeom>
          <a:solidFill>
            <a:schemeClr val="bg1">
              <a:lumMod val="95000"/>
            </a:schemeClr>
          </a:solidFill>
          <a:ln w="12700">
            <a:solidFill>
              <a:schemeClr val="accent2"/>
            </a:solidFill>
          </a:ln>
        </p:spPr>
        <p:style>
          <a:lnRef idx="1">
            <a:schemeClr val="accent2"/>
          </a:lnRef>
          <a:fillRef idx="3">
            <a:schemeClr val="accent2"/>
          </a:fillRef>
          <a:effectRef idx="2">
            <a:schemeClr val="accent2"/>
          </a:effectRef>
          <a:fontRef idx="minor">
            <a:schemeClr val="lt1"/>
          </a:fontRef>
        </p:style>
        <p:txBody>
          <a:bodyPr rtlCol="0" anchor="ctr"/>
          <a:lstStyle/>
          <a:p>
            <a:r>
              <a:rPr lang="en-US" b="1" u="sng" dirty="0">
                <a:solidFill>
                  <a:schemeClr val="tx1"/>
                </a:solidFill>
              </a:rPr>
              <a:t>Case 4: Train Agents Selected by Model</a:t>
            </a:r>
          </a:p>
          <a:p>
            <a:pPr marL="285750" indent="-285750">
              <a:buFont typeface="Arial" panose="020B0604020202020204" pitchFamily="34" charset="0"/>
              <a:buChar char="•"/>
            </a:pPr>
            <a:r>
              <a:rPr lang="en-US" dirty="0">
                <a:solidFill>
                  <a:schemeClr val="tx1"/>
                </a:solidFill>
              </a:rPr>
              <a:t>Total Cost = (TP+FP)*Training Cost+ FN * Fraud Cost</a:t>
            </a:r>
          </a:p>
          <a:p>
            <a:pPr marL="285750" indent="-285750">
              <a:buFont typeface="Arial" panose="020B0604020202020204" pitchFamily="34" charset="0"/>
              <a:buChar char="•"/>
            </a:pPr>
            <a:r>
              <a:rPr lang="en-US" dirty="0">
                <a:solidFill>
                  <a:schemeClr val="tx1"/>
                </a:solidFill>
              </a:rPr>
              <a:t>Varies per model (see next slide)</a:t>
            </a:r>
          </a:p>
          <a:p>
            <a:endParaRPr lang="en-US" dirty="0">
              <a:solidFill>
                <a:schemeClr val="tx1"/>
              </a:solidFill>
            </a:endParaRPr>
          </a:p>
        </p:txBody>
      </p:sp>
      <p:sp>
        <p:nvSpPr>
          <p:cNvPr id="13" name="Rectangle: Rounded Corners 12">
            <a:extLst>
              <a:ext uri="{FF2B5EF4-FFF2-40B4-BE49-F238E27FC236}">
                <a16:creationId xmlns:a16="http://schemas.microsoft.com/office/drawing/2014/main" id="{F609C431-1B4C-40B5-8319-620C6250FEFD}"/>
              </a:ext>
            </a:extLst>
          </p:cNvPr>
          <p:cNvSpPr/>
          <p:nvPr/>
        </p:nvSpPr>
        <p:spPr>
          <a:xfrm>
            <a:off x="487680" y="1828290"/>
            <a:ext cx="3969027" cy="2107606"/>
          </a:xfrm>
          <a:prstGeom prst="roundRect">
            <a:avLst/>
          </a:prstGeom>
          <a:solidFill>
            <a:schemeClr val="bg1">
              <a:lumMod val="95000"/>
            </a:schemeClr>
          </a:solidFill>
          <a:ln w="12700">
            <a:solidFill>
              <a:schemeClr val="accent2"/>
            </a:solidFill>
          </a:ln>
        </p:spPr>
        <p:style>
          <a:lnRef idx="1">
            <a:schemeClr val="accent2"/>
          </a:lnRef>
          <a:fillRef idx="3">
            <a:schemeClr val="accent2"/>
          </a:fillRef>
          <a:effectRef idx="2">
            <a:schemeClr val="accent2"/>
          </a:effectRef>
          <a:fontRef idx="minor">
            <a:schemeClr val="lt1"/>
          </a:fontRef>
        </p:style>
        <p:txBody>
          <a:bodyPr rtlCol="0" anchor="ctr"/>
          <a:lstStyle/>
          <a:p>
            <a:endParaRPr lang="en-US" b="1" dirty="0">
              <a:solidFill>
                <a:schemeClr val="tx1"/>
              </a:solidFill>
            </a:endParaRPr>
          </a:p>
        </p:txBody>
      </p:sp>
      <p:sp>
        <p:nvSpPr>
          <p:cNvPr id="14" name="TextBox 13">
            <a:extLst>
              <a:ext uri="{FF2B5EF4-FFF2-40B4-BE49-F238E27FC236}">
                <a16:creationId xmlns:a16="http://schemas.microsoft.com/office/drawing/2014/main" id="{0A979212-CB4E-4A8F-93AB-EE6B040A919F}"/>
              </a:ext>
            </a:extLst>
          </p:cNvPr>
          <p:cNvSpPr txBox="1"/>
          <p:nvPr/>
        </p:nvSpPr>
        <p:spPr>
          <a:xfrm>
            <a:off x="4993419" y="2004977"/>
            <a:ext cx="3697357" cy="1837426"/>
          </a:xfrm>
          <a:prstGeom prst="rect">
            <a:avLst/>
          </a:prstGeom>
          <a:noFill/>
        </p:spPr>
        <p:txBody>
          <a:bodyPr wrap="square" rtlCol="0">
            <a:spAutoFit/>
          </a:bodyPr>
          <a:lstStyle/>
          <a:p>
            <a:pPr algn="l">
              <a:lnSpc>
                <a:spcPct val="90000"/>
              </a:lnSpc>
            </a:pPr>
            <a:r>
              <a:rPr lang="en-US" b="1" u="sng" dirty="0"/>
              <a:t>Case 2: Train All Agents</a:t>
            </a:r>
          </a:p>
          <a:p>
            <a:pPr marL="171450" indent="-171450" algn="l">
              <a:lnSpc>
                <a:spcPct val="90000"/>
              </a:lnSpc>
              <a:buFont typeface="Arial" panose="020B0604020202020204" pitchFamily="34" charset="0"/>
              <a:buChar char="•"/>
            </a:pPr>
            <a:r>
              <a:rPr lang="en-US" dirty="0"/>
              <a:t>Fraud prevention is 100% effective</a:t>
            </a:r>
          </a:p>
          <a:p>
            <a:pPr marL="171450" indent="-171450" algn="l">
              <a:lnSpc>
                <a:spcPct val="90000"/>
              </a:lnSpc>
              <a:buFont typeface="Arial" panose="020B0604020202020204" pitchFamily="34" charset="0"/>
              <a:buChar char="•"/>
            </a:pPr>
            <a:endParaRPr lang="en-US" dirty="0"/>
          </a:p>
          <a:p>
            <a:pPr marL="171450" indent="-171450" algn="l">
              <a:lnSpc>
                <a:spcPct val="90000"/>
              </a:lnSpc>
              <a:buFont typeface="Arial" panose="020B0604020202020204" pitchFamily="34" charset="0"/>
              <a:buChar char="•"/>
            </a:pPr>
            <a:r>
              <a:rPr lang="en-US" dirty="0"/>
              <a:t>2044 Agents to Train</a:t>
            </a:r>
          </a:p>
          <a:p>
            <a:pPr marL="171450" indent="-171450" algn="l">
              <a:lnSpc>
                <a:spcPct val="90000"/>
              </a:lnSpc>
              <a:buFont typeface="Arial" panose="020B0604020202020204" pitchFamily="34" charset="0"/>
              <a:buChar char="•"/>
            </a:pPr>
            <a:endParaRPr lang="en-US" dirty="0"/>
          </a:p>
          <a:p>
            <a:pPr marL="171450" indent="-171450" algn="l">
              <a:lnSpc>
                <a:spcPct val="90000"/>
              </a:lnSpc>
              <a:buFont typeface="Arial" panose="020B0604020202020204" pitchFamily="34" charset="0"/>
              <a:buChar char="•"/>
            </a:pPr>
            <a:r>
              <a:rPr lang="en-US" dirty="0"/>
              <a:t>Total Cost = $200 * 2044 = </a:t>
            </a:r>
            <a:r>
              <a:rPr lang="en-US" b="1" dirty="0"/>
              <a:t>$408,800</a:t>
            </a:r>
          </a:p>
        </p:txBody>
      </p:sp>
      <p:sp>
        <p:nvSpPr>
          <p:cNvPr id="15" name="TextBox 14">
            <a:extLst>
              <a:ext uri="{FF2B5EF4-FFF2-40B4-BE49-F238E27FC236}">
                <a16:creationId xmlns:a16="http://schemas.microsoft.com/office/drawing/2014/main" id="{D9832318-4913-4F7D-82C4-E2FF3EF65F8E}"/>
              </a:ext>
            </a:extLst>
          </p:cNvPr>
          <p:cNvSpPr txBox="1"/>
          <p:nvPr/>
        </p:nvSpPr>
        <p:spPr>
          <a:xfrm>
            <a:off x="623514" y="2004977"/>
            <a:ext cx="3697357" cy="1754326"/>
          </a:xfrm>
          <a:prstGeom prst="rect">
            <a:avLst/>
          </a:prstGeom>
          <a:noFill/>
        </p:spPr>
        <p:txBody>
          <a:bodyPr wrap="square" rtlCol="0">
            <a:spAutoFit/>
          </a:bodyPr>
          <a:lstStyle/>
          <a:p>
            <a:r>
              <a:rPr lang="en-US" b="1" u="sng" dirty="0"/>
              <a:t>Case 1: Operations Remain As-Is </a:t>
            </a:r>
          </a:p>
          <a:p>
            <a:pPr marL="285750" indent="-285750">
              <a:buFont typeface="Arial" panose="020B0604020202020204" pitchFamily="34" charset="0"/>
              <a:buChar char="•"/>
            </a:pPr>
            <a:r>
              <a:rPr lang="en-US" dirty="0"/>
              <a:t>No additional Training</a:t>
            </a:r>
          </a:p>
          <a:p>
            <a:pPr marL="285750" indent="-285750">
              <a:buFont typeface="Arial" panose="020B0604020202020204" pitchFamily="34" charset="0"/>
              <a:buChar char="•"/>
            </a:pPr>
            <a:r>
              <a:rPr lang="en-US" dirty="0"/>
              <a:t>111 Fraud Cases (from testing data set)</a:t>
            </a:r>
          </a:p>
          <a:p>
            <a:pPr marL="285750" indent="-285750">
              <a:buFont typeface="Arial" panose="020B0604020202020204" pitchFamily="34" charset="0"/>
              <a:buChar char="•"/>
            </a:pPr>
            <a:r>
              <a:rPr lang="en-US" dirty="0"/>
              <a:t>Total Cost = $3000 * 111 = </a:t>
            </a:r>
            <a:r>
              <a:rPr lang="en-US" b="1" dirty="0"/>
              <a:t>$330,000</a:t>
            </a:r>
          </a:p>
        </p:txBody>
      </p:sp>
    </p:spTree>
    <p:extLst>
      <p:ext uri="{BB962C8B-B14F-4D97-AF65-F5344CB8AC3E}">
        <p14:creationId xmlns:p14="http://schemas.microsoft.com/office/powerpoint/2010/main" val="612462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2836D14E-8FE9-4067-9055-424700457DA4}"/>
              </a:ext>
            </a:extLst>
          </p:cNvPr>
          <p:cNvGraphicFramePr>
            <a:graphicFrameLocks noGrp="1"/>
          </p:cNvGraphicFramePr>
          <p:nvPr>
            <p:ph idx="1"/>
            <p:extLst>
              <p:ext uri="{D42A27DB-BD31-4B8C-83A1-F6EECF244321}">
                <p14:modId xmlns:p14="http://schemas.microsoft.com/office/powerpoint/2010/main" val="3659723565"/>
              </p:ext>
            </p:extLst>
          </p:nvPr>
        </p:nvGraphicFramePr>
        <p:xfrm>
          <a:off x="457200" y="1606550"/>
          <a:ext cx="8229600" cy="4079240"/>
        </p:xfrm>
        <a:graphic>
          <a:graphicData uri="http://schemas.openxmlformats.org/drawingml/2006/table">
            <a:tbl>
              <a:tblPr firstRow="1" bandRow="1">
                <a:tableStyleId>{21E4AEA4-8DFA-4A89-87EB-49C32662AFE0}</a:tableStyleId>
              </a:tblPr>
              <a:tblGrid>
                <a:gridCol w="2057400">
                  <a:extLst>
                    <a:ext uri="{9D8B030D-6E8A-4147-A177-3AD203B41FA5}">
                      <a16:colId xmlns:a16="http://schemas.microsoft.com/office/drawing/2014/main" val="4127631880"/>
                    </a:ext>
                  </a:extLst>
                </a:gridCol>
                <a:gridCol w="2057400">
                  <a:extLst>
                    <a:ext uri="{9D8B030D-6E8A-4147-A177-3AD203B41FA5}">
                      <a16:colId xmlns:a16="http://schemas.microsoft.com/office/drawing/2014/main" val="1246945658"/>
                    </a:ext>
                  </a:extLst>
                </a:gridCol>
                <a:gridCol w="2057400">
                  <a:extLst>
                    <a:ext uri="{9D8B030D-6E8A-4147-A177-3AD203B41FA5}">
                      <a16:colId xmlns:a16="http://schemas.microsoft.com/office/drawing/2014/main" val="3297783220"/>
                    </a:ext>
                  </a:extLst>
                </a:gridCol>
                <a:gridCol w="2057400">
                  <a:extLst>
                    <a:ext uri="{9D8B030D-6E8A-4147-A177-3AD203B41FA5}">
                      <a16:colId xmlns:a16="http://schemas.microsoft.com/office/drawing/2014/main" val="2895281121"/>
                    </a:ext>
                  </a:extLst>
                </a:gridCol>
              </a:tblGrid>
              <a:tr h="370840">
                <a:tc>
                  <a:txBody>
                    <a:bodyPr/>
                    <a:lstStyle/>
                    <a:p>
                      <a:r>
                        <a:rPr lang="en-US" dirty="0"/>
                        <a:t>Model</a:t>
                      </a:r>
                    </a:p>
                  </a:txBody>
                  <a:tcPr/>
                </a:tc>
                <a:tc>
                  <a:txBody>
                    <a:bodyPr/>
                    <a:lstStyle/>
                    <a:p>
                      <a:r>
                        <a:rPr lang="en-US" dirty="0"/>
                        <a:t>Agents to Train</a:t>
                      </a:r>
                    </a:p>
                  </a:txBody>
                  <a:tcPr/>
                </a:tc>
                <a:tc>
                  <a:txBody>
                    <a:bodyPr/>
                    <a:lstStyle/>
                    <a:p>
                      <a:r>
                        <a:rPr lang="en-US" dirty="0"/>
                        <a:t>Cost</a:t>
                      </a:r>
                    </a:p>
                  </a:txBody>
                  <a:tcPr/>
                </a:tc>
                <a:tc>
                  <a:txBody>
                    <a:bodyPr/>
                    <a:lstStyle/>
                    <a:p>
                      <a:r>
                        <a:rPr lang="en-US" dirty="0"/>
                        <a:t>Savings*</a:t>
                      </a:r>
                    </a:p>
                  </a:txBody>
                  <a:tcPr/>
                </a:tc>
                <a:extLst>
                  <a:ext uri="{0D108BD9-81ED-4DB2-BD59-A6C34878D82A}">
                    <a16:rowId xmlns:a16="http://schemas.microsoft.com/office/drawing/2014/main" val="1708235357"/>
                  </a:ext>
                </a:extLst>
              </a:tr>
              <a:tr h="370840">
                <a:tc>
                  <a:txBody>
                    <a:bodyPr/>
                    <a:lstStyle/>
                    <a:p>
                      <a:r>
                        <a:rPr lang="en-US" dirty="0"/>
                        <a:t>Log. Reg. 1</a:t>
                      </a:r>
                    </a:p>
                  </a:txBody>
                  <a:tcPr/>
                </a:tc>
                <a:tc>
                  <a:txBody>
                    <a:bodyPr/>
                    <a:lstStyle/>
                    <a:p>
                      <a:r>
                        <a:rPr lang="en-US" dirty="0"/>
                        <a:t>1440</a:t>
                      </a:r>
                    </a:p>
                  </a:txBody>
                  <a:tcPr/>
                </a:tc>
                <a:tc>
                  <a:txBody>
                    <a:bodyPr/>
                    <a:lstStyle/>
                    <a:p>
                      <a:pPr algn="l" fontAlgn="b"/>
                      <a:r>
                        <a:rPr lang="en-US" sz="1800" b="0" i="0" u="none" strike="noStrike" dirty="0">
                          <a:solidFill>
                            <a:srgbClr val="000000"/>
                          </a:solidFill>
                          <a:effectLst/>
                          <a:latin typeface="Calibri" panose="020F0502020204030204" pitchFamily="34" charset="0"/>
                        </a:rPr>
                        <a:t> $        315,000 </a:t>
                      </a:r>
                    </a:p>
                  </a:txBody>
                  <a:tcPr marL="9525" marR="9525" marT="9525" marB="0" anchor="b"/>
                </a:tc>
                <a:tc>
                  <a:txBody>
                    <a:bodyPr/>
                    <a:lstStyle/>
                    <a:p>
                      <a:pPr algn="l" fontAlgn="b"/>
                      <a:r>
                        <a:rPr lang="en-US" sz="1800" b="0" i="0" u="none" strike="noStrike">
                          <a:solidFill>
                            <a:srgbClr val="000000"/>
                          </a:solidFill>
                          <a:effectLst/>
                          <a:latin typeface="Calibri" panose="020F0502020204030204" pitchFamily="34" charset="0"/>
                        </a:rPr>
                        <a:t> $   18,000 </a:t>
                      </a:r>
                    </a:p>
                  </a:txBody>
                  <a:tcPr marL="9525" marR="9525" marT="9525" marB="0" anchor="b"/>
                </a:tc>
                <a:extLst>
                  <a:ext uri="{0D108BD9-81ED-4DB2-BD59-A6C34878D82A}">
                    <a16:rowId xmlns:a16="http://schemas.microsoft.com/office/drawing/2014/main" val="3912369319"/>
                  </a:ext>
                </a:extLst>
              </a:tr>
              <a:tr h="370840">
                <a:tc>
                  <a:txBody>
                    <a:bodyPr/>
                    <a:lstStyle/>
                    <a:p>
                      <a:r>
                        <a:rPr lang="en-US" dirty="0"/>
                        <a:t>Log. Reg. 2</a:t>
                      </a:r>
                    </a:p>
                  </a:txBody>
                  <a:tcPr/>
                </a:tc>
                <a:tc>
                  <a:txBody>
                    <a:bodyPr/>
                    <a:lstStyle/>
                    <a:p>
                      <a:r>
                        <a:rPr lang="en-US" dirty="0"/>
                        <a:t>1106</a:t>
                      </a:r>
                    </a:p>
                  </a:txBody>
                  <a:tcPr/>
                </a:tc>
                <a:tc>
                  <a:txBody>
                    <a:bodyPr/>
                    <a:lstStyle/>
                    <a:p>
                      <a:pPr algn="l" fontAlgn="b"/>
                      <a:r>
                        <a:rPr lang="en-US" sz="1800" b="0" i="0" u="none" strike="noStrike" dirty="0">
                          <a:solidFill>
                            <a:srgbClr val="000000"/>
                          </a:solidFill>
                          <a:effectLst/>
                          <a:latin typeface="Calibri" panose="020F0502020204030204" pitchFamily="34" charset="0"/>
                        </a:rPr>
                        <a:t> $        293,200 </a:t>
                      </a:r>
                    </a:p>
                  </a:txBody>
                  <a:tcPr marL="9525" marR="9525" marT="9525" marB="0" anchor="b"/>
                </a:tc>
                <a:tc>
                  <a:txBody>
                    <a:bodyPr/>
                    <a:lstStyle/>
                    <a:p>
                      <a:pPr algn="l" fontAlgn="b"/>
                      <a:r>
                        <a:rPr lang="en-US" sz="1800" b="0" i="0" u="none" strike="noStrike" dirty="0">
                          <a:solidFill>
                            <a:srgbClr val="000000"/>
                          </a:solidFill>
                          <a:effectLst/>
                          <a:latin typeface="Calibri" panose="020F0502020204030204" pitchFamily="34" charset="0"/>
                        </a:rPr>
                        <a:t> $   39,800 </a:t>
                      </a:r>
                    </a:p>
                  </a:txBody>
                  <a:tcPr marL="9525" marR="9525" marT="9525" marB="0" anchor="b"/>
                </a:tc>
                <a:extLst>
                  <a:ext uri="{0D108BD9-81ED-4DB2-BD59-A6C34878D82A}">
                    <a16:rowId xmlns:a16="http://schemas.microsoft.com/office/drawing/2014/main" val="1387145872"/>
                  </a:ext>
                </a:extLst>
              </a:tr>
              <a:tr h="370840">
                <a:tc>
                  <a:txBody>
                    <a:bodyPr/>
                    <a:lstStyle/>
                    <a:p>
                      <a:r>
                        <a:rPr lang="en-US" dirty="0"/>
                        <a:t>Log. Reg. 3</a:t>
                      </a:r>
                    </a:p>
                  </a:txBody>
                  <a:tcPr/>
                </a:tc>
                <a:tc>
                  <a:txBody>
                    <a:bodyPr/>
                    <a:lstStyle/>
                    <a:p>
                      <a:r>
                        <a:rPr lang="en-US" dirty="0"/>
                        <a:t>878</a:t>
                      </a:r>
                    </a:p>
                  </a:txBody>
                  <a:tcPr/>
                </a:tc>
                <a:tc>
                  <a:txBody>
                    <a:bodyPr/>
                    <a:lstStyle/>
                    <a:p>
                      <a:pPr algn="l" fontAlgn="b"/>
                      <a:r>
                        <a:rPr lang="en-US" sz="1800" b="0" i="0" u="none" strike="noStrike">
                          <a:solidFill>
                            <a:srgbClr val="000000"/>
                          </a:solidFill>
                          <a:effectLst/>
                          <a:latin typeface="Calibri" panose="020F0502020204030204" pitchFamily="34" charset="0"/>
                        </a:rPr>
                        <a:t> $        277,600 </a:t>
                      </a:r>
                    </a:p>
                  </a:txBody>
                  <a:tcPr marL="9525" marR="9525" marT="9525" marB="0" anchor="b"/>
                </a:tc>
                <a:tc>
                  <a:txBody>
                    <a:bodyPr/>
                    <a:lstStyle/>
                    <a:p>
                      <a:pPr algn="l" fontAlgn="b"/>
                      <a:r>
                        <a:rPr lang="en-US" sz="1800" b="0" i="0" u="none" strike="noStrike" dirty="0">
                          <a:solidFill>
                            <a:srgbClr val="000000"/>
                          </a:solidFill>
                          <a:effectLst/>
                          <a:latin typeface="Calibri" panose="020F0502020204030204" pitchFamily="34" charset="0"/>
                        </a:rPr>
                        <a:t> </a:t>
                      </a:r>
                      <a:r>
                        <a:rPr lang="en-US" sz="1800" b="0" i="0" u="none" strike="noStrike" dirty="0">
                          <a:solidFill>
                            <a:srgbClr val="000000"/>
                          </a:solidFill>
                          <a:effectLst/>
                          <a:highlight>
                            <a:srgbClr val="FFFF00"/>
                          </a:highlight>
                          <a:latin typeface="Calibri" panose="020F0502020204030204" pitchFamily="34" charset="0"/>
                        </a:rPr>
                        <a:t>$   55,400 </a:t>
                      </a:r>
                    </a:p>
                  </a:txBody>
                  <a:tcPr marL="9525" marR="9525" marT="9525" marB="0" anchor="b"/>
                </a:tc>
                <a:extLst>
                  <a:ext uri="{0D108BD9-81ED-4DB2-BD59-A6C34878D82A}">
                    <a16:rowId xmlns:a16="http://schemas.microsoft.com/office/drawing/2014/main" val="183039625"/>
                  </a:ext>
                </a:extLst>
              </a:tr>
              <a:tr h="370840">
                <a:tc>
                  <a:txBody>
                    <a:bodyPr/>
                    <a:lstStyle/>
                    <a:p>
                      <a:r>
                        <a:rPr lang="en-US" dirty="0"/>
                        <a:t>Rand. Forest 1</a:t>
                      </a:r>
                    </a:p>
                  </a:txBody>
                  <a:tcPr/>
                </a:tc>
                <a:tc>
                  <a:txBody>
                    <a:bodyPr/>
                    <a:lstStyle/>
                    <a:p>
                      <a:r>
                        <a:rPr lang="en-US" dirty="0"/>
                        <a:t>1412</a:t>
                      </a:r>
                    </a:p>
                  </a:txBody>
                  <a:tcPr/>
                </a:tc>
                <a:tc>
                  <a:txBody>
                    <a:bodyPr/>
                    <a:lstStyle/>
                    <a:p>
                      <a:pPr algn="l" fontAlgn="b"/>
                      <a:r>
                        <a:rPr lang="en-US" sz="1800" b="0" i="0" u="none" strike="noStrike">
                          <a:solidFill>
                            <a:srgbClr val="000000"/>
                          </a:solidFill>
                          <a:effectLst/>
                          <a:latin typeface="Calibri" panose="020F0502020204030204" pitchFamily="34" charset="0"/>
                        </a:rPr>
                        <a:t> $        312,400 </a:t>
                      </a:r>
                    </a:p>
                  </a:txBody>
                  <a:tcPr marL="9525" marR="9525" marT="9525" marB="0" anchor="b"/>
                </a:tc>
                <a:tc>
                  <a:txBody>
                    <a:bodyPr/>
                    <a:lstStyle/>
                    <a:p>
                      <a:pPr algn="l" fontAlgn="b"/>
                      <a:r>
                        <a:rPr lang="en-US" sz="1800" b="0" i="0" u="none" strike="noStrike" dirty="0">
                          <a:solidFill>
                            <a:srgbClr val="000000"/>
                          </a:solidFill>
                          <a:effectLst/>
                          <a:latin typeface="Calibri" panose="020F0502020204030204" pitchFamily="34" charset="0"/>
                        </a:rPr>
                        <a:t> $   20,600 </a:t>
                      </a:r>
                    </a:p>
                  </a:txBody>
                  <a:tcPr marL="9525" marR="9525" marT="9525" marB="0" anchor="b"/>
                </a:tc>
                <a:extLst>
                  <a:ext uri="{0D108BD9-81ED-4DB2-BD59-A6C34878D82A}">
                    <a16:rowId xmlns:a16="http://schemas.microsoft.com/office/drawing/2014/main" val="4087652270"/>
                  </a:ext>
                </a:extLst>
              </a:tr>
              <a:tr h="370840">
                <a:tc>
                  <a:txBody>
                    <a:bodyPr/>
                    <a:lstStyle/>
                    <a:p>
                      <a:r>
                        <a:rPr lang="en-US" dirty="0"/>
                        <a:t>Rand. Forest 2</a:t>
                      </a:r>
                    </a:p>
                  </a:txBody>
                  <a:tcPr/>
                </a:tc>
                <a:tc>
                  <a:txBody>
                    <a:bodyPr/>
                    <a:lstStyle/>
                    <a:p>
                      <a:r>
                        <a:rPr lang="en-US" dirty="0"/>
                        <a:t>975</a:t>
                      </a:r>
                    </a:p>
                  </a:txBody>
                  <a:tcPr/>
                </a:tc>
                <a:tc>
                  <a:txBody>
                    <a:bodyPr/>
                    <a:lstStyle/>
                    <a:p>
                      <a:pPr algn="l" fontAlgn="b"/>
                      <a:r>
                        <a:rPr lang="en-US" sz="1800" b="0" i="0" u="none" strike="noStrike">
                          <a:solidFill>
                            <a:srgbClr val="000000"/>
                          </a:solidFill>
                          <a:effectLst/>
                          <a:latin typeface="Calibri" panose="020F0502020204030204" pitchFamily="34" charset="0"/>
                        </a:rPr>
                        <a:t> $        282,000 </a:t>
                      </a:r>
                    </a:p>
                  </a:txBody>
                  <a:tcPr marL="9525" marR="9525" marT="9525" marB="0" anchor="b"/>
                </a:tc>
                <a:tc>
                  <a:txBody>
                    <a:bodyPr/>
                    <a:lstStyle/>
                    <a:p>
                      <a:pPr algn="l" fontAlgn="b"/>
                      <a:r>
                        <a:rPr lang="en-US" sz="1800" b="0" i="0" u="none" strike="noStrike" dirty="0">
                          <a:solidFill>
                            <a:srgbClr val="000000"/>
                          </a:solidFill>
                          <a:effectLst/>
                          <a:latin typeface="Calibri" panose="020F0502020204030204" pitchFamily="34" charset="0"/>
                        </a:rPr>
                        <a:t> </a:t>
                      </a:r>
                      <a:r>
                        <a:rPr lang="en-US" sz="1800" b="0" i="0" u="none" strike="noStrike" dirty="0">
                          <a:solidFill>
                            <a:srgbClr val="000000"/>
                          </a:solidFill>
                          <a:effectLst/>
                          <a:highlight>
                            <a:srgbClr val="FFFF00"/>
                          </a:highlight>
                          <a:latin typeface="Calibri" panose="020F0502020204030204" pitchFamily="34" charset="0"/>
                        </a:rPr>
                        <a:t>$   51,000 </a:t>
                      </a:r>
                    </a:p>
                  </a:txBody>
                  <a:tcPr marL="9525" marR="9525" marT="9525" marB="0" anchor="b"/>
                </a:tc>
                <a:extLst>
                  <a:ext uri="{0D108BD9-81ED-4DB2-BD59-A6C34878D82A}">
                    <a16:rowId xmlns:a16="http://schemas.microsoft.com/office/drawing/2014/main" val="2846431552"/>
                  </a:ext>
                </a:extLst>
              </a:tr>
              <a:tr h="370840">
                <a:tc>
                  <a:txBody>
                    <a:bodyPr/>
                    <a:lstStyle/>
                    <a:p>
                      <a:r>
                        <a:rPr lang="en-US" dirty="0"/>
                        <a:t>Rand. Forest 3</a:t>
                      </a:r>
                    </a:p>
                  </a:txBody>
                  <a:tcPr/>
                </a:tc>
                <a:tc>
                  <a:txBody>
                    <a:bodyPr/>
                    <a:lstStyle/>
                    <a:p>
                      <a:r>
                        <a:rPr lang="en-US" dirty="0"/>
                        <a:t>859</a:t>
                      </a:r>
                    </a:p>
                  </a:txBody>
                  <a:tcPr/>
                </a:tc>
                <a:tc>
                  <a:txBody>
                    <a:bodyPr/>
                    <a:lstStyle/>
                    <a:p>
                      <a:pPr algn="l" fontAlgn="b"/>
                      <a:r>
                        <a:rPr lang="en-US" sz="1800" b="0" i="0" u="none" strike="noStrike">
                          <a:solidFill>
                            <a:srgbClr val="000000"/>
                          </a:solidFill>
                          <a:effectLst/>
                          <a:latin typeface="Calibri" panose="020F0502020204030204" pitchFamily="34" charset="0"/>
                        </a:rPr>
                        <a:t> $        273,800 </a:t>
                      </a:r>
                    </a:p>
                  </a:txBody>
                  <a:tcPr marL="9525" marR="9525" marT="9525" marB="0" anchor="b"/>
                </a:tc>
                <a:tc>
                  <a:txBody>
                    <a:bodyPr/>
                    <a:lstStyle/>
                    <a:p>
                      <a:pPr algn="l" fontAlgn="b"/>
                      <a:r>
                        <a:rPr lang="en-US" sz="1800" b="0" i="0" u="none" strike="noStrike" dirty="0">
                          <a:solidFill>
                            <a:srgbClr val="000000"/>
                          </a:solidFill>
                          <a:effectLst/>
                          <a:latin typeface="Calibri" panose="020F0502020204030204" pitchFamily="34" charset="0"/>
                        </a:rPr>
                        <a:t> </a:t>
                      </a:r>
                      <a:r>
                        <a:rPr lang="en-US" sz="1800" b="0" i="0" u="none" strike="noStrike" dirty="0">
                          <a:solidFill>
                            <a:srgbClr val="000000"/>
                          </a:solidFill>
                          <a:effectLst/>
                          <a:highlight>
                            <a:srgbClr val="FFFF00"/>
                          </a:highlight>
                          <a:latin typeface="Calibri" panose="020F0502020204030204" pitchFamily="34" charset="0"/>
                        </a:rPr>
                        <a:t>$   59,200 </a:t>
                      </a:r>
                    </a:p>
                  </a:txBody>
                  <a:tcPr marL="9525" marR="9525" marT="9525" marB="0" anchor="b"/>
                </a:tc>
                <a:extLst>
                  <a:ext uri="{0D108BD9-81ED-4DB2-BD59-A6C34878D82A}">
                    <a16:rowId xmlns:a16="http://schemas.microsoft.com/office/drawing/2014/main" val="2051757954"/>
                  </a:ext>
                </a:extLst>
              </a:tr>
              <a:tr h="370840">
                <a:tc>
                  <a:txBody>
                    <a:bodyPr/>
                    <a:lstStyle/>
                    <a:p>
                      <a:r>
                        <a:rPr lang="en-US" dirty="0"/>
                        <a:t>Reg. Tree 1</a:t>
                      </a:r>
                    </a:p>
                  </a:txBody>
                  <a:tcPr/>
                </a:tc>
                <a:tc>
                  <a:txBody>
                    <a:bodyPr/>
                    <a:lstStyle/>
                    <a:p>
                      <a:r>
                        <a:rPr lang="en-US" dirty="0"/>
                        <a:t>1431</a:t>
                      </a:r>
                    </a:p>
                  </a:txBody>
                  <a:tcPr/>
                </a:tc>
                <a:tc>
                  <a:txBody>
                    <a:bodyPr/>
                    <a:lstStyle/>
                    <a:p>
                      <a:pPr algn="l" fontAlgn="b"/>
                      <a:r>
                        <a:rPr lang="en-US" sz="1800" b="0" i="0" u="none" strike="noStrike">
                          <a:solidFill>
                            <a:srgbClr val="000000"/>
                          </a:solidFill>
                          <a:effectLst/>
                          <a:latin typeface="Calibri" panose="020F0502020204030204" pitchFamily="34" charset="0"/>
                        </a:rPr>
                        <a:t> $        313,200 </a:t>
                      </a:r>
                    </a:p>
                  </a:txBody>
                  <a:tcPr marL="9525" marR="9525" marT="9525" marB="0" anchor="b"/>
                </a:tc>
                <a:tc>
                  <a:txBody>
                    <a:bodyPr/>
                    <a:lstStyle/>
                    <a:p>
                      <a:pPr algn="l" fontAlgn="b"/>
                      <a:r>
                        <a:rPr lang="en-US" sz="1800" b="0" i="0" u="none" strike="noStrike" dirty="0">
                          <a:solidFill>
                            <a:srgbClr val="000000"/>
                          </a:solidFill>
                          <a:effectLst/>
                          <a:latin typeface="Calibri" panose="020F0502020204030204" pitchFamily="34" charset="0"/>
                        </a:rPr>
                        <a:t> $   19,800 </a:t>
                      </a:r>
                    </a:p>
                  </a:txBody>
                  <a:tcPr marL="9525" marR="9525" marT="9525" marB="0" anchor="b"/>
                </a:tc>
                <a:extLst>
                  <a:ext uri="{0D108BD9-81ED-4DB2-BD59-A6C34878D82A}">
                    <a16:rowId xmlns:a16="http://schemas.microsoft.com/office/drawing/2014/main" val="73248772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Reg. Tree 2</a:t>
                      </a:r>
                    </a:p>
                  </a:txBody>
                  <a:tcPr/>
                </a:tc>
                <a:tc>
                  <a:txBody>
                    <a:bodyPr/>
                    <a:lstStyle/>
                    <a:p>
                      <a:r>
                        <a:rPr lang="en-US" dirty="0"/>
                        <a:t>930</a:t>
                      </a:r>
                    </a:p>
                  </a:txBody>
                  <a:tcPr/>
                </a:tc>
                <a:tc>
                  <a:txBody>
                    <a:bodyPr/>
                    <a:lstStyle/>
                    <a:p>
                      <a:pPr algn="l" fontAlgn="b"/>
                      <a:r>
                        <a:rPr lang="en-US" sz="1800" b="0" i="0" u="none" strike="noStrike">
                          <a:solidFill>
                            <a:srgbClr val="000000"/>
                          </a:solidFill>
                          <a:effectLst/>
                          <a:latin typeface="Calibri" panose="020F0502020204030204" pitchFamily="34" charset="0"/>
                        </a:rPr>
                        <a:t> $        282,000 </a:t>
                      </a:r>
                    </a:p>
                  </a:txBody>
                  <a:tcPr marL="9525" marR="9525" marT="9525" marB="0" anchor="b"/>
                </a:tc>
                <a:tc>
                  <a:txBody>
                    <a:bodyPr/>
                    <a:lstStyle/>
                    <a:p>
                      <a:pPr algn="l" fontAlgn="b"/>
                      <a:r>
                        <a:rPr lang="en-US" sz="1800" b="0" i="0" u="none" strike="noStrike" dirty="0">
                          <a:solidFill>
                            <a:srgbClr val="000000"/>
                          </a:solidFill>
                          <a:effectLst/>
                          <a:latin typeface="Calibri" panose="020F0502020204030204" pitchFamily="34" charset="0"/>
                        </a:rPr>
                        <a:t> </a:t>
                      </a:r>
                      <a:r>
                        <a:rPr lang="en-US" sz="1800" b="0" i="0" u="none" strike="noStrike" dirty="0">
                          <a:solidFill>
                            <a:srgbClr val="000000"/>
                          </a:solidFill>
                          <a:effectLst/>
                          <a:highlight>
                            <a:srgbClr val="FFFF00"/>
                          </a:highlight>
                          <a:latin typeface="Calibri" panose="020F0502020204030204" pitchFamily="34" charset="0"/>
                        </a:rPr>
                        <a:t>$   51,000 </a:t>
                      </a:r>
                    </a:p>
                  </a:txBody>
                  <a:tcPr marL="9525" marR="9525" marT="9525" marB="0" anchor="b"/>
                </a:tc>
                <a:extLst>
                  <a:ext uri="{0D108BD9-81ED-4DB2-BD59-A6C34878D82A}">
                    <a16:rowId xmlns:a16="http://schemas.microsoft.com/office/drawing/2014/main" val="113110411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Reg. Tree 3</a:t>
                      </a:r>
                    </a:p>
                  </a:txBody>
                  <a:tcPr/>
                </a:tc>
                <a:tc>
                  <a:txBody>
                    <a:bodyPr/>
                    <a:lstStyle/>
                    <a:p>
                      <a:r>
                        <a:rPr lang="en-US" dirty="0"/>
                        <a:t>775</a:t>
                      </a:r>
                    </a:p>
                  </a:txBody>
                  <a:tcPr/>
                </a:tc>
                <a:tc>
                  <a:txBody>
                    <a:bodyPr/>
                    <a:lstStyle/>
                    <a:p>
                      <a:pPr algn="l" fontAlgn="b"/>
                      <a:r>
                        <a:rPr lang="en-US" sz="1800" b="0" i="0" u="none" strike="noStrike">
                          <a:solidFill>
                            <a:srgbClr val="000000"/>
                          </a:solidFill>
                          <a:effectLst/>
                          <a:latin typeface="Calibri" panose="020F0502020204030204" pitchFamily="34" charset="0"/>
                        </a:rPr>
                        <a:t> $        281,000 </a:t>
                      </a:r>
                    </a:p>
                  </a:txBody>
                  <a:tcPr marL="9525" marR="9525" marT="9525" marB="0" anchor="b"/>
                </a:tc>
                <a:tc>
                  <a:txBody>
                    <a:bodyPr/>
                    <a:lstStyle/>
                    <a:p>
                      <a:pPr algn="l" fontAlgn="b"/>
                      <a:r>
                        <a:rPr lang="en-US" sz="1800" b="0" i="0" u="none" strike="noStrike" dirty="0">
                          <a:solidFill>
                            <a:srgbClr val="000000"/>
                          </a:solidFill>
                          <a:effectLst/>
                          <a:latin typeface="Calibri" panose="020F0502020204030204" pitchFamily="34" charset="0"/>
                        </a:rPr>
                        <a:t> </a:t>
                      </a:r>
                      <a:r>
                        <a:rPr lang="en-US" sz="1800" b="0" i="0" u="none" strike="noStrike" dirty="0">
                          <a:solidFill>
                            <a:srgbClr val="000000"/>
                          </a:solidFill>
                          <a:effectLst/>
                          <a:highlight>
                            <a:srgbClr val="FFFF00"/>
                          </a:highlight>
                          <a:latin typeface="Calibri" panose="020F0502020204030204" pitchFamily="34" charset="0"/>
                        </a:rPr>
                        <a:t>$   52,000 </a:t>
                      </a:r>
                    </a:p>
                  </a:txBody>
                  <a:tcPr marL="9525" marR="9525" marT="9525" marB="0" anchor="b"/>
                </a:tc>
                <a:extLst>
                  <a:ext uri="{0D108BD9-81ED-4DB2-BD59-A6C34878D82A}">
                    <a16:rowId xmlns:a16="http://schemas.microsoft.com/office/drawing/2014/main" val="1701563102"/>
                  </a:ext>
                </a:extLst>
              </a:tr>
              <a:tr h="370840">
                <a:tc>
                  <a:txBody>
                    <a:bodyPr/>
                    <a:lstStyle/>
                    <a:p>
                      <a:r>
                        <a:rPr lang="en-US" dirty="0"/>
                        <a:t>Random Selection</a:t>
                      </a:r>
                    </a:p>
                  </a:txBody>
                  <a:tcPr/>
                </a:tc>
                <a:tc>
                  <a:txBody>
                    <a:bodyPr/>
                    <a:lstStyle/>
                    <a:p>
                      <a:r>
                        <a:rPr lang="en-US" dirty="0"/>
                        <a:t>1022</a:t>
                      </a:r>
                    </a:p>
                  </a:txBody>
                  <a:tcPr/>
                </a:tc>
                <a:tc>
                  <a:txBody>
                    <a:bodyPr/>
                    <a:lstStyle/>
                    <a:p>
                      <a:pPr algn="l" fontAlgn="b"/>
                      <a:r>
                        <a:rPr lang="en-US" sz="1800" b="0" i="0" u="none" strike="noStrike">
                          <a:solidFill>
                            <a:srgbClr val="000000"/>
                          </a:solidFill>
                          <a:effectLst/>
                          <a:latin typeface="Calibri" panose="020F0502020204030204" pitchFamily="34" charset="0"/>
                        </a:rPr>
                        <a:t> $        369,400 </a:t>
                      </a:r>
                    </a:p>
                  </a:txBody>
                  <a:tcPr marL="9525" marR="9525" marT="9525" marB="0" anchor="b"/>
                </a:tc>
                <a:tc>
                  <a:txBody>
                    <a:bodyPr/>
                    <a:lstStyle/>
                    <a:p>
                      <a:pPr algn="l" fontAlgn="b"/>
                      <a:r>
                        <a:rPr lang="en-US" sz="1800" b="0" i="0" u="none" strike="noStrike" dirty="0">
                          <a:solidFill>
                            <a:srgbClr val="000000"/>
                          </a:solidFill>
                          <a:effectLst/>
                          <a:latin typeface="Calibri" panose="020F0502020204030204" pitchFamily="34" charset="0"/>
                        </a:rPr>
                        <a:t> $ (36,400)</a:t>
                      </a:r>
                    </a:p>
                  </a:txBody>
                  <a:tcPr marL="9525" marR="9525" marT="9525" marB="0" anchor="b"/>
                </a:tc>
                <a:extLst>
                  <a:ext uri="{0D108BD9-81ED-4DB2-BD59-A6C34878D82A}">
                    <a16:rowId xmlns:a16="http://schemas.microsoft.com/office/drawing/2014/main" val="4086179758"/>
                  </a:ext>
                </a:extLst>
              </a:tr>
            </a:tbl>
          </a:graphicData>
        </a:graphic>
      </p:graphicFrame>
      <p:sp>
        <p:nvSpPr>
          <p:cNvPr id="3" name="Title 2">
            <a:extLst>
              <a:ext uri="{FF2B5EF4-FFF2-40B4-BE49-F238E27FC236}">
                <a16:creationId xmlns:a16="http://schemas.microsoft.com/office/drawing/2014/main" id="{1B30886D-1D88-43F6-99AB-B48ACFF6F842}"/>
              </a:ext>
            </a:extLst>
          </p:cNvPr>
          <p:cNvSpPr>
            <a:spLocks noGrp="1"/>
          </p:cNvSpPr>
          <p:nvPr>
            <p:ph type="ctrTitle"/>
          </p:nvPr>
        </p:nvSpPr>
        <p:spPr/>
        <p:txBody>
          <a:bodyPr/>
          <a:lstStyle/>
          <a:p>
            <a:r>
              <a:rPr lang="en-US" dirty="0"/>
              <a:t>Financial Impact of Model (cont.)</a:t>
            </a:r>
          </a:p>
        </p:txBody>
      </p:sp>
      <p:sp>
        <p:nvSpPr>
          <p:cNvPr id="4" name="Text Placeholder 3">
            <a:extLst>
              <a:ext uri="{FF2B5EF4-FFF2-40B4-BE49-F238E27FC236}">
                <a16:creationId xmlns:a16="http://schemas.microsoft.com/office/drawing/2014/main" id="{8BC93D9B-D556-4CB4-808C-7A58AB3CC067}"/>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8178CF82-0078-4D82-936D-17B3C9038E30}"/>
              </a:ext>
            </a:extLst>
          </p:cNvPr>
          <p:cNvSpPr txBox="1"/>
          <p:nvPr/>
        </p:nvSpPr>
        <p:spPr>
          <a:xfrm>
            <a:off x="457200" y="5914239"/>
            <a:ext cx="8443519" cy="341632"/>
          </a:xfrm>
          <a:prstGeom prst="rect">
            <a:avLst/>
          </a:prstGeom>
          <a:noFill/>
        </p:spPr>
        <p:txBody>
          <a:bodyPr wrap="square" rtlCol="0">
            <a:spAutoFit/>
          </a:bodyPr>
          <a:lstStyle/>
          <a:p>
            <a:pPr algn="l">
              <a:lnSpc>
                <a:spcPct val="90000"/>
              </a:lnSpc>
            </a:pPr>
            <a:r>
              <a:rPr lang="en-US" dirty="0"/>
              <a:t>* Compared to Case 1 where no additional training is provided (Total Cost = $330,000) </a:t>
            </a:r>
          </a:p>
        </p:txBody>
      </p:sp>
    </p:spTree>
    <p:extLst>
      <p:ext uri="{BB962C8B-B14F-4D97-AF65-F5344CB8AC3E}">
        <p14:creationId xmlns:p14="http://schemas.microsoft.com/office/powerpoint/2010/main" val="1251047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4D2BAB-AFEB-4ADC-A145-42284E3615D0}"/>
              </a:ext>
            </a:extLst>
          </p:cNvPr>
          <p:cNvSpPr>
            <a:spLocks noGrp="1"/>
          </p:cNvSpPr>
          <p:nvPr>
            <p:ph type="ctrTitle"/>
          </p:nvPr>
        </p:nvSpPr>
        <p:spPr/>
        <p:txBody>
          <a:bodyPr/>
          <a:lstStyle/>
          <a:p>
            <a:r>
              <a:rPr lang="en-US" dirty="0"/>
              <a:t>Conclusion</a:t>
            </a:r>
          </a:p>
        </p:txBody>
      </p:sp>
      <p:sp>
        <p:nvSpPr>
          <p:cNvPr id="4" name="Text Placeholder 3">
            <a:extLst>
              <a:ext uri="{FF2B5EF4-FFF2-40B4-BE49-F238E27FC236}">
                <a16:creationId xmlns:a16="http://schemas.microsoft.com/office/drawing/2014/main" id="{C0C23BB5-5558-4A8B-9C39-7EFBBE262D27}"/>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97F0E1A5-8DD4-4BF0-8B6B-54B7034C1F0B}"/>
              </a:ext>
            </a:extLst>
          </p:cNvPr>
          <p:cNvSpPr txBox="1"/>
          <p:nvPr/>
        </p:nvSpPr>
        <p:spPr>
          <a:xfrm>
            <a:off x="176169" y="1803633"/>
            <a:ext cx="7751427" cy="3416320"/>
          </a:xfrm>
          <a:prstGeom prst="rect">
            <a:avLst/>
          </a:prstGeom>
          <a:noFill/>
        </p:spPr>
        <p:txBody>
          <a:bodyPr wrap="square" rtlCol="0">
            <a:spAutoFit/>
          </a:bodyPr>
          <a:lstStyle/>
          <a:p>
            <a:pPr marL="457200" indent="-457200" algn="l">
              <a:lnSpc>
                <a:spcPct val="90000"/>
              </a:lnSpc>
              <a:buFont typeface="Arial" panose="020B0604020202020204" pitchFamily="34" charset="0"/>
              <a:buChar char="•"/>
            </a:pPr>
            <a:r>
              <a:rPr lang="en-US" sz="2000" b="1" dirty="0"/>
              <a:t>Random Forest 3 </a:t>
            </a:r>
            <a:r>
              <a:rPr lang="en-US" sz="2000" dirty="0"/>
              <a:t>had the </a:t>
            </a:r>
            <a:r>
              <a:rPr lang="en-US" sz="2000" b="1" dirty="0">
                <a:solidFill>
                  <a:schemeClr val="tx2"/>
                </a:solidFill>
              </a:rPr>
              <a:t>lowest total cost </a:t>
            </a:r>
            <a:r>
              <a:rPr lang="en-US" sz="2000" dirty="0"/>
              <a:t>due to its balance between sensitivity and specificity. This model was able to prevent 77 of 111 fraud cases while keeping the false positives low enough to be cost effective. This model would be the best selection for a </a:t>
            </a:r>
            <a:r>
              <a:rPr lang="en-US" sz="2000" b="1" dirty="0">
                <a:solidFill>
                  <a:schemeClr val="tx2"/>
                </a:solidFill>
              </a:rPr>
              <a:t>cost-conscious organization </a:t>
            </a:r>
            <a:r>
              <a:rPr lang="en-US" sz="2000" dirty="0"/>
              <a:t>interested in reducing fraud.</a:t>
            </a:r>
          </a:p>
          <a:p>
            <a:pPr marL="457200" indent="-457200" algn="l">
              <a:lnSpc>
                <a:spcPct val="90000"/>
              </a:lnSpc>
              <a:buFont typeface="Arial" panose="020B0604020202020204" pitchFamily="34" charset="0"/>
              <a:buChar char="•"/>
            </a:pPr>
            <a:endParaRPr lang="en-US" sz="2000" dirty="0"/>
          </a:p>
          <a:p>
            <a:pPr marL="457200" indent="-457200" algn="l">
              <a:lnSpc>
                <a:spcPct val="90000"/>
              </a:lnSpc>
              <a:buFont typeface="Arial" panose="020B0604020202020204" pitchFamily="34" charset="0"/>
              <a:buChar char="•"/>
            </a:pPr>
            <a:r>
              <a:rPr lang="en-US" sz="2000" dirty="0"/>
              <a:t>If MoneyGram is interested in stopping as much as fraud as possible, </a:t>
            </a:r>
            <a:r>
              <a:rPr lang="en-US" sz="2000" b="1" dirty="0"/>
              <a:t>Logistic Regression 1 </a:t>
            </a:r>
            <a:r>
              <a:rPr lang="en-US" sz="2000" dirty="0"/>
              <a:t>would be the best option due to its simplicity and sensitivity. This model caught 102 out of 111 fraud cases but had </a:t>
            </a:r>
            <a:r>
              <a:rPr lang="en-US" sz="2000" b="1" dirty="0">
                <a:solidFill>
                  <a:schemeClr val="tx2"/>
                </a:solidFill>
              </a:rPr>
              <a:t>higher total cost</a:t>
            </a:r>
            <a:r>
              <a:rPr lang="en-US" sz="2000" dirty="0">
                <a:solidFill>
                  <a:schemeClr val="tx2"/>
                </a:solidFill>
              </a:rPr>
              <a:t> </a:t>
            </a:r>
            <a:r>
              <a:rPr lang="en-US" sz="2000" dirty="0"/>
              <a:t>due to false positives.</a:t>
            </a:r>
          </a:p>
          <a:p>
            <a:pPr marL="457200" indent="-457200" algn="l">
              <a:lnSpc>
                <a:spcPct val="90000"/>
              </a:lnSpc>
              <a:buFont typeface="Arial" panose="020B0604020202020204" pitchFamily="34" charset="0"/>
              <a:buChar char="•"/>
            </a:pPr>
            <a:endParaRPr lang="en-US" sz="2000" dirty="0"/>
          </a:p>
          <a:p>
            <a:pPr marL="457200" indent="-457200" algn="l">
              <a:lnSpc>
                <a:spcPct val="9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3737768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BE46D6-CBDF-4930-B65F-9E09AC1E5D0C}"/>
              </a:ext>
            </a:extLst>
          </p:cNvPr>
          <p:cNvSpPr>
            <a:spLocks noGrp="1"/>
          </p:cNvSpPr>
          <p:nvPr>
            <p:ph idx="1"/>
          </p:nvPr>
        </p:nvSpPr>
        <p:spPr/>
        <p:txBody>
          <a:bodyPr/>
          <a:lstStyle/>
          <a:p>
            <a:r>
              <a:rPr lang="en-US" dirty="0"/>
              <a:t>Model selection is ultimately determined by the approach of fraud reduction vs cost reduction. An experienced manager might recommend the most sensitive model to stop as much fraud as possible due to the implicit costs of fraud.</a:t>
            </a:r>
          </a:p>
          <a:p>
            <a:endParaRPr lang="en-US" dirty="0"/>
          </a:p>
          <a:p>
            <a:r>
              <a:rPr lang="en-US" dirty="0"/>
              <a:t>If fraud costs increase per case, a more sensitive model might save more money than a specific one. </a:t>
            </a:r>
          </a:p>
          <a:p>
            <a:endParaRPr lang="en-US" dirty="0"/>
          </a:p>
          <a:p>
            <a:r>
              <a:rPr lang="en-US" u="sng" dirty="0"/>
              <a:t>Further research: </a:t>
            </a:r>
            <a:r>
              <a:rPr lang="en-US" dirty="0"/>
              <a:t>Change predictors for each model type instead of keeping them consistent. </a:t>
            </a:r>
          </a:p>
          <a:p>
            <a:pPr marL="0" indent="0">
              <a:buNone/>
            </a:pPr>
            <a:endParaRPr lang="en-US" dirty="0"/>
          </a:p>
        </p:txBody>
      </p:sp>
      <p:sp>
        <p:nvSpPr>
          <p:cNvPr id="3" name="Title 2">
            <a:extLst>
              <a:ext uri="{FF2B5EF4-FFF2-40B4-BE49-F238E27FC236}">
                <a16:creationId xmlns:a16="http://schemas.microsoft.com/office/drawing/2014/main" id="{EE7E58BB-9CD9-4F45-8F5E-DCC632FFBC40}"/>
              </a:ext>
            </a:extLst>
          </p:cNvPr>
          <p:cNvSpPr>
            <a:spLocks noGrp="1"/>
          </p:cNvSpPr>
          <p:nvPr>
            <p:ph type="ctrTitle"/>
          </p:nvPr>
        </p:nvSpPr>
        <p:spPr/>
        <p:txBody>
          <a:bodyPr/>
          <a:lstStyle/>
          <a:p>
            <a:r>
              <a:rPr lang="en-US" dirty="0"/>
              <a:t>Discussion</a:t>
            </a:r>
          </a:p>
        </p:txBody>
      </p:sp>
      <p:sp>
        <p:nvSpPr>
          <p:cNvPr id="4" name="Text Placeholder 3">
            <a:extLst>
              <a:ext uri="{FF2B5EF4-FFF2-40B4-BE49-F238E27FC236}">
                <a16:creationId xmlns:a16="http://schemas.microsoft.com/office/drawing/2014/main" id="{E05F1F50-2F80-4FC7-9614-22B6EA796F2B}"/>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060870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D30A4E-08CF-4A6E-9376-56169C3B883F}"/>
              </a:ext>
            </a:extLst>
          </p:cNvPr>
          <p:cNvSpPr>
            <a:spLocks noGrp="1"/>
          </p:cNvSpPr>
          <p:nvPr>
            <p:ph idx="1"/>
          </p:nvPr>
        </p:nvSpPr>
        <p:spPr/>
        <p:txBody>
          <a:bodyPr/>
          <a:lstStyle/>
          <a:p>
            <a:pPr marL="457200" indent="-457200">
              <a:buFont typeface="+mj-lt"/>
              <a:buAutoNum type="arabicPeriod"/>
            </a:pPr>
            <a:r>
              <a:rPr lang="en-US" dirty="0"/>
              <a:t>Determine approach: Fraud Costs vs Training Costs</a:t>
            </a:r>
          </a:p>
          <a:p>
            <a:pPr marL="457200" indent="-457200">
              <a:buFont typeface="+mj-lt"/>
              <a:buAutoNum type="arabicPeriod"/>
            </a:pPr>
            <a:r>
              <a:rPr lang="en-US" dirty="0"/>
              <a:t>Select appropriate model: Sensitive vs. Specific</a:t>
            </a:r>
          </a:p>
          <a:p>
            <a:pPr marL="457200" indent="-457200">
              <a:buFont typeface="+mj-lt"/>
              <a:buAutoNum type="arabicPeriod"/>
            </a:pPr>
            <a:r>
              <a:rPr lang="en-US" dirty="0"/>
              <a:t>Run Model against all new agents</a:t>
            </a:r>
          </a:p>
          <a:p>
            <a:pPr marL="457200" indent="-457200">
              <a:buFont typeface="+mj-lt"/>
              <a:buAutoNum type="arabicPeriod"/>
            </a:pPr>
            <a:r>
              <a:rPr lang="en-US" dirty="0"/>
              <a:t>Train agents that are flagged by the model</a:t>
            </a:r>
          </a:p>
          <a:p>
            <a:pPr marL="457200" indent="-457200">
              <a:buFont typeface="+mj-lt"/>
              <a:buAutoNum type="arabicPeriod"/>
            </a:pPr>
            <a:r>
              <a:rPr lang="en-US" dirty="0"/>
              <a:t>Repeat when new agents are rolled out</a:t>
            </a:r>
          </a:p>
        </p:txBody>
      </p:sp>
      <p:sp>
        <p:nvSpPr>
          <p:cNvPr id="3" name="Title 2">
            <a:extLst>
              <a:ext uri="{FF2B5EF4-FFF2-40B4-BE49-F238E27FC236}">
                <a16:creationId xmlns:a16="http://schemas.microsoft.com/office/drawing/2014/main" id="{FB071328-9884-4B8F-BE85-1776E157D365}"/>
              </a:ext>
            </a:extLst>
          </p:cNvPr>
          <p:cNvSpPr>
            <a:spLocks noGrp="1"/>
          </p:cNvSpPr>
          <p:nvPr>
            <p:ph type="ctrTitle"/>
          </p:nvPr>
        </p:nvSpPr>
        <p:spPr/>
        <p:txBody>
          <a:bodyPr/>
          <a:lstStyle/>
          <a:p>
            <a:r>
              <a:rPr lang="en-US" dirty="0"/>
              <a:t>Next Steps</a:t>
            </a:r>
          </a:p>
        </p:txBody>
      </p:sp>
      <p:sp>
        <p:nvSpPr>
          <p:cNvPr id="4" name="Text Placeholder 3">
            <a:extLst>
              <a:ext uri="{FF2B5EF4-FFF2-40B4-BE49-F238E27FC236}">
                <a16:creationId xmlns:a16="http://schemas.microsoft.com/office/drawing/2014/main" id="{3AFAF39B-BA28-4409-8AB3-454350C6690A}"/>
              </a:ext>
            </a:extLst>
          </p:cNvPr>
          <p:cNvSpPr>
            <a:spLocks noGrp="1"/>
          </p:cNvSpPr>
          <p:nvPr>
            <p:ph type="body" sz="quarter" idx="10"/>
          </p:nvPr>
        </p:nvSpPr>
        <p:spPr/>
        <p:txBody>
          <a:bodyPr/>
          <a:lstStyle/>
          <a:p>
            <a:endParaRPr lang="en-US"/>
          </a:p>
        </p:txBody>
      </p:sp>
      <p:pic>
        <p:nvPicPr>
          <p:cNvPr id="2050" name="Picture 2" descr="Image result for no fraud">
            <a:extLst>
              <a:ext uri="{FF2B5EF4-FFF2-40B4-BE49-F238E27FC236}">
                <a16:creationId xmlns:a16="http://schemas.microsoft.com/office/drawing/2014/main" id="{59C73A37-BABE-45E3-BAE0-5B1647AEB6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5006" y="3799409"/>
            <a:ext cx="3333768" cy="2424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494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2505184"/>
      </p:ext>
    </p:extLst>
  </p:cSld>
  <p:clrMapOvr>
    <a:masterClrMapping/>
  </p:clrMapOvr>
</p:sld>
</file>

<file path=ppt/theme/theme1.xml><?xml version="1.0" encoding="utf-8"?>
<a:theme xmlns:a="http://schemas.openxmlformats.org/drawingml/2006/main" name="Office Theme">
  <a:themeElements>
    <a:clrScheme name="MG Red">
      <a:dk1>
        <a:sysClr val="windowText" lastClr="000000"/>
      </a:dk1>
      <a:lt1>
        <a:sysClr val="window" lastClr="FFFFFF"/>
      </a:lt1>
      <a:dk2>
        <a:srgbClr val="CF1C20"/>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defRPr sz="1100" dirty="0" smtClean="0">
            <a:solidFill>
              <a:schemeClr val="bg1">
                <a:lumMod val="75000"/>
              </a:schemeClr>
            </a:solidFill>
          </a:defRPr>
        </a:defPPr>
      </a:lstStyle>
    </a:txDef>
  </a:objectDefaults>
  <a:extraClrSchemeLst/>
  <a:extLst>
    <a:ext uri="{05A4C25C-085E-4340-85A3-A5531E510DB2}">
      <thm15:themeFamily xmlns:thm15="http://schemas.microsoft.com/office/thememl/2012/main" name="MG PowerPoint Template.pptx" id="{54F0E22C-3711-4E6D-A809-061FA0C81494}" vid="{32590114-9E78-495E-AE2F-23E9B0E571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D9D18DA8DE63D4F80FDFA69598BBB12" ma:contentTypeVersion="0" ma:contentTypeDescription="Create a new document." ma:contentTypeScope="" ma:versionID="ba25c36160e69d6640883c5f248833ff">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712007-8D3B-4326-AF49-5B4C8F9D212F}">
  <ds:schemaRefs>
    <ds:schemaRef ds:uri="http://schemas.microsoft.com/office/2006/documentManagement/types"/>
    <ds:schemaRef ds:uri="http://purl.org/dc/dcmitype/"/>
    <ds:schemaRef ds:uri="http://www.w3.org/XML/1998/namespace"/>
    <ds:schemaRef ds:uri="http://schemas.microsoft.com/office/infopath/2007/PartnerControls"/>
    <ds:schemaRef ds:uri="http://purl.org/dc/elements/1.1/"/>
    <ds:schemaRef ds:uri="http://purl.org/dc/terms/"/>
    <ds:schemaRef ds:uri="http://schemas.microsoft.com/office/2006/metadata/properties"/>
    <ds:schemaRef ds:uri="http://schemas.openxmlformats.org/package/2006/metadata/core-properties"/>
  </ds:schemaRefs>
</ds:datastoreItem>
</file>

<file path=customXml/itemProps2.xml><?xml version="1.0" encoding="utf-8"?>
<ds:datastoreItem xmlns:ds="http://schemas.openxmlformats.org/officeDocument/2006/customXml" ds:itemID="{1326C19B-E305-4DBA-95A7-2C692B5F94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8BB7C187-EECA-4026-9071-7C98785F364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MG PowerPoint Template</Template>
  <TotalTime>39582</TotalTime>
  <Words>1722</Words>
  <Application>Microsoft Office PowerPoint</Application>
  <PresentationFormat>On-screen Show (4:3)</PresentationFormat>
  <Paragraphs>442</Paragraphs>
  <Slides>22</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Predicting Social Engineering Fraud</vt:lpstr>
      <vt:lpstr>What is Social Engineering Fraud?</vt:lpstr>
      <vt:lpstr>Preventing Social Engineering Fraud</vt:lpstr>
      <vt:lpstr>PowerPoint Presentation</vt:lpstr>
      <vt:lpstr>PowerPoint Presentation</vt:lpstr>
      <vt:lpstr>Data Analysis</vt:lpstr>
      <vt:lpstr>PowerPoint Presentation</vt:lpstr>
      <vt:lpstr>Where is the fraud happening?</vt:lpstr>
      <vt:lpstr>Exploratory  Data Analysis</vt:lpstr>
      <vt:lpstr>Exploratory Data Analysis (cont.)</vt:lpstr>
      <vt:lpstr>Predictive Modeling</vt:lpstr>
      <vt:lpstr>The Data Story</vt:lpstr>
      <vt:lpstr>PowerPoint Presentation</vt:lpstr>
      <vt:lpstr>Model Results using Testing Data Set</vt:lpstr>
      <vt:lpstr>Choosing the Right Model</vt:lpstr>
      <vt:lpstr>Financial Impact of Model</vt:lpstr>
      <vt:lpstr>Financial Impact of Model (cont.)</vt:lpstr>
      <vt:lpstr>Financial Impact of Model (cont.)</vt:lpstr>
      <vt:lpstr>Conclusion</vt:lpstr>
      <vt:lpstr>Discussion</vt:lpstr>
      <vt:lpstr>Next Steps</vt:lpstr>
      <vt:lpstr>PowerPoint Presentation</vt:lpstr>
    </vt:vector>
  </TitlesOfParts>
  <Company>MoneyGram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Social Engineering Fraud</dc:title>
  <dc:creator>Olheiser, Michael</dc:creator>
  <cp:lastModifiedBy>Olheiser, Michael</cp:lastModifiedBy>
  <cp:revision>130</cp:revision>
  <cp:lastPrinted>2016-06-30T13:26:03Z</cp:lastPrinted>
  <dcterms:created xsi:type="dcterms:W3CDTF">2018-06-01T15:55:52Z</dcterms:created>
  <dcterms:modified xsi:type="dcterms:W3CDTF">2018-07-28T13:39:09Z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0x0101004D9D18DA8DE63D4F80FDFA69598BBB12</vt:lpwstr>
  </property>
</Properties>
</file>